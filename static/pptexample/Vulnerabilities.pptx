
<file path=[Content_Types].xml><?xml version="1.0" encoding="utf-8"?>
<Types xmlns="http://schemas.openxmlformats.org/package/2006/content-types">
  <Default ContentType="application/x-fontdata" Extension="fntdata"/>
  <Default ContentType="image/jpeg" Extension="jpeg"/>
  <Default ContentType="image/png" Extension="png"/>
  <Default ContentType="application/vnd.openxmlformats-package.relationships+xml" Extension="rels"/>
  <Default ContentType="image/svg+xml" Extension="svg"/>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slide+xml" PartName="/ppt/slides/slide10.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sldIdLst>
    <p:sldId id="256" r:id="rId6"/>
    <p:sldId id="257" r:id="rId7"/>
    <p:sldId id="258" r:id="rId8"/>
    <p:sldId id="259" r:id="rId9"/>
    <p:sldId id="260" r:id="rId10"/>
    <p:sldId id="261" r:id="rId11"/>
    <p:sldId id="262" r:id="rId12"/>
    <p:sldId id="263" r:id="rId13"/>
    <p:sldId id="264" r:id="rId14"/>
    <p:sldId id="265" r:id="rId15"/>
  </p:sldIdLst>
  <p:sldSz cx="18288000" cy="10287000"/>
  <p:notesSz cx="6858000" cy="9144000"/>
  <p:embeddedFontLst>
    <p:embeddedFont>
      <p:font typeface="Fredoka" charset="1" panose="02000000000000000000"/>
      <p:regular r:id="rId16"/>
    </p:embeddedFont>
    <p:embeddedFont>
      <p:font typeface="Raleway Bold" charset="1" panose="020B0803030101060003"/>
      <p:regular r:id="rId17"/>
    </p:embeddedFont>
    <p:embeddedFont>
      <p:font typeface="Raleway" charset="1" panose="020B0503030101060003"/>
      <p:regular r:id="rId18"/>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slides/slide8.xml" Type="http://schemas.openxmlformats.org/officeDocument/2006/relationships/slide"/><Relationship Id="rId14" Target="slides/slide9.xml" Type="http://schemas.openxmlformats.org/officeDocument/2006/relationships/slide"/><Relationship Id="rId15" Target="slides/slide10.xml" Type="http://schemas.openxmlformats.org/officeDocument/2006/relationships/slide"/><Relationship Id="rId16" Target="fonts/font16.fntdata" Type="http://schemas.openxmlformats.org/officeDocument/2006/relationships/font"/><Relationship Id="rId17" Target="fonts/font17.fntdata" Type="http://schemas.openxmlformats.org/officeDocument/2006/relationships/font"/><Relationship Id="rId18" Target="fonts/font18.fntdata" Type="http://schemas.openxmlformats.org/officeDocument/2006/relationships/font"/><Relationship Id="rId2" Target="presProps.xml" Type="http://schemas.openxmlformats.org/officeDocument/2006/relationships/presProps"/><Relationship Id="rId3" Target="viewProps.xml" Type="http://schemas.openxmlformats.org/officeDocument/2006/relationships/viewProps"/><Relationship Id="rId4" Target="theme/theme1.xml" Type="http://schemas.openxmlformats.org/officeDocument/2006/relationships/theme"/><Relationship Id="rId5" Target="tableStyles.xml" Type="http://schemas.openxmlformats.org/officeDocument/2006/relationships/tableStyles"/><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3.png" Type="http://schemas.openxmlformats.org/officeDocument/2006/relationships/image"/><Relationship Id="rId5" Target="../media/image4.svg" Type="http://schemas.openxmlformats.org/officeDocument/2006/relationships/image"/><Relationship Id="rId6" Target="../media/image5.png" Type="http://schemas.openxmlformats.org/officeDocument/2006/relationships/image"/><Relationship Id="rId7" Target="../media/image6.svg"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7.png" Type="http://schemas.openxmlformats.org/officeDocument/2006/relationships/image"/><Relationship Id="rId3" Target="../media/image8.svg" Type="http://schemas.openxmlformats.org/officeDocument/2006/relationships/image"/><Relationship Id="rId4" Target="../media/image9.png" Type="http://schemas.openxmlformats.org/officeDocument/2006/relationships/image"/><Relationship Id="rId5" Target="../media/image10.svg" Type="http://schemas.openxmlformats.org/officeDocument/2006/relationships/image"/></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1.png" Type="http://schemas.openxmlformats.org/officeDocument/2006/relationships/image"/><Relationship Id="rId3" Target="../media/image12.svg" Type="http://schemas.openxmlformats.org/officeDocument/2006/relationships/image"/></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13.jpeg" Type="http://schemas.openxmlformats.org/officeDocument/2006/relationships/image"/><Relationship Id="rId5" Target="../media/image14.jpeg" Type="http://schemas.openxmlformats.org/officeDocument/2006/relationships/image"/></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15.jpeg" Type="http://schemas.openxmlformats.org/officeDocument/2006/relationships/image"/><Relationship Id="rId5" Target="../media/image16.jpeg" Type="http://schemas.openxmlformats.org/officeDocument/2006/relationships/image"/></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17.jpeg" Type="http://schemas.openxmlformats.org/officeDocument/2006/relationships/image"/><Relationship Id="rId5" Target="../media/image18.jpeg" Type="http://schemas.openxmlformats.org/officeDocument/2006/relationships/image"/></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19.jpeg" Type="http://schemas.openxmlformats.org/officeDocument/2006/relationships/image"/><Relationship Id="rId5" Target="../media/image20.jpeg" Type="http://schemas.openxmlformats.org/officeDocument/2006/relationships/image"/></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21.jpeg" Type="http://schemas.openxmlformats.org/officeDocument/2006/relationships/image"/><Relationship Id="rId5" Target="../media/image22.jpeg" Type="http://schemas.openxmlformats.org/officeDocument/2006/relationships/image"/></Relationships>
</file>

<file path=ppt/slides/_rels/slide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s>
</file>

<file path=ppt/slides/_rels/slide10.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3.png" Type="http://schemas.openxmlformats.org/officeDocument/2006/relationships/image"/><Relationship Id="rId3" Target="../media/image24.svg" Type="http://schemas.openxmlformats.org/officeDocument/2006/relationships/image"/><Relationship Id="rId4" Target="../media/image25.png" Type="http://schemas.openxmlformats.org/officeDocument/2006/relationships/image"/><Relationship Id="rId5" Target="../media/image26.svg" Type="http://schemas.openxmlformats.org/officeDocument/2006/relationships/image"/><Relationship Id="rId6" Target="../media/image27.png" Type="http://schemas.openxmlformats.org/officeDocument/2006/relationships/image"/><Relationship Id="rId7" Target="../media/image28.svg" Type="http://schemas.openxmlformats.org/officeDocument/2006/relationships/image"/><Relationship Id="rId8" Target="../media/image29.png" Type="http://schemas.openxmlformats.org/officeDocument/2006/relationships/image"/><Relationship Id="rId9" Target="../media/image30.svg" Type="http://schemas.openxmlformats.org/officeDocument/2006/relationships/image"/></Relationships>
</file>

<file path=ppt/slides/slide1.xml><?xml version="1.0" encoding="utf-8"?>
<p:sld xmlns:p="http://schemas.openxmlformats.org/presentationml/2006/main" xmlns:a="http://schemas.openxmlformats.org/drawingml/2006/main" xmlns:r="http://schemas.openxmlformats.org/officeDocument/2006/relationships">
  <p:cSld>
    <p:bg>
      <p:bgPr>
        <a:solidFill>
          <a:srgbClr val="ACC6B8"/>
        </a:solidFill>
      </p:bgPr>
    </p:bg>
    <p:spTree>
      <p:nvGrpSpPr>
        <p:cNvPr id="1" name=""/>
        <p:cNvGrpSpPr/>
        <p:nvPr/>
      </p:nvGrpSpPr>
      <p:grpSpPr>
        <a:xfrm>
          <a:off x="0" y="0"/>
          <a:ext cx="0" cy="0"/>
          <a:chOff x="0" y="0"/>
          <a:chExt cx="0" cy="0"/>
        </a:xfrm>
      </p:grpSpPr>
      <p:sp>
        <p:nvSpPr>
          <p:cNvPr name="Freeform 2" id="2"/>
          <p:cNvSpPr/>
          <p:nvPr/>
        </p:nvSpPr>
        <p:spPr>
          <a:xfrm flipH="false" flipV="false" rot="0">
            <a:off x="-1073252" y="-530691"/>
            <a:ext cx="4502598" cy="2284045"/>
          </a:xfrm>
          <a:custGeom>
            <a:avLst/>
            <a:gdLst/>
            <a:ahLst/>
            <a:cxnLst/>
            <a:rect r="r" b="b" t="t" l="l"/>
            <a:pathLst>
              <a:path h="2284045" w="4502598">
                <a:moveTo>
                  <a:pt x="0" y="0"/>
                </a:moveTo>
                <a:lnTo>
                  <a:pt x="4502598" y="0"/>
                </a:lnTo>
                <a:lnTo>
                  <a:pt x="4502598" y="2284045"/>
                </a:lnTo>
                <a:lnTo>
                  <a:pt x="0" y="2284045"/>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12794425" y="7502000"/>
            <a:ext cx="6924482" cy="3512601"/>
          </a:xfrm>
          <a:custGeom>
            <a:avLst/>
            <a:gdLst/>
            <a:ahLst/>
            <a:cxnLst/>
            <a:rect r="r" b="b" t="t" l="l"/>
            <a:pathLst>
              <a:path h="3512601" w="6924482">
                <a:moveTo>
                  <a:pt x="0" y="0"/>
                </a:moveTo>
                <a:lnTo>
                  <a:pt x="6924482" y="0"/>
                </a:lnTo>
                <a:lnTo>
                  <a:pt x="6924482" y="3512600"/>
                </a:lnTo>
                <a:lnTo>
                  <a:pt x="0" y="351260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4" id="4"/>
          <p:cNvSpPr/>
          <p:nvPr/>
        </p:nvSpPr>
        <p:spPr>
          <a:xfrm flipH="false" flipV="false" rot="0">
            <a:off x="12065269" y="-528446"/>
            <a:ext cx="6166018" cy="3127853"/>
          </a:xfrm>
          <a:custGeom>
            <a:avLst/>
            <a:gdLst/>
            <a:ahLst/>
            <a:cxnLst/>
            <a:rect r="r" b="b" t="t" l="l"/>
            <a:pathLst>
              <a:path h="3127853" w="6166018">
                <a:moveTo>
                  <a:pt x="0" y="0"/>
                </a:moveTo>
                <a:lnTo>
                  <a:pt x="6166018" y="0"/>
                </a:lnTo>
                <a:lnTo>
                  <a:pt x="6166018" y="3127852"/>
                </a:lnTo>
                <a:lnTo>
                  <a:pt x="0" y="3127852"/>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5" id="5"/>
          <p:cNvGrpSpPr/>
          <p:nvPr/>
        </p:nvGrpSpPr>
        <p:grpSpPr>
          <a:xfrm rot="0">
            <a:off x="1028700" y="1028700"/>
            <a:ext cx="16230600" cy="8229600"/>
            <a:chOff x="0" y="0"/>
            <a:chExt cx="5274950" cy="2674622"/>
          </a:xfrm>
        </p:grpSpPr>
        <p:sp>
          <p:nvSpPr>
            <p:cNvPr name="Freeform 6" id="6"/>
            <p:cNvSpPr/>
            <p:nvPr/>
          </p:nvSpPr>
          <p:spPr>
            <a:xfrm flipH="false" flipV="false" rot="0">
              <a:off x="0" y="0"/>
              <a:ext cx="5274950" cy="2674622"/>
            </a:xfrm>
            <a:custGeom>
              <a:avLst/>
              <a:gdLst/>
              <a:ahLst/>
              <a:cxnLst/>
              <a:rect r="r" b="b" t="t" l="l"/>
              <a:pathLst>
                <a:path h="2674622" w="5274950">
                  <a:moveTo>
                    <a:pt x="23850" y="0"/>
                  </a:moveTo>
                  <a:lnTo>
                    <a:pt x="5251100" y="0"/>
                  </a:lnTo>
                  <a:cubicBezTo>
                    <a:pt x="5264272" y="0"/>
                    <a:pt x="5274950" y="10678"/>
                    <a:pt x="5274950" y="23850"/>
                  </a:cubicBezTo>
                  <a:lnTo>
                    <a:pt x="5274950" y="2650773"/>
                  </a:lnTo>
                  <a:cubicBezTo>
                    <a:pt x="5274950" y="2657098"/>
                    <a:pt x="5272437" y="2663164"/>
                    <a:pt x="5267964" y="2667637"/>
                  </a:cubicBezTo>
                  <a:cubicBezTo>
                    <a:pt x="5263492" y="2672110"/>
                    <a:pt x="5257425" y="2674622"/>
                    <a:pt x="5251100" y="2674622"/>
                  </a:cubicBezTo>
                  <a:lnTo>
                    <a:pt x="23850" y="2674622"/>
                  </a:lnTo>
                  <a:cubicBezTo>
                    <a:pt x="17524" y="2674622"/>
                    <a:pt x="11458" y="2672110"/>
                    <a:pt x="6985" y="2667637"/>
                  </a:cubicBezTo>
                  <a:cubicBezTo>
                    <a:pt x="2513" y="2663164"/>
                    <a:pt x="0" y="2657098"/>
                    <a:pt x="0" y="2650773"/>
                  </a:cubicBezTo>
                  <a:lnTo>
                    <a:pt x="0" y="23850"/>
                  </a:lnTo>
                  <a:cubicBezTo>
                    <a:pt x="0" y="17524"/>
                    <a:pt x="2513" y="11458"/>
                    <a:pt x="6985" y="6985"/>
                  </a:cubicBezTo>
                  <a:cubicBezTo>
                    <a:pt x="11458" y="2513"/>
                    <a:pt x="17524" y="0"/>
                    <a:pt x="23850" y="0"/>
                  </a:cubicBezTo>
                  <a:close/>
                </a:path>
              </a:pathLst>
            </a:custGeom>
            <a:solidFill>
              <a:srgbClr val="EAF3F4"/>
            </a:solidFill>
            <a:ln w="38100" cap="rnd">
              <a:solidFill>
                <a:srgbClr val="000000"/>
              </a:solidFill>
              <a:prstDash val="solid"/>
              <a:round/>
            </a:ln>
          </p:spPr>
        </p:sp>
        <p:sp>
          <p:nvSpPr>
            <p:cNvPr name="TextBox 7" id="7"/>
            <p:cNvSpPr txBox="true"/>
            <p:nvPr/>
          </p:nvSpPr>
          <p:spPr>
            <a:xfrm>
              <a:off x="0" y="-47625"/>
              <a:ext cx="5274950" cy="2722247"/>
            </a:xfrm>
            <a:prstGeom prst="rect">
              <a:avLst/>
            </a:prstGeom>
          </p:spPr>
          <p:txBody>
            <a:bodyPr anchor="ctr" rtlCol="false" tIns="50800" lIns="50800" bIns="50800" rIns="50800"/>
            <a:lstStyle/>
            <a:p>
              <a:pPr algn="ctr">
                <a:lnSpc>
                  <a:spcPts val="2659"/>
                </a:lnSpc>
              </a:pPr>
            </a:p>
          </p:txBody>
        </p:sp>
      </p:grpSp>
      <p:sp>
        <p:nvSpPr>
          <p:cNvPr name="Freeform 8" id="8"/>
          <p:cNvSpPr/>
          <p:nvPr/>
        </p:nvSpPr>
        <p:spPr>
          <a:xfrm flipH="false" flipV="false" rot="0">
            <a:off x="-711125" y="3342195"/>
            <a:ext cx="3100946" cy="8319610"/>
          </a:xfrm>
          <a:custGeom>
            <a:avLst/>
            <a:gdLst/>
            <a:ahLst/>
            <a:cxnLst/>
            <a:rect r="r" b="b" t="t" l="l"/>
            <a:pathLst>
              <a:path h="8319610" w="3100946">
                <a:moveTo>
                  <a:pt x="0" y="0"/>
                </a:moveTo>
                <a:lnTo>
                  <a:pt x="3100946" y="0"/>
                </a:lnTo>
                <a:lnTo>
                  <a:pt x="3100946" y="8319610"/>
                </a:lnTo>
                <a:lnTo>
                  <a:pt x="0" y="8319610"/>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9" id="9"/>
          <p:cNvSpPr/>
          <p:nvPr/>
        </p:nvSpPr>
        <p:spPr>
          <a:xfrm flipH="true" flipV="false" rot="0">
            <a:off x="15895263" y="3342195"/>
            <a:ext cx="3131199" cy="8319610"/>
          </a:xfrm>
          <a:custGeom>
            <a:avLst/>
            <a:gdLst/>
            <a:ahLst/>
            <a:cxnLst/>
            <a:rect r="r" b="b" t="t" l="l"/>
            <a:pathLst>
              <a:path h="8319610" w="3131199">
                <a:moveTo>
                  <a:pt x="3131199" y="0"/>
                </a:moveTo>
                <a:lnTo>
                  <a:pt x="0" y="0"/>
                </a:lnTo>
                <a:lnTo>
                  <a:pt x="0" y="8319610"/>
                </a:lnTo>
                <a:lnTo>
                  <a:pt x="3131199" y="8319610"/>
                </a:lnTo>
                <a:lnTo>
                  <a:pt x="3131199"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TextBox 10" id="10"/>
          <p:cNvSpPr txBox="true"/>
          <p:nvPr/>
        </p:nvSpPr>
        <p:spPr>
          <a:xfrm rot="0">
            <a:off x="2025132" y="2485106"/>
            <a:ext cx="14237735" cy="3351710"/>
          </a:xfrm>
          <a:prstGeom prst="rect">
            <a:avLst/>
          </a:prstGeom>
        </p:spPr>
        <p:txBody>
          <a:bodyPr anchor="t" rtlCol="false" tIns="0" lIns="0" bIns="0" rIns="0">
            <a:spAutoFit/>
          </a:bodyPr>
          <a:lstStyle/>
          <a:p>
            <a:pPr algn="ctr">
              <a:lnSpc>
                <a:spcPts val="8953"/>
              </a:lnSpc>
            </a:pPr>
            <a:r>
              <a:rPr lang="en-US" sz="6395">
                <a:solidFill>
                  <a:srgbClr val="000000"/>
                </a:solidFill>
                <a:latin typeface="Fredoka"/>
                <a:ea typeface="Fredoka"/>
                <a:cs typeface="Fredoka"/>
                <a:sym typeface="Fredoka"/>
              </a:rPr>
              <a:t>VULNERABILITIES OF DIFFERENT ELEMENTS EXPOSED TO SPECIFIC HAZARDS</a:t>
            </a:r>
          </a:p>
        </p:txBody>
      </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bg>
      <p:bgPr>
        <a:solidFill>
          <a:srgbClr val="F09669"/>
        </a:solidFill>
      </p:bgPr>
    </p:bg>
    <p:spTree>
      <p:nvGrpSpPr>
        <p:cNvPr id="1" name=""/>
        <p:cNvGrpSpPr/>
        <p:nvPr/>
      </p:nvGrpSpPr>
      <p:grpSpPr>
        <a:xfrm>
          <a:off x="0" y="0"/>
          <a:ext cx="0" cy="0"/>
          <a:chOff x="0" y="0"/>
          <a:chExt cx="0" cy="0"/>
        </a:xfrm>
      </p:grpSpPr>
      <p:sp>
        <p:nvSpPr>
          <p:cNvPr name="Freeform 2" id="2"/>
          <p:cNvSpPr/>
          <p:nvPr/>
        </p:nvSpPr>
        <p:spPr>
          <a:xfrm flipH="false" flipV="false" rot="0">
            <a:off x="168735" y="-1005742"/>
            <a:ext cx="7692315" cy="6482832"/>
          </a:xfrm>
          <a:custGeom>
            <a:avLst/>
            <a:gdLst/>
            <a:ahLst/>
            <a:cxnLst/>
            <a:rect r="r" b="b" t="t" l="l"/>
            <a:pathLst>
              <a:path h="6482832" w="7692315">
                <a:moveTo>
                  <a:pt x="0" y="0"/>
                </a:moveTo>
                <a:lnTo>
                  <a:pt x="7692315" y="0"/>
                </a:lnTo>
                <a:lnTo>
                  <a:pt x="7692315" y="6482832"/>
                </a:lnTo>
                <a:lnTo>
                  <a:pt x="0" y="6482832"/>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10798729" y="4540450"/>
            <a:ext cx="7692315" cy="6482832"/>
          </a:xfrm>
          <a:custGeom>
            <a:avLst/>
            <a:gdLst/>
            <a:ahLst/>
            <a:cxnLst/>
            <a:rect r="r" b="b" t="t" l="l"/>
            <a:pathLst>
              <a:path h="6482832" w="7692315">
                <a:moveTo>
                  <a:pt x="0" y="0"/>
                </a:moveTo>
                <a:lnTo>
                  <a:pt x="7692315" y="0"/>
                </a:lnTo>
                <a:lnTo>
                  <a:pt x="7692315" y="6482831"/>
                </a:lnTo>
                <a:lnTo>
                  <a:pt x="0" y="6482831"/>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4" id="4"/>
          <p:cNvGrpSpPr/>
          <p:nvPr/>
        </p:nvGrpSpPr>
        <p:grpSpPr>
          <a:xfrm rot="0">
            <a:off x="1028700" y="1028700"/>
            <a:ext cx="16230600" cy="8229600"/>
            <a:chOff x="0" y="0"/>
            <a:chExt cx="5274950" cy="2674622"/>
          </a:xfrm>
        </p:grpSpPr>
        <p:sp>
          <p:nvSpPr>
            <p:cNvPr name="Freeform 5" id="5"/>
            <p:cNvSpPr/>
            <p:nvPr/>
          </p:nvSpPr>
          <p:spPr>
            <a:xfrm flipH="false" flipV="false" rot="0">
              <a:off x="0" y="0"/>
              <a:ext cx="5274950" cy="2674622"/>
            </a:xfrm>
            <a:custGeom>
              <a:avLst/>
              <a:gdLst/>
              <a:ahLst/>
              <a:cxnLst/>
              <a:rect r="r" b="b" t="t" l="l"/>
              <a:pathLst>
                <a:path h="2674622" w="5274950">
                  <a:moveTo>
                    <a:pt x="23850" y="0"/>
                  </a:moveTo>
                  <a:lnTo>
                    <a:pt x="5251100" y="0"/>
                  </a:lnTo>
                  <a:cubicBezTo>
                    <a:pt x="5264272" y="0"/>
                    <a:pt x="5274950" y="10678"/>
                    <a:pt x="5274950" y="23850"/>
                  </a:cubicBezTo>
                  <a:lnTo>
                    <a:pt x="5274950" y="2650773"/>
                  </a:lnTo>
                  <a:cubicBezTo>
                    <a:pt x="5274950" y="2657098"/>
                    <a:pt x="5272437" y="2663164"/>
                    <a:pt x="5267964" y="2667637"/>
                  </a:cubicBezTo>
                  <a:cubicBezTo>
                    <a:pt x="5263492" y="2672110"/>
                    <a:pt x="5257425" y="2674622"/>
                    <a:pt x="5251100" y="2674622"/>
                  </a:cubicBezTo>
                  <a:lnTo>
                    <a:pt x="23850" y="2674622"/>
                  </a:lnTo>
                  <a:cubicBezTo>
                    <a:pt x="17524" y="2674622"/>
                    <a:pt x="11458" y="2672110"/>
                    <a:pt x="6985" y="2667637"/>
                  </a:cubicBezTo>
                  <a:cubicBezTo>
                    <a:pt x="2513" y="2663164"/>
                    <a:pt x="0" y="2657098"/>
                    <a:pt x="0" y="2650773"/>
                  </a:cubicBezTo>
                  <a:lnTo>
                    <a:pt x="0" y="23850"/>
                  </a:lnTo>
                  <a:cubicBezTo>
                    <a:pt x="0" y="17524"/>
                    <a:pt x="2513" y="11458"/>
                    <a:pt x="6985" y="6985"/>
                  </a:cubicBezTo>
                  <a:cubicBezTo>
                    <a:pt x="11458" y="2513"/>
                    <a:pt x="17524" y="0"/>
                    <a:pt x="23850" y="0"/>
                  </a:cubicBezTo>
                  <a:close/>
                </a:path>
              </a:pathLst>
            </a:custGeom>
            <a:solidFill>
              <a:srgbClr val="FFFFFF"/>
            </a:solidFill>
            <a:ln w="38100" cap="rnd">
              <a:solidFill>
                <a:srgbClr val="000000"/>
              </a:solidFill>
              <a:prstDash val="solid"/>
              <a:round/>
            </a:ln>
          </p:spPr>
        </p:sp>
        <p:sp>
          <p:nvSpPr>
            <p:cNvPr name="TextBox 6" id="6"/>
            <p:cNvSpPr txBox="true"/>
            <p:nvPr/>
          </p:nvSpPr>
          <p:spPr>
            <a:xfrm>
              <a:off x="0" y="-47625"/>
              <a:ext cx="5274950" cy="2722247"/>
            </a:xfrm>
            <a:prstGeom prst="rect">
              <a:avLst/>
            </a:prstGeom>
          </p:spPr>
          <p:txBody>
            <a:bodyPr anchor="ctr" rtlCol="false" tIns="50800" lIns="50800" bIns="50800" rIns="50800"/>
            <a:lstStyle/>
            <a:p>
              <a:pPr algn="ctr">
                <a:lnSpc>
                  <a:spcPts val="2659"/>
                </a:lnSpc>
              </a:pPr>
            </a:p>
          </p:txBody>
        </p:sp>
      </p:grpSp>
      <p:sp>
        <p:nvSpPr>
          <p:cNvPr name="Freeform 7" id="7"/>
          <p:cNvSpPr/>
          <p:nvPr/>
        </p:nvSpPr>
        <p:spPr>
          <a:xfrm flipH="true" flipV="false" rot="0">
            <a:off x="-906715" y="7781866"/>
            <a:ext cx="5793435" cy="5656499"/>
          </a:xfrm>
          <a:custGeom>
            <a:avLst/>
            <a:gdLst/>
            <a:ahLst/>
            <a:cxnLst/>
            <a:rect r="r" b="b" t="t" l="l"/>
            <a:pathLst>
              <a:path h="5656499" w="5793435">
                <a:moveTo>
                  <a:pt x="5793434" y="0"/>
                </a:moveTo>
                <a:lnTo>
                  <a:pt x="0" y="0"/>
                </a:lnTo>
                <a:lnTo>
                  <a:pt x="0" y="5656499"/>
                </a:lnTo>
                <a:lnTo>
                  <a:pt x="5793434" y="5656499"/>
                </a:lnTo>
                <a:lnTo>
                  <a:pt x="5793434"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TextBox 8" id="8"/>
          <p:cNvSpPr txBox="true"/>
          <p:nvPr/>
        </p:nvSpPr>
        <p:spPr>
          <a:xfrm rot="0">
            <a:off x="2273807" y="2956437"/>
            <a:ext cx="13740385" cy="4518747"/>
          </a:xfrm>
          <a:prstGeom prst="rect">
            <a:avLst/>
          </a:prstGeom>
        </p:spPr>
        <p:txBody>
          <a:bodyPr anchor="t" rtlCol="false" tIns="0" lIns="0" bIns="0" rIns="0">
            <a:spAutoFit/>
          </a:bodyPr>
          <a:lstStyle/>
          <a:p>
            <a:pPr algn="l" marL="823909" indent="-411954" lvl="1">
              <a:lnSpc>
                <a:spcPts val="5342"/>
              </a:lnSpc>
              <a:buFont typeface="Arial"/>
              <a:buChar char="•"/>
            </a:pPr>
            <a:r>
              <a:rPr lang="en-US" b="true" sz="3816">
                <a:solidFill>
                  <a:srgbClr val="000000"/>
                </a:solidFill>
                <a:latin typeface="Raleway Bold"/>
                <a:ea typeface="Raleway Bold"/>
                <a:cs typeface="Raleway Bold"/>
                <a:sym typeface="Raleway Bold"/>
              </a:rPr>
              <a:t>Hazards</a:t>
            </a:r>
            <a:r>
              <a:rPr lang="en-US" sz="3816">
                <a:solidFill>
                  <a:srgbClr val="000000"/>
                </a:solidFill>
                <a:latin typeface="Raleway"/>
                <a:ea typeface="Raleway"/>
                <a:cs typeface="Raleway"/>
                <a:sym typeface="Raleway"/>
              </a:rPr>
              <a:t> are events or conditions that may cause harm to people, property, or the environment.</a:t>
            </a:r>
          </a:p>
          <a:p>
            <a:pPr algn="l" marL="776830" indent="-388415" lvl="1">
              <a:lnSpc>
                <a:spcPts val="5037"/>
              </a:lnSpc>
              <a:buFont typeface="Arial"/>
              <a:buChar char="•"/>
            </a:pPr>
            <a:r>
              <a:rPr lang="en-US" b="true" sz="3598">
                <a:solidFill>
                  <a:srgbClr val="000000"/>
                </a:solidFill>
                <a:latin typeface="Raleway Bold"/>
                <a:ea typeface="Raleway Bold"/>
                <a:cs typeface="Raleway Bold"/>
                <a:sym typeface="Raleway Bold"/>
              </a:rPr>
              <a:t>Vulnerability </a:t>
            </a:r>
            <a:r>
              <a:rPr lang="en-US" sz="3598">
                <a:solidFill>
                  <a:srgbClr val="000000"/>
                </a:solidFill>
                <a:latin typeface="Raleway"/>
                <a:ea typeface="Raleway"/>
                <a:cs typeface="Raleway"/>
                <a:sym typeface="Raleway"/>
              </a:rPr>
              <a:t>is the degree to which people, structures, or systems can be damaged when exposed to a hazard.</a:t>
            </a:r>
          </a:p>
          <a:p>
            <a:pPr algn="l" marL="776830" indent="-388415" lvl="1">
              <a:lnSpc>
                <a:spcPts val="5037"/>
              </a:lnSpc>
              <a:buFont typeface="Arial"/>
              <a:buChar char="•"/>
            </a:pPr>
            <a:r>
              <a:rPr lang="en-US" sz="3598">
                <a:solidFill>
                  <a:srgbClr val="000000"/>
                </a:solidFill>
                <a:latin typeface="Raleway"/>
                <a:ea typeface="Raleway"/>
                <a:cs typeface="Raleway"/>
                <a:sym typeface="Raleway"/>
              </a:rPr>
              <a:t> </a:t>
            </a:r>
            <a:r>
              <a:rPr lang="en-US" b="true" sz="3598">
                <a:solidFill>
                  <a:srgbClr val="000000"/>
                </a:solidFill>
                <a:latin typeface="Raleway Bold"/>
                <a:ea typeface="Raleway Bold"/>
                <a:cs typeface="Raleway Bold"/>
                <a:sym typeface="Raleway Bold"/>
              </a:rPr>
              <a:t>Visual Idea</a:t>
            </a:r>
            <a:r>
              <a:rPr lang="en-US" sz="3598">
                <a:solidFill>
                  <a:srgbClr val="000000"/>
                </a:solidFill>
                <a:latin typeface="Raleway"/>
                <a:ea typeface="Raleway"/>
                <a:cs typeface="Raleway"/>
                <a:sym typeface="Raleway"/>
              </a:rPr>
              <a:t>: A simple flow diagram showing Hazard → Vulnerability → Impact to illustrate how danger leads to exposure and results in consequences.</a:t>
            </a:r>
          </a:p>
        </p:txBody>
      </p:sp>
      <p:sp>
        <p:nvSpPr>
          <p:cNvPr name="TextBox 9" id="9"/>
          <p:cNvSpPr txBox="true"/>
          <p:nvPr/>
        </p:nvSpPr>
        <p:spPr>
          <a:xfrm rot="0">
            <a:off x="1689303" y="885825"/>
            <a:ext cx="14307996" cy="1285875"/>
          </a:xfrm>
          <a:prstGeom prst="rect">
            <a:avLst/>
          </a:prstGeom>
        </p:spPr>
        <p:txBody>
          <a:bodyPr anchor="t" rtlCol="false" tIns="0" lIns="0" bIns="0" rIns="0">
            <a:spAutoFit/>
          </a:bodyPr>
          <a:lstStyle/>
          <a:p>
            <a:pPr algn="ctr">
              <a:lnSpc>
                <a:spcPts val="10500"/>
              </a:lnSpc>
            </a:pPr>
            <a:r>
              <a:rPr lang="en-US" sz="7500">
                <a:solidFill>
                  <a:srgbClr val="000000"/>
                </a:solidFill>
                <a:latin typeface="Fredoka"/>
                <a:ea typeface="Fredoka"/>
                <a:cs typeface="Fredoka"/>
                <a:sym typeface="Fredoka"/>
              </a:rPr>
              <a:t>WHAT ARE THEY?</a:t>
            </a:r>
          </a:p>
        </p:txBody>
      </p:sp>
    </p:spTree>
  </p:cSld>
  <p:clrMapOvr>
    <a:masterClrMapping/>
  </p:clrMapOvr>
</p:sld>
</file>

<file path=ppt/slides/slide3.xml><?xml version="1.0" encoding="utf-8"?>
<p:sld xmlns:p="http://schemas.openxmlformats.org/presentationml/2006/main" xmlns:a="http://schemas.openxmlformats.org/drawingml/2006/main" xmlns:r="http://schemas.openxmlformats.org/officeDocument/2006/relationships">
  <p:cSld>
    <p:bg>
      <p:bgPr>
        <a:solidFill>
          <a:srgbClr val="EAF3F4"/>
        </a:solidFill>
      </p:bgPr>
    </p:bg>
    <p:spTree>
      <p:nvGrpSpPr>
        <p:cNvPr id="1" name=""/>
        <p:cNvGrpSpPr/>
        <p:nvPr/>
      </p:nvGrpSpPr>
      <p:grpSpPr>
        <a:xfrm>
          <a:off x="0" y="0"/>
          <a:ext cx="0" cy="0"/>
          <a:chOff x="0" y="0"/>
          <a:chExt cx="0" cy="0"/>
        </a:xfrm>
      </p:grpSpPr>
      <p:grpSp>
        <p:nvGrpSpPr>
          <p:cNvPr name="Group 2" id="2"/>
          <p:cNvGrpSpPr/>
          <p:nvPr/>
        </p:nvGrpSpPr>
        <p:grpSpPr>
          <a:xfrm rot="0">
            <a:off x="1028700" y="1028700"/>
            <a:ext cx="16230600" cy="8229600"/>
            <a:chOff x="0" y="0"/>
            <a:chExt cx="5274950" cy="2674622"/>
          </a:xfrm>
        </p:grpSpPr>
        <p:sp>
          <p:nvSpPr>
            <p:cNvPr name="Freeform 3" id="3"/>
            <p:cNvSpPr/>
            <p:nvPr/>
          </p:nvSpPr>
          <p:spPr>
            <a:xfrm flipH="false" flipV="false" rot="0">
              <a:off x="0" y="0"/>
              <a:ext cx="5274950" cy="2674622"/>
            </a:xfrm>
            <a:custGeom>
              <a:avLst/>
              <a:gdLst/>
              <a:ahLst/>
              <a:cxnLst/>
              <a:rect r="r" b="b" t="t" l="l"/>
              <a:pathLst>
                <a:path h="2674622" w="5274950">
                  <a:moveTo>
                    <a:pt x="23850" y="0"/>
                  </a:moveTo>
                  <a:lnTo>
                    <a:pt x="5251100" y="0"/>
                  </a:lnTo>
                  <a:cubicBezTo>
                    <a:pt x="5264272" y="0"/>
                    <a:pt x="5274950" y="10678"/>
                    <a:pt x="5274950" y="23850"/>
                  </a:cubicBezTo>
                  <a:lnTo>
                    <a:pt x="5274950" y="2650773"/>
                  </a:lnTo>
                  <a:cubicBezTo>
                    <a:pt x="5274950" y="2657098"/>
                    <a:pt x="5272437" y="2663164"/>
                    <a:pt x="5267964" y="2667637"/>
                  </a:cubicBezTo>
                  <a:cubicBezTo>
                    <a:pt x="5263492" y="2672110"/>
                    <a:pt x="5257425" y="2674622"/>
                    <a:pt x="5251100" y="2674622"/>
                  </a:cubicBezTo>
                  <a:lnTo>
                    <a:pt x="23850" y="2674622"/>
                  </a:lnTo>
                  <a:cubicBezTo>
                    <a:pt x="17524" y="2674622"/>
                    <a:pt x="11458" y="2672110"/>
                    <a:pt x="6985" y="2667637"/>
                  </a:cubicBezTo>
                  <a:cubicBezTo>
                    <a:pt x="2513" y="2663164"/>
                    <a:pt x="0" y="2657098"/>
                    <a:pt x="0" y="2650773"/>
                  </a:cubicBezTo>
                  <a:lnTo>
                    <a:pt x="0" y="23850"/>
                  </a:lnTo>
                  <a:cubicBezTo>
                    <a:pt x="0" y="17524"/>
                    <a:pt x="2513" y="11458"/>
                    <a:pt x="6985" y="6985"/>
                  </a:cubicBezTo>
                  <a:cubicBezTo>
                    <a:pt x="11458" y="2513"/>
                    <a:pt x="17524" y="0"/>
                    <a:pt x="23850" y="0"/>
                  </a:cubicBezTo>
                  <a:close/>
                </a:path>
              </a:pathLst>
            </a:custGeom>
            <a:solidFill>
              <a:srgbClr val="FFFFFF"/>
            </a:solidFill>
            <a:ln w="38100" cap="rnd">
              <a:solidFill>
                <a:srgbClr val="000000"/>
              </a:solidFill>
              <a:prstDash val="solid"/>
              <a:round/>
            </a:ln>
          </p:spPr>
        </p:sp>
        <p:sp>
          <p:nvSpPr>
            <p:cNvPr name="TextBox 4" id="4"/>
            <p:cNvSpPr txBox="true"/>
            <p:nvPr/>
          </p:nvSpPr>
          <p:spPr>
            <a:xfrm>
              <a:off x="0" y="-47625"/>
              <a:ext cx="5274950" cy="2722247"/>
            </a:xfrm>
            <a:prstGeom prst="rect">
              <a:avLst/>
            </a:prstGeom>
          </p:spPr>
          <p:txBody>
            <a:bodyPr anchor="ctr" rtlCol="false" tIns="50800" lIns="50800" bIns="50800" rIns="50800"/>
            <a:lstStyle/>
            <a:p>
              <a:pPr algn="just">
                <a:lnSpc>
                  <a:spcPts val="2659"/>
                </a:lnSpc>
              </a:pPr>
            </a:p>
          </p:txBody>
        </p:sp>
      </p:grpSp>
      <p:sp>
        <p:nvSpPr>
          <p:cNvPr name="TextBox 5" id="5"/>
          <p:cNvSpPr txBox="true"/>
          <p:nvPr/>
        </p:nvSpPr>
        <p:spPr>
          <a:xfrm rot="0">
            <a:off x="3405153" y="2016071"/>
            <a:ext cx="11116217" cy="6178658"/>
          </a:xfrm>
          <a:prstGeom prst="rect">
            <a:avLst/>
          </a:prstGeom>
        </p:spPr>
        <p:txBody>
          <a:bodyPr anchor="t" rtlCol="false" tIns="0" lIns="0" bIns="0" rIns="0">
            <a:spAutoFit/>
          </a:bodyPr>
          <a:lstStyle/>
          <a:p>
            <a:pPr algn="l">
              <a:lnSpc>
                <a:spcPts val="4894"/>
              </a:lnSpc>
            </a:pPr>
            <a:r>
              <a:rPr lang="en-US" sz="3495">
                <a:solidFill>
                  <a:srgbClr val="000000"/>
                </a:solidFill>
                <a:latin typeface="Raleway"/>
                <a:ea typeface="Raleway"/>
                <a:cs typeface="Raleway"/>
                <a:sym typeface="Raleway"/>
              </a:rPr>
              <a:t>1. </a:t>
            </a:r>
            <a:r>
              <a:rPr lang="en-US" sz="3495" b="true">
                <a:solidFill>
                  <a:srgbClr val="000000"/>
                </a:solidFill>
                <a:latin typeface="Raleway Bold"/>
                <a:ea typeface="Raleway Bold"/>
                <a:cs typeface="Raleway Bold"/>
                <a:sym typeface="Raleway Bold"/>
              </a:rPr>
              <a:t>Human Elements</a:t>
            </a:r>
            <a:r>
              <a:rPr lang="en-US" sz="3495">
                <a:solidFill>
                  <a:srgbClr val="000000"/>
                </a:solidFill>
                <a:latin typeface="Raleway"/>
                <a:ea typeface="Raleway"/>
                <a:cs typeface="Raleway"/>
                <a:sym typeface="Raleway"/>
              </a:rPr>
              <a:t> – People, communities, and workers that may be affected by a hazard.</a:t>
            </a:r>
          </a:p>
          <a:p>
            <a:pPr algn="l">
              <a:lnSpc>
                <a:spcPts val="4894"/>
              </a:lnSpc>
            </a:pPr>
            <a:r>
              <a:rPr lang="en-US" sz="3495">
                <a:solidFill>
                  <a:srgbClr val="000000"/>
                </a:solidFill>
                <a:latin typeface="Raleway"/>
                <a:ea typeface="Raleway"/>
                <a:cs typeface="Raleway"/>
                <a:sym typeface="Raleway"/>
              </a:rPr>
              <a:t>2. </a:t>
            </a:r>
            <a:r>
              <a:rPr lang="en-US" sz="3495" b="true">
                <a:solidFill>
                  <a:srgbClr val="000000"/>
                </a:solidFill>
                <a:latin typeface="Raleway Bold"/>
                <a:ea typeface="Raleway Bold"/>
                <a:cs typeface="Raleway Bold"/>
                <a:sym typeface="Raleway Bold"/>
              </a:rPr>
              <a:t>Physical Elements</a:t>
            </a:r>
            <a:r>
              <a:rPr lang="en-US" sz="3495">
                <a:solidFill>
                  <a:srgbClr val="000000"/>
                </a:solidFill>
                <a:latin typeface="Raleway"/>
                <a:ea typeface="Raleway"/>
                <a:cs typeface="Raleway"/>
                <a:sym typeface="Raleway"/>
              </a:rPr>
              <a:t> – Buildings, infrastructure, and equipment that can be damaged.</a:t>
            </a:r>
          </a:p>
          <a:p>
            <a:pPr algn="l">
              <a:lnSpc>
                <a:spcPts val="4894"/>
              </a:lnSpc>
            </a:pPr>
            <a:r>
              <a:rPr lang="en-US" sz="3495">
                <a:solidFill>
                  <a:srgbClr val="000000"/>
                </a:solidFill>
                <a:latin typeface="Raleway"/>
                <a:ea typeface="Raleway"/>
                <a:cs typeface="Raleway"/>
                <a:sym typeface="Raleway"/>
              </a:rPr>
              <a:t>3. </a:t>
            </a:r>
            <a:r>
              <a:rPr lang="en-US" sz="3495" b="true">
                <a:solidFill>
                  <a:srgbClr val="000000"/>
                </a:solidFill>
                <a:latin typeface="Raleway Bold"/>
                <a:ea typeface="Raleway Bold"/>
                <a:cs typeface="Raleway Bold"/>
                <a:sym typeface="Raleway Bold"/>
              </a:rPr>
              <a:t>Natural Elements </a:t>
            </a:r>
            <a:r>
              <a:rPr lang="en-US" sz="3495">
                <a:solidFill>
                  <a:srgbClr val="000000"/>
                </a:solidFill>
                <a:latin typeface="Raleway"/>
                <a:ea typeface="Raleway"/>
                <a:cs typeface="Raleway"/>
                <a:sym typeface="Raleway"/>
              </a:rPr>
              <a:t>– Forests, rivers, and wildlife found in the environment.</a:t>
            </a:r>
          </a:p>
          <a:p>
            <a:pPr algn="l">
              <a:lnSpc>
                <a:spcPts val="4894"/>
              </a:lnSpc>
            </a:pPr>
            <a:r>
              <a:rPr lang="en-US" sz="3495">
                <a:solidFill>
                  <a:srgbClr val="000000"/>
                </a:solidFill>
                <a:latin typeface="Raleway"/>
                <a:ea typeface="Raleway"/>
                <a:cs typeface="Raleway"/>
                <a:sym typeface="Raleway"/>
              </a:rPr>
              <a:t>4. </a:t>
            </a:r>
            <a:r>
              <a:rPr lang="en-US" sz="3495" b="true">
                <a:solidFill>
                  <a:srgbClr val="000000"/>
                </a:solidFill>
                <a:latin typeface="Raleway Bold"/>
                <a:ea typeface="Raleway Bold"/>
                <a:cs typeface="Raleway Bold"/>
                <a:sym typeface="Raleway Bold"/>
              </a:rPr>
              <a:t>Economic Elements</a:t>
            </a:r>
            <a:r>
              <a:rPr lang="en-US" sz="3495">
                <a:solidFill>
                  <a:srgbClr val="000000"/>
                </a:solidFill>
                <a:latin typeface="Raleway"/>
                <a:ea typeface="Raleway"/>
                <a:cs typeface="Raleway"/>
                <a:sym typeface="Raleway"/>
              </a:rPr>
              <a:t> – Businesses, crops, and industries that may experience losses.</a:t>
            </a:r>
          </a:p>
          <a:p>
            <a:pPr algn="l">
              <a:lnSpc>
                <a:spcPts val="4894"/>
              </a:lnSpc>
            </a:pPr>
            <a:r>
              <a:rPr lang="en-US" sz="3495">
                <a:solidFill>
                  <a:srgbClr val="000000"/>
                </a:solidFill>
                <a:latin typeface="Raleway"/>
                <a:ea typeface="Raleway"/>
                <a:cs typeface="Raleway"/>
                <a:sym typeface="Raleway"/>
              </a:rPr>
              <a:t>5. </a:t>
            </a:r>
            <a:r>
              <a:rPr lang="en-US" b="true" sz="3495">
                <a:solidFill>
                  <a:srgbClr val="000000"/>
                </a:solidFill>
                <a:latin typeface="Raleway Bold"/>
                <a:ea typeface="Raleway Bold"/>
                <a:cs typeface="Raleway Bold"/>
                <a:sym typeface="Raleway Bold"/>
              </a:rPr>
              <a:t>Social Elements</a:t>
            </a:r>
            <a:r>
              <a:rPr lang="en-US" sz="3495">
                <a:solidFill>
                  <a:srgbClr val="000000"/>
                </a:solidFill>
                <a:latin typeface="Raleway"/>
                <a:ea typeface="Raleway"/>
                <a:cs typeface="Raleway"/>
                <a:sym typeface="Raleway"/>
              </a:rPr>
              <a:t> – Institutions, cultural heritage, and essential services that support society.</a:t>
            </a:r>
          </a:p>
        </p:txBody>
      </p:sp>
      <p:sp>
        <p:nvSpPr>
          <p:cNvPr name="Freeform 6" id="6"/>
          <p:cNvSpPr/>
          <p:nvPr/>
        </p:nvSpPr>
        <p:spPr>
          <a:xfrm flipH="false" flipV="false" rot="0">
            <a:off x="12715609" y="4547726"/>
            <a:ext cx="6569446" cy="6008057"/>
          </a:xfrm>
          <a:custGeom>
            <a:avLst/>
            <a:gdLst/>
            <a:ahLst/>
            <a:cxnLst/>
            <a:rect r="r" b="b" t="t" l="l"/>
            <a:pathLst>
              <a:path h="6008057" w="6569446">
                <a:moveTo>
                  <a:pt x="0" y="0"/>
                </a:moveTo>
                <a:lnTo>
                  <a:pt x="6569446" y="0"/>
                </a:lnTo>
                <a:lnTo>
                  <a:pt x="6569446" y="6008057"/>
                </a:lnTo>
                <a:lnTo>
                  <a:pt x="0" y="6008057"/>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TextBox 7" id="7"/>
          <p:cNvSpPr txBox="true"/>
          <p:nvPr/>
        </p:nvSpPr>
        <p:spPr>
          <a:xfrm rot="0">
            <a:off x="2923246" y="317549"/>
            <a:ext cx="12080031" cy="1086939"/>
          </a:xfrm>
          <a:prstGeom prst="rect">
            <a:avLst/>
          </a:prstGeom>
        </p:spPr>
        <p:txBody>
          <a:bodyPr anchor="t" rtlCol="false" tIns="0" lIns="0" bIns="0" rIns="0">
            <a:spAutoFit/>
          </a:bodyPr>
          <a:lstStyle/>
          <a:p>
            <a:pPr algn="l">
              <a:lnSpc>
                <a:spcPts val="8864"/>
              </a:lnSpc>
            </a:pPr>
            <a:r>
              <a:rPr lang="en-US" sz="6332">
                <a:solidFill>
                  <a:srgbClr val="000000"/>
                </a:solidFill>
                <a:latin typeface="Fredoka"/>
                <a:ea typeface="Fredoka"/>
                <a:cs typeface="Fredoka"/>
                <a:sym typeface="Fredoka"/>
              </a:rPr>
              <a:t>TYPES OF ELEMENTS EXPOSE</a:t>
            </a:r>
          </a:p>
        </p:txBody>
      </p:sp>
    </p:spTree>
  </p:cSld>
  <p:clrMapOvr>
    <a:masterClrMapping/>
  </p:clrMapOvr>
</p:sld>
</file>

<file path=ppt/slides/slide4.xml><?xml version="1.0" encoding="utf-8"?>
<p:sld xmlns:p="http://schemas.openxmlformats.org/presentationml/2006/main" xmlns:a="http://schemas.openxmlformats.org/drawingml/2006/main" xmlns:r="http://schemas.openxmlformats.org/officeDocument/2006/relationships">
  <p:cSld>
    <p:bg>
      <p:bgPr>
        <a:solidFill>
          <a:srgbClr val="ACC6B8"/>
        </a:solidFill>
      </p:bgPr>
    </p:bg>
    <p:spTree>
      <p:nvGrpSpPr>
        <p:cNvPr id="1" name=""/>
        <p:cNvGrpSpPr/>
        <p:nvPr/>
      </p:nvGrpSpPr>
      <p:grpSpPr>
        <a:xfrm>
          <a:off x="0" y="0"/>
          <a:ext cx="0" cy="0"/>
          <a:chOff x="0" y="0"/>
          <a:chExt cx="0" cy="0"/>
        </a:xfrm>
      </p:grpSpPr>
      <p:sp>
        <p:nvSpPr>
          <p:cNvPr name="Freeform 2" id="2"/>
          <p:cNvSpPr/>
          <p:nvPr/>
        </p:nvSpPr>
        <p:spPr>
          <a:xfrm flipH="false" flipV="false" rot="0">
            <a:off x="-1073252" y="-530691"/>
            <a:ext cx="5259149" cy="2667823"/>
          </a:xfrm>
          <a:custGeom>
            <a:avLst/>
            <a:gdLst/>
            <a:ahLst/>
            <a:cxnLst/>
            <a:rect r="r" b="b" t="t" l="l"/>
            <a:pathLst>
              <a:path h="2667823" w="5259149">
                <a:moveTo>
                  <a:pt x="0" y="0"/>
                </a:moveTo>
                <a:lnTo>
                  <a:pt x="5259149" y="0"/>
                </a:lnTo>
                <a:lnTo>
                  <a:pt x="5259149" y="2667823"/>
                </a:lnTo>
                <a:lnTo>
                  <a:pt x="0" y="2667823"/>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13132004" y="0"/>
            <a:ext cx="6326347" cy="3209184"/>
          </a:xfrm>
          <a:custGeom>
            <a:avLst/>
            <a:gdLst/>
            <a:ahLst/>
            <a:cxnLst/>
            <a:rect r="r" b="b" t="t" l="l"/>
            <a:pathLst>
              <a:path h="3209184" w="6326347">
                <a:moveTo>
                  <a:pt x="0" y="0"/>
                </a:moveTo>
                <a:lnTo>
                  <a:pt x="6326347" y="0"/>
                </a:lnTo>
                <a:lnTo>
                  <a:pt x="6326347" y="3209184"/>
                </a:lnTo>
                <a:lnTo>
                  <a:pt x="0" y="3209184"/>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4" id="4"/>
          <p:cNvSpPr/>
          <p:nvPr/>
        </p:nvSpPr>
        <p:spPr>
          <a:xfrm flipH="false" flipV="false" rot="0">
            <a:off x="1162266" y="8464517"/>
            <a:ext cx="5259149" cy="2667823"/>
          </a:xfrm>
          <a:custGeom>
            <a:avLst/>
            <a:gdLst/>
            <a:ahLst/>
            <a:cxnLst/>
            <a:rect r="r" b="b" t="t" l="l"/>
            <a:pathLst>
              <a:path h="2667823" w="5259149">
                <a:moveTo>
                  <a:pt x="0" y="0"/>
                </a:moveTo>
                <a:lnTo>
                  <a:pt x="5259149" y="0"/>
                </a:lnTo>
                <a:lnTo>
                  <a:pt x="5259149" y="2667823"/>
                </a:lnTo>
                <a:lnTo>
                  <a:pt x="0" y="2667823"/>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5" id="5"/>
          <p:cNvGrpSpPr/>
          <p:nvPr/>
        </p:nvGrpSpPr>
        <p:grpSpPr>
          <a:xfrm rot="0">
            <a:off x="870437" y="1028700"/>
            <a:ext cx="16230600" cy="9258300"/>
            <a:chOff x="0" y="0"/>
            <a:chExt cx="5274950" cy="3008950"/>
          </a:xfrm>
        </p:grpSpPr>
        <p:sp>
          <p:nvSpPr>
            <p:cNvPr name="Freeform 6" id="6"/>
            <p:cNvSpPr/>
            <p:nvPr/>
          </p:nvSpPr>
          <p:spPr>
            <a:xfrm flipH="false" flipV="false" rot="0">
              <a:off x="0" y="0"/>
              <a:ext cx="5274950" cy="3008950"/>
            </a:xfrm>
            <a:custGeom>
              <a:avLst/>
              <a:gdLst/>
              <a:ahLst/>
              <a:cxnLst/>
              <a:rect r="r" b="b" t="t" l="l"/>
              <a:pathLst>
                <a:path h="3008950" w="5274950">
                  <a:moveTo>
                    <a:pt x="23850" y="0"/>
                  </a:moveTo>
                  <a:lnTo>
                    <a:pt x="5251100" y="0"/>
                  </a:lnTo>
                  <a:cubicBezTo>
                    <a:pt x="5264272" y="0"/>
                    <a:pt x="5274950" y="10678"/>
                    <a:pt x="5274950" y="23850"/>
                  </a:cubicBezTo>
                  <a:lnTo>
                    <a:pt x="5274950" y="2985100"/>
                  </a:lnTo>
                  <a:cubicBezTo>
                    <a:pt x="5274950" y="2991426"/>
                    <a:pt x="5272437" y="2997492"/>
                    <a:pt x="5267964" y="3001965"/>
                  </a:cubicBezTo>
                  <a:cubicBezTo>
                    <a:pt x="5263492" y="3006437"/>
                    <a:pt x="5257425" y="3008950"/>
                    <a:pt x="5251100" y="3008950"/>
                  </a:cubicBezTo>
                  <a:lnTo>
                    <a:pt x="23850" y="3008950"/>
                  </a:lnTo>
                  <a:cubicBezTo>
                    <a:pt x="17524" y="3008950"/>
                    <a:pt x="11458" y="3006437"/>
                    <a:pt x="6985" y="3001965"/>
                  </a:cubicBezTo>
                  <a:cubicBezTo>
                    <a:pt x="2513" y="2997492"/>
                    <a:pt x="0" y="2991426"/>
                    <a:pt x="0" y="2985100"/>
                  </a:cubicBezTo>
                  <a:lnTo>
                    <a:pt x="0" y="23850"/>
                  </a:lnTo>
                  <a:cubicBezTo>
                    <a:pt x="0" y="17524"/>
                    <a:pt x="2513" y="11458"/>
                    <a:pt x="6985" y="6985"/>
                  </a:cubicBezTo>
                  <a:cubicBezTo>
                    <a:pt x="11458" y="2513"/>
                    <a:pt x="17524" y="0"/>
                    <a:pt x="23850" y="0"/>
                  </a:cubicBezTo>
                  <a:close/>
                </a:path>
              </a:pathLst>
            </a:custGeom>
            <a:solidFill>
              <a:srgbClr val="EBE5DD"/>
            </a:solidFill>
            <a:ln w="38100" cap="rnd">
              <a:solidFill>
                <a:srgbClr val="000000"/>
              </a:solidFill>
              <a:prstDash val="solid"/>
              <a:round/>
            </a:ln>
          </p:spPr>
        </p:sp>
        <p:sp>
          <p:nvSpPr>
            <p:cNvPr name="TextBox 7" id="7"/>
            <p:cNvSpPr txBox="true"/>
            <p:nvPr/>
          </p:nvSpPr>
          <p:spPr>
            <a:xfrm>
              <a:off x="0" y="-47625"/>
              <a:ext cx="5274950" cy="3056575"/>
            </a:xfrm>
            <a:prstGeom prst="rect">
              <a:avLst/>
            </a:prstGeom>
          </p:spPr>
          <p:txBody>
            <a:bodyPr anchor="ctr" rtlCol="false" tIns="50800" lIns="50800" bIns="50800" rIns="50800"/>
            <a:lstStyle/>
            <a:p>
              <a:pPr algn="ctr">
                <a:lnSpc>
                  <a:spcPts val="2659"/>
                </a:lnSpc>
              </a:pPr>
            </a:p>
          </p:txBody>
        </p:sp>
      </p:grpSp>
      <p:sp>
        <p:nvSpPr>
          <p:cNvPr name="TextBox 8" id="8"/>
          <p:cNvSpPr txBox="true"/>
          <p:nvPr/>
        </p:nvSpPr>
        <p:spPr>
          <a:xfrm rot="0">
            <a:off x="3053894" y="2590368"/>
            <a:ext cx="12769070" cy="2229712"/>
          </a:xfrm>
          <a:prstGeom prst="rect">
            <a:avLst/>
          </a:prstGeom>
        </p:spPr>
        <p:txBody>
          <a:bodyPr anchor="t" rtlCol="false" tIns="0" lIns="0" bIns="0" rIns="0">
            <a:spAutoFit/>
          </a:bodyPr>
          <a:lstStyle/>
          <a:p>
            <a:pPr algn="just">
              <a:lnSpc>
                <a:spcPts val="4377"/>
              </a:lnSpc>
            </a:pPr>
            <a:r>
              <a:rPr lang="en-US" sz="4090" b="true">
                <a:solidFill>
                  <a:srgbClr val="000000"/>
                </a:solidFill>
                <a:latin typeface="Raleway Bold"/>
                <a:ea typeface="Raleway Bold"/>
                <a:cs typeface="Raleway Bold"/>
                <a:sym typeface="Raleway Bold"/>
              </a:rPr>
              <a:t>1.Natural Hazards </a:t>
            </a:r>
            <a:r>
              <a:rPr lang="en-US" sz="4090">
                <a:solidFill>
                  <a:srgbClr val="000000"/>
                </a:solidFill>
                <a:latin typeface="Raleway"/>
                <a:ea typeface="Raleway"/>
                <a:cs typeface="Raleway"/>
                <a:sym typeface="Raleway"/>
              </a:rPr>
              <a:t>– Earthquakes, typhoons, floods, volcanic eruptions, landslides.</a:t>
            </a:r>
          </a:p>
          <a:p>
            <a:pPr algn="just">
              <a:lnSpc>
                <a:spcPts val="4377"/>
              </a:lnSpc>
            </a:pPr>
          </a:p>
          <a:p>
            <a:pPr algn="just">
              <a:lnSpc>
                <a:spcPts val="4377"/>
              </a:lnSpc>
            </a:pPr>
            <a:r>
              <a:rPr lang="en-US" b="true" sz="4090">
                <a:solidFill>
                  <a:srgbClr val="000000"/>
                </a:solidFill>
                <a:latin typeface="Raleway Bold"/>
                <a:ea typeface="Raleway Bold"/>
                <a:cs typeface="Raleway Bold"/>
                <a:sym typeface="Raleway Bold"/>
              </a:rPr>
              <a:t>Example:</a:t>
            </a:r>
          </a:p>
        </p:txBody>
      </p:sp>
      <p:sp>
        <p:nvSpPr>
          <p:cNvPr name="Freeform 9" id="9"/>
          <p:cNvSpPr/>
          <p:nvPr/>
        </p:nvSpPr>
        <p:spPr>
          <a:xfrm flipH="false" flipV="false" rot="0">
            <a:off x="2523957" y="4906525"/>
            <a:ext cx="5644826" cy="3750435"/>
          </a:xfrm>
          <a:custGeom>
            <a:avLst/>
            <a:gdLst/>
            <a:ahLst/>
            <a:cxnLst/>
            <a:rect r="r" b="b" t="t" l="l"/>
            <a:pathLst>
              <a:path h="3750435" w="5644826">
                <a:moveTo>
                  <a:pt x="0" y="0"/>
                </a:moveTo>
                <a:lnTo>
                  <a:pt x="5644826" y="0"/>
                </a:lnTo>
                <a:lnTo>
                  <a:pt x="5644826" y="3750434"/>
                </a:lnTo>
                <a:lnTo>
                  <a:pt x="0" y="3750434"/>
                </a:lnTo>
                <a:lnTo>
                  <a:pt x="0" y="0"/>
                </a:lnTo>
                <a:close/>
              </a:path>
            </a:pathLst>
          </a:custGeom>
          <a:blipFill>
            <a:blip r:embed="rId4"/>
            <a:stretch>
              <a:fillRect l="0" t="0" r="0" b="0"/>
            </a:stretch>
          </a:blipFill>
        </p:spPr>
      </p:sp>
      <p:sp>
        <p:nvSpPr>
          <p:cNvPr name="Freeform 10" id="10"/>
          <p:cNvSpPr/>
          <p:nvPr/>
        </p:nvSpPr>
        <p:spPr>
          <a:xfrm flipH="false" flipV="false" rot="0">
            <a:off x="9848640" y="4906525"/>
            <a:ext cx="5625652" cy="3750435"/>
          </a:xfrm>
          <a:custGeom>
            <a:avLst/>
            <a:gdLst/>
            <a:ahLst/>
            <a:cxnLst/>
            <a:rect r="r" b="b" t="t" l="l"/>
            <a:pathLst>
              <a:path h="3750435" w="5625652">
                <a:moveTo>
                  <a:pt x="0" y="0"/>
                </a:moveTo>
                <a:lnTo>
                  <a:pt x="5625652" y="0"/>
                </a:lnTo>
                <a:lnTo>
                  <a:pt x="5625652" y="3750434"/>
                </a:lnTo>
                <a:lnTo>
                  <a:pt x="0" y="3750434"/>
                </a:lnTo>
                <a:lnTo>
                  <a:pt x="0" y="0"/>
                </a:lnTo>
                <a:close/>
              </a:path>
            </a:pathLst>
          </a:custGeom>
          <a:blipFill>
            <a:blip r:embed="rId5"/>
            <a:stretch>
              <a:fillRect l="0" t="0" r="0" b="0"/>
            </a:stretch>
          </a:blipFill>
        </p:spPr>
      </p:sp>
      <p:sp>
        <p:nvSpPr>
          <p:cNvPr name="TextBox 11" id="11"/>
          <p:cNvSpPr txBox="true"/>
          <p:nvPr/>
        </p:nvSpPr>
        <p:spPr>
          <a:xfrm rot="0">
            <a:off x="4149585" y="538811"/>
            <a:ext cx="9988830" cy="1285875"/>
          </a:xfrm>
          <a:prstGeom prst="rect">
            <a:avLst/>
          </a:prstGeom>
        </p:spPr>
        <p:txBody>
          <a:bodyPr anchor="t" rtlCol="false" tIns="0" lIns="0" bIns="0" rIns="0">
            <a:spAutoFit/>
          </a:bodyPr>
          <a:lstStyle/>
          <a:p>
            <a:pPr algn="ctr">
              <a:lnSpc>
                <a:spcPts val="10500"/>
              </a:lnSpc>
            </a:pPr>
            <a:r>
              <a:rPr lang="en-US" sz="7500">
                <a:solidFill>
                  <a:srgbClr val="000000"/>
                </a:solidFill>
                <a:latin typeface="Fredoka"/>
                <a:ea typeface="Fredoka"/>
                <a:cs typeface="Fredoka"/>
                <a:sym typeface="Fredoka"/>
              </a:rPr>
              <a:t>COMMON HAZARD</a:t>
            </a:r>
          </a:p>
        </p:txBody>
      </p:sp>
    </p:spTree>
  </p:cSld>
  <p:clrMapOvr>
    <a:masterClrMapping/>
  </p:clrMapOvr>
</p:sld>
</file>

<file path=ppt/slides/slide5.xml><?xml version="1.0" encoding="utf-8"?>
<p:sld xmlns:p="http://schemas.openxmlformats.org/presentationml/2006/main" xmlns:a="http://schemas.openxmlformats.org/drawingml/2006/main" xmlns:r="http://schemas.openxmlformats.org/officeDocument/2006/relationships">
  <p:cSld>
    <p:bg>
      <p:bgPr>
        <a:solidFill>
          <a:srgbClr val="ACC6B8"/>
        </a:solidFill>
      </p:bgPr>
    </p:bg>
    <p:spTree>
      <p:nvGrpSpPr>
        <p:cNvPr id="1" name=""/>
        <p:cNvGrpSpPr/>
        <p:nvPr/>
      </p:nvGrpSpPr>
      <p:grpSpPr>
        <a:xfrm>
          <a:off x="0" y="0"/>
          <a:ext cx="0" cy="0"/>
          <a:chOff x="0" y="0"/>
          <a:chExt cx="0" cy="0"/>
        </a:xfrm>
      </p:grpSpPr>
      <p:sp>
        <p:nvSpPr>
          <p:cNvPr name="Freeform 2" id="2"/>
          <p:cNvSpPr/>
          <p:nvPr/>
        </p:nvSpPr>
        <p:spPr>
          <a:xfrm flipH="false" flipV="false" rot="0">
            <a:off x="-1073252" y="-530691"/>
            <a:ext cx="5259149" cy="2667823"/>
          </a:xfrm>
          <a:custGeom>
            <a:avLst/>
            <a:gdLst/>
            <a:ahLst/>
            <a:cxnLst/>
            <a:rect r="r" b="b" t="t" l="l"/>
            <a:pathLst>
              <a:path h="2667823" w="5259149">
                <a:moveTo>
                  <a:pt x="0" y="0"/>
                </a:moveTo>
                <a:lnTo>
                  <a:pt x="5259149" y="0"/>
                </a:lnTo>
                <a:lnTo>
                  <a:pt x="5259149" y="2667823"/>
                </a:lnTo>
                <a:lnTo>
                  <a:pt x="0" y="2667823"/>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13132004" y="0"/>
            <a:ext cx="6326347" cy="3209184"/>
          </a:xfrm>
          <a:custGeom>
            <a:avLst/>
            <a:gdLst/>
            <a:ahLst/>
            <a:cxnLst/>
            <a:rect r="r" b="b" t="t" l="l"/>
            <a:pathLst>
              <a:path h="3209184" w="6326347">
                <a:moveTo>
                  <a:pt x="0" y="0"/>
                </a:moveTo>
                <a:lnTo>
                  <a:pt x="6326347" y="0"/>
                </a:lnTo>
                <a:lnTo>
                  <a:pt x="6326347" y="3209184"/>
                </a:lnTo>
                <a:lnTo>
                  <a:pt x="0" y="3209184"/>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4" id="4"/>
          <p:cNvSpPr/>
          <p:nvPr/>
        </p:nvSpPr>
        <p:spPr>
          <a:xfrm flipH="false" flipV="false" rot="0">
            <a:off x="1162266" y="8464517"/>
            <a:ext cx="5259149" cy="2667823"/>
          </a:xfrm>
          <a:custGeom>
            <a:avLst/>
            <a:gdLst/>
            <a:ahLst/>
            <a:cxnLst/>
            <a:rect r="r" b="b" t="t" l="l"/>
            <a:pathLst>
              <a:path h="2667823" w="5259149">
                <a:moveTo>
                  <a:pt x="0" y="0"/>
                </a:moveTo>
                <a:lnTo>
                  <a:pt x="5259149" y="0"/>
                </a:lnTo>
                <a:lnTo>
                  <a:pt x="5259149" y="2667823"/>
                </a:lnTo>
                <a:lnTo>
                  <a:pt x="0" y="2667823"/>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5" id="5"/>
          <p:cNvGrpSpPr/>
          <p:nvPr/>
        </p:nvGrpSpPr>
        <p:grpSpPr>
          <a:xfrm rot="0">
            <a:off x="870437" y="1028700"/>
            <a:ext cx="16230600" cy="9258300"/>
            <a:chOff x="0" y="0"/>
            <a:chExt cx="5274950" cy="3008950"/>
          </a:xfrm>
        </p:grpSpPr>
        <p:sp>
          <p:nvSpPr>
            <p:cNvPr name="Freeform 6" id="6"/>
            <p:cNvSpPr/>
            <p:nvPr/>
          </p:nvSpPr>
          <p:spPr>
            <a:xfrm flipH="false" flipV="false" rot="0">
              <a:off x="0" y="0"/>
              <a:ext cx="5274950" cy="3008950"/>
            </a:xfrm>
            <a:custGeom>
              <a:avLst/>
              <a:gdLst/>
              <a:ahLst/>
              <a:cxnLst/>
              <a:rect r="r" b="b" t="t" l="l"/>
              <a:pathLst>
                <a:path h="3008950" w="5274950">
                  <a:moveTo>
                    <a:pt x="23850" y="0"/>
                  </a:moveTo>
                  <a:lnTo>
                    <a:pt x="5251100" y="0"/>
                  </a:lnTo>
                  <a:cubicBezTo>
                    <a:pt x="5264272" y="0"/>
                    <a:pt x="5274950" y="10678"/>
                    <a:pt x="5274950" y="23850"/>
                  </a:cubicBezTo>
                  <a:lnTo>
                    <a:pt x="5274950" y="2985100"/>
                  </a:lnTo>
                  <a:cubicBezTo>
                    <a:pt x="5274950" y="2991426"/>
                    <a:pt x="5272437" y="2997492"/>
                    <a:pt x="5267964" y="3001965"/>
                  </a:cubicBezTo>
                  <a:cubicBezTo>
                    <a:pt x="5263492" y="3006437"/>
                    <a:pt x="5257425" y="3008950"/>
                    <a:pt x="5251100" y="3008950"/>
                  </a:cubicBezTo>
                  <a:lnTo>
                    <a:pt x="23850" y="3008950"/>
                  </a:lnTo>
                  <a:cubicBezTo>
                    <a:pt x="17524" y="3008950"/>
                    <a:pt x="11458" y="3006437"/>
                    <a:pt x="6985" y="3001965"/>
                  </a:cubicBezTo>
                  <a:cubicBezTo>
                    <a:pt x="2513" y="2997492"/>
                    <a:pt x="0" y="2991426"/>
                    <a:pt x="0" y="2985100"/>
                  </a:cubicBezTo>
                  <a:lnTo>
                    <a:pt x="0" y="23850"/>
                  </a:lnTo>
                  <a:cubicBezTo>
                    <a:pt x="0" y="17524"/>
                    <a:pt x="2513" y="11458"/>
                    <a:pt x="6985" y="6985"/>
                  </a:cubicBezTo>
                  <a:cubicBezTo>
                    <a:pt x="11458" y="2513"/>
                    <a:pt x="17524" y="0"/>
                    <a:pt x="23850" y="0"/>
                  </a:cubicBezTo>
                  <a:close/>
                </a:path>
              </a:pathLst>
            </a:custGeom>
            <a:solidFill>
              <a:srgbClr val="EBE5DD"/>
            </a:solidFill>
            <a:ln w="38100" cap="rnd">
              <a:solidFill>
                <a:srgbClr val="000000"/>
              </a:solidFill>
              <a:prstDash val="solid"/>
              <a:round/>
            </a:ln>
          </p:spPr>
        </p:sp>
        <p:sp>
          <p:nvSpPr>
            <p:cNvPr name="TextBox 7" id="7"/>
            <p:cNvSpPr txBox="true"/>
            <p:nvPr/>
          </p:nvSpPr>
          <p:spPr>
            <a:xfrm>
              <a:off x="0" y="-47625"/>
              <a:ext cx="5274950" cy="3056575"/>
            </a:xfrm>
            <a:prstGeom prst="rect">
              <a:avLst/>
            </a:prstGeom>
          </p:spPr>
          <p:txBody>
            <a:bodyPr anchor="ctr" rtlCol="false" tIns="50800" lIns="50800" bIns="50800" rIns="50800"/>
            <a:lstStyle/>
            <a:p>
              <a:pPr algn="ctr">
                <a:lnSpc>
                  <a:spcPts val="2659"/>
                </a:lnSpc>
              </a:pPr>
            </a:p>
          </p:txBody>
        </p:sp>
      </p:grpSp>
      <p:sp>
        <p:nvSpPr>
          <p:cNvPr name="TextBox 8" id="8"/>
          <p:cNvSpPr txBox="true"/>
          <p:nvPr/>
        </p:nvSpPr>
        <p:spPr>
          <a:xfrm rot="0">
            <a:off x="3053894" y="2590368"/>
            <a:ext cx="12769070" cy="2229712"/>
          </a:xfrm>
          <a:prstGeom prst="rect">
            <a:avLst/>
          </a:prstGeom>
        </p:spPr>
        <p:txBody>
          <a:bodyPr anchor="t" rtlCol="false" tIns="0" lIns="0" bIns="0" rIns="0">
            <a:spAutoFit/>
          </a:bodyPr>
          <a:lstStyle/>
          <a:p>
            <a:pPr algn="just">
              <a:lnSpc>
                <a:spcPts val="4377"/>
              </a:lnSpc>
            </a:pPr>
            <a:r>
              <a:rPr lang="en-US" sz="4090" b="true">
                <a:solidFill>
                  <a:srgbClr val="000000"/>
                </a:solidFill>
                <a:latin typeface="Raleway Bold"/>
                <a:ea typeface="Raleway Bold"/>
                <a:cs typeface="Raleway Bold"/>
                <a:sym typeface="Raleway Bold"/>
              </a:rPr>
              <a:t>2. Environmental Hazards </a:t>
            </a:r>
            <a:r>
              <a:rPr lang="en-US" sz="4090">
                <a:solidFill>
                  <a:srgbClr val="000000"/>
                </a:solidFill>
                <a:latin typeface="Raleway"/>
                <a:ea typeface="Raleway"/>
                <a:cs typeface="Raleway"/>
                <a:sym typeface="Raleway"/>
              </a:rPr>
              <a:t>– Pollution, soil erosion, water contamination.</a:t>
            </a:r>
          </a:p>
          <a:p>
            <a:pPr algn="just">
              <a:lnSpc>
                <a:spcPts val="4377"/>
              </a:lnSpc>
            </a:pPr>
          </a:p>
          <a:p>
            <a:pPr algn="just">
              <a:lnSpc>
                <a:spcPts val="4377"/>
              </a:lnSpc>
            </a:pPr>
            <a:r>
              <a:rPr lang="en-US" b="true" sz="4090">
                <a:solidFill>
                  <a:srgbClr val="000000"/>
                </a:solidFill>
                <a:latin typeface="Raleway Bold"/>
                <a:ea typeface="Raleway Bold"/>
                <a:cs typeface="Raleway Bold"/>
                <a:sym typeface="Raleway Bold"/>
              </a:rPr>
              <a:t>Example:</a:t>
            </a:r>
          </a:p>
        </p:txBody>
      </p:sp>
      <p:sp>
        <p:nvSpPr>
          <p:cNvPr name="Freeform 9" id="9"/>
          <p:cNvSpPr/>
          <p:nvPr/>
        </p:nvSpPr>
        <p:spPr>
          <a:xfrm flipH="false" flipV="false" rot="0">
            <a:off x="2617108" y="4906525"/>
            <a:ext cx="5253331" cy="3939998"/>
          </a:xfrm>
          <a:custGeom>
            <a:avLst/>
            <a:gdLst/>
            <a:ahLst/>
            <a:cxnLst/>
            <a:rect r="r" b="b" t="t" l="l"/>
            <a:pathLst>
              <a:path h="3939998" w="5253331">
                <a:moveTo>
                  <a:pt x="0" y="0"/>
                </a:moveTo>
                <a:lnTo>
                  <a:pt x="5253331" y="0"/>
                </a:lnTo>
                <a:lnTo>
                  <a:pt x="5253331" y="3939998"/>
                </a:lnTo>
                <a:lnTo>
                  <a:pt x="0" y="3939998"/>
                </a:lnTo>
                <a:lnTo>
                  <a:pt x="0" y="0"/>
                </a:lnTo>
                <a:close/>
              </a:path>
            </a:pathLst>
          </a:custGeom>
          <a:blipFill>
            <a:blip r:embed="rId4"/>
            <a:stretch>
              <a:fillRect l="0" t="0" r="0" b="0"/>
            </a:stretch>
          </a:blipFill>
        </p:spPr>
      </p:sp>
      <p:sp>
        <p:nvSpPr>
          <p:cNvPr name="Freeform 10" id="10"/>
          <p:cNvSpPr/>
          <p:nvPr/>
        </p:nvSpPr>
        <p:spPr>
          <a:xfrm flipH="false" flipV="false" rot="0">
            <a:off x="9859597" y="5008435"/>
            <a:ext cx="5757132" cy="3838088"/>
          </a:xfrm>
          <a:custGeom>
            <a:avLst/>
            <a:gdLst/>
            <a:ahLst/>
            <a:cxnLst/>
            <a:rect r="r" b="b" t="t" l="l"/>
            <a:pathLst>
              <a:path h="3838088" w="5757132">
                <a:moveTo>
                  <a:pt x="0" y="0"/>
                </a:moveTo>
                <a:lnTo>
                  <a:pt x="5757132" y="0"/>
                </a:lnTo>
                <a:lnTo>
                  <a:pt x="5757132" y="3838088"/>
                </a:lnTo>
                <a:lnTo>
                  <a:pt x="0" y="3838088"/>
                </a:lnTo>
                <a:lnTo>
                  <a:pt x="0" y="0"/>
                </a:lnTo>
                <a:close/>
              </a:path>
            </a:pathLst>
          </a:custGeom>
          <a:blipFill>
            <a:blip r:embed="rId5"/>
            <a:stretch>
              <a:fillRect l="0" t="0" r="0" b="0"/>
            </a:stretch>
          </a:blipFill>
        </p:spPr>
      </p:sp>
      <p:sp>
        <p:nvSpPr>
          <p:cNvPr name="TextBox 11" id="11"/>
          <p:cNvSpPr txBox="true"/>
          <p:nvPr/>
        </p:nvSpPr>
        <p:spPr>
          <a:xfrm rot="0">
            <a:off x="4149585" y="538811"/>
            <a:ext cx="9988830" cy="1285875"/>
          </a:xfrm>
          <a:prstGeom prst="rect">
            <a:avLst/>
          </a:prstGeom>
        </p:spPr>
        <p:txBody>
          <a:bodyPr anchor="t" rtlCol="false" tIns="0" lIns="0" bIns="0" rIns="0">
            <a:spAutoFit/>
          </a:bodyPr>
          <a:lstStyle/>
          <a:p>
            <a:pPr algn="ctr">
              <a:lnSpc>
                <a:spcPts val="10500"/>
              </a:lnSpc>
            </a:pPr>
            <a:r>
              <a:rPr lang="en-US" sz="7500">
                <a:solidFill>
                  <a:srgbClr val="000000"/>
                </a:solidFill>
                <a:latin typeface="Fredoka"/>
                <a:ea typeface="Fredoka"/>
                <a:cs typeface="Fredoka"/>
                <a:sym typeface="Fredoka"/>
              </a:rPr>
              <a:t>COMMON HAZARD</a:t>
            </a:r>
          </a:p>
        </p:txBody>
      </p:sp>
    </p:spTree>
  </p:cSld>
  <p:clrMapOvr>
    <a:masterClrMapping/>
  </p:clrMapOvr>
</p:sld>
</file>

<file path=ppt/slides/slide6.xml><?xml version="1.0" encoding="utf-8"?>
<p:sld xmlns:p="http://schemas.openxmlformats.org/presentationml/2006/main" xmlns:a="http://schemas.openxmlformats.org/drawingml/2006/main" xmlns:r="http://schemas.openxmlformats.org/officeDocument/2006/relationships">
  <p:cSld>
    <p:bg>
      <p:bgPr>
        <a:solidFill>
          <a:srgbClr val="ACC6B8"/>
        </a:solidFill>
      </p:bgPr>
    </p:bg>
    <p:spTree>
      <p:nvGrpSpPr>
        <p:cNvPr id="1" name=""/>
        <p:cNvGrpSpPr/>
        <p:nvPr/>
      </p:nvGrpSpPr>
      <p:grpSpPr>
        <a:xfrm>
          <a:off x="0" y="0"/>
          <a:ext cx="0" cy="0"/>
          <a:chOff x="0" y="0"/>
          <a:chExt cx="0" cy="0"/>
        </a:xfrm>
      </p:grpSpPr>
      <p:sp>
        <p:nvSpPr>
          <p:cNvPr name="Freeform 2" id="2"/>
          <p:cNvSpPr/>
          <p:nvPr/>
        </p:nvSpPr>
        <p:spPr>
          <a:xfrm flipH="false" flipV="false" rot="0">
            <a:off x="-1073252" y="-530691"/>
            <a:ext cx="5259149" cy="2667823"/>
          </a:xfrm>
          <a:custGeom>
            <a:avLst/>
            <a:gdLst/>
            <a:ahLst/>
            <a:cxnLst/>
            <a:rect r="r" b="b" t="t" l="l"/>
            <a:pathLst>
              <a:path h="2667823" w="5259149">
                <a:moveTo>
                  <a:pt x="0" y="0"/>
                </a:moveTo>
                <a:lnTo>
                  <a:pt x="5259149" y="0"/>
                </a:lnTo>
                <a:lnTo>
                  <a:pt x="5259149" y="2667823"/>
                </a:lnTo>
                <a:lnTo>
                  <a:pt x="0" y="2667823"/>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13132004" y="0"/>
            <a:ext cx="6326347" cy="3209184"/>
          </a:xfrm>
          <a:custGeom>
            <a:avLst/>
            <a:gdLst/>
            <a:ahLst/>
            <a:cxnLst/>
            <a:rect r="r" b="b" t="t" l="l"/>
            <a:pathLst>
              <a:path h="3209184" w="6326347">
                <a:moveTo>
                  <a:pt x="0" y="0"/>
                </a:moveTo>
                <a:lnTo>
                  <a:pt x="6326347" y="0"/>
                </a:lnTo>
                <a:lnTo>
                  <a:pt x="6326347" y="3209184"/>
                </a:lnTo>
                <a:lnTo>
                  <a:pt x="0" y="3209184"/>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4" id="4"/>
          <p:cNvSpPr/>
          <p:nvPr/>
        </p:nvSpPr>
        <p:spPr>
          <a:xfrm flipH="false" flipV="false" rot="0">
            <a:off x="1162266" y="8464517"/>
            <a:ext cx="5259149" cy="2667823"/>
          </a:xfrm>
          <a:custGeom>
            <a:avLst/>
            <a:gdLst/>
            <a:ahLst/>
            <a:cxnLst/>
            <a:rect r="r" b="b" t="t" l="l"/>
            <a:pathLst>
              <a:path h="2667823" w="5259149">
                <a:moveTo>
                  <a:pt x="0" y="0"/>
                </a:moveTo>
                <a:lnTo>
                  <a:pt x="5259149" y="0"/>
                </a:lnTo>
                <a:lnTo>
                  <a:pt x="5259149" y="2667823"/>
                </a:lnTo>
                <a:lnTo>
                  <a:pt x="0" y="2667823"/>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5" id="5"/>
          <p:cNvGrpSpPr/>
          <p:nvPr/>
        </p:nvGrpSpPr>
        <p:grpSpPr>
          <a:xfrm rot="0">
            <a:off x="807132" y="1028700"/>
            <a:ext cx="16230600" cy="9258300"/>
            <a:chOff x="0" y="0"/>
            <a:chExt cx="5274950" cy="3008950"/>
          </a:xfrm>
        </p:grpSpPr>
        <p:sp>
          <p:nvSpPr>
            <p:cNvPr name="Freeform 6" id="6"/>
            <p:cNvSpPr/>
            <p:nvPr/>
          </p:nvSpPr>
          <p:spPr>
            <a:xfrm flipH="false" flipV="false" rot="0">
              <a:off x="0" y="0"/>
              <a:ext cx="5274950" cy="3008950"/>
            </a:xfrm>
            <a:custGeom>
              <a:avLst/>
              <a:gdLst/>
              <a:ahLst/>
              <a:cxnLst/>
              <a:rect r="r" b="b" t="t" l="l"/>
              <a:pathLst>
                <a:path h="3008950" w="5274950">
                  <a:moveTo>
                    <a:pt x="23850" y="0"/>
                  </a:moveTo>
                  <a:lnTo>
                    <a:pt x="5251100" y="0"/>
                  </a:lnTo>
                  <a:cubicBezTo>
                    <a:pt x="5264272" y="0"/>
                    <a:pt x="5274950" y="10678"/>
                    <a:pt x="5274950" y="23850"/>
                  </a:cubicBezTo>
                  <a:lnTo>
                    <a:pt x="5274950" y="2985100"/>
                  </a:lnTo>
                  <a:cubicBezTo>
                    <a:pt x="5274950" y="2991426"/>
                    <a:pt x="5272437" y="2997492"/>
                    <a:pt x="5267964" y="3001965"/>
                  </a:cubicBezTo>
                  <a:cubicBezTo>
                    <a:pt x="5263492" y="3006437"/>
                    <a:pt x="5257425" y="3008950"/>
                    <a:pt x="5251100" y="3008950"/>
                  </a:cubicBezTo>
                  <a:lnTo>
                    <a:pt x="23850" y="3008950"/>
                  </a:lnTo>
                  <a:cubicBezTo>
                    <a:pt x="17524" y="3008950"/>
                    <a:pt x="11458" y="3006437"/>
                    <a:pt x="6985" y="3001965"/>
                  </a:cubicBezTo>
                  <a:cubicBezTo>
                    <a:pt x="2513" y="2997492"/>
                    <a:pt x="0" y="2991426"/>
                    <a:pt x="0" y="2985100"/>
                  </a:cubicBezTo>
                  <a:lnTo>
                    <a:pt x="0" y="23850"/>
                  </a:lnTo>
                  <a:cubicBezTo>
                    <a:pt x="0" y="17524"/>
                    <a:pt x="2513" y="11458"/>
                    <a:pt x="6985" y="6985"/>
                  </a:cubicBezTo>
                  <a:cubicBezTo>
                    <a:pt x="11458" y="2513"/>
                    <a:pt x="17524" y="0"/>
                    <a:pt x="23850" y="0"/>
                  </a:cubicBezTo>
                  <a:close/>
                </a:path>
              </a:pathLst>
            </a:custGeom>
            <a:solidFill>
              <a:srgbClr val="EBE5DD"/>
            </a:solidFill>
            <a:ln w="38100" cap="rnd">
              <a:solidFill>
                <a:srgbClr val="000000"/>
              </a:solidFill>
              <a:prstDash val="solid"/>
              <a:round/>
            </a:ln>
          </p:spPr>
        </p:sp>
        <p:sp>
          <p:nvSpPr>
            <p:cNvPr name="TextBox 7" id="7"/>
            <p:cNvSpPr txBox="true"/>
            <p:nvPr/>
          </p:nvSpPr>
          <p:spPr>
            <a:xfrm>
              <a:off x="0" y="-47625"/>
              <a:ext cx="5274950" cy="3056575"/>
            </a:xfrm>
            <a:prstGeom prst="rect">
              <a:avLst/>
            </a:prstGeom>
          </p:spPr>
          <p:txBody>
            <a:bodyPr anchor="ctr" rtlCol="false" tIns="50800" lIns="50800" bIns="50800" rIns="50800"/>
            <a:lstStyle/>
            <a:p>
              <a:pPr algn="ctr">
                <a:lnSpc>
                  <a:spcPts val="2659"/>
                </a:lnSpc>
              </a:pPr>
            </a:p>
          </p:txBody>
        </p:sp>
      </p:grpSp>
      <p:sp>
        <p:nvSpPr>
          <p:cNvPr name="TextBox 8" id="8"/>
          <p:cNvSpPr txBox="true"/>
          <p:nvPr/>
        </p:nvSpPr>
        <p:spPr>
          <a:xfrm rot="0">
            <a:off x="3053894" y="2590368"/>
            <a:ext cx="12769070" cy="2229712"/>
          </a:xfrm>
          <a:prstGeom prst="rect">
            <a:avLst/>
          </a:prstGeom>
        </p:spPr>
        <p:txBody>
          <a:bodyPr anchor="t" rtlCol="false" tIns="0" lIns="0" bIns="0" rIns="0">
            <a:spAutoFit/>
          </a:bodyPr>
          <a:lstStyle/>
          <a:p>
            <a:pPr algn="just">
              <a:lnSpc>
                <a:spcPts val="4377"/>
              </a:lnSpc>
            </a:pPr>
            <a:r>
              <a:rPr lang="en-US" sz="4090" b="true">
                <a:solidFill>
                  <a:srgbClr val="000000"/>
                </a:solidFill>
                <a:latin typeface="Raleway Bold"/>
                <a:ea typeface="Raleway Bold"/>
                <a:cs typeface="Raleway Bold"/>
                <a:sym typeface="Raleway Bold"/>
              </a:rPr>
              <a:t>3. Technological Hazards </a:t>
            </a:r>
            <a:r>
              <a:rPr lang="en-US" sz="4090">
                <a:solidFill>
                  <a:srgbClr val="000000"/>
                </a:solidFill>
                <a:latin typeface="Raleway"/>
                <a:ea typeface="Raleway"/>
                <a:cs typeface="Raleway"/>
                <a:sym typeface="Raleway"/>
              </a:rPr>
              <a:t>– Industrial accidents, power failures, chemical spills.</a:t>
            </a:r>
          </a:p>
          <a:p>
            <a:pPr algn="just">
              <a:lnSpc>
                <a:spcPts val="4377"/>
              </a:lnSpc>
            </a:pPr>
          </a:p>
          <a:p>
            <a:pPr algn="just">
              <a:lnSpc>
                <a:spcPts val="4377"/>
              </a:lnSpc>
            </a:pPr>
            <a:r>
              <a:rPr lang="en-US" b="true" sz="4090">
                <a:solidFill>
                  <a:srgbClr val="000000"/>
                </a:solidFill>
                <a:latin typeface="Raleway Bold"/>
                <a:ea typeface="Raleway Bold"/>
                <a:cs typeface="Raleway Bold"/>
                <a:sym typeface="Raleway Bold"/>
              </a:rPr>
              <a:t>Example:</a:t>
            </a:r>
          </a:p>
        </p:txBody>
      </p:sp>
      <p:sp>
        <p:nvSpPr>
          <p:cNvPr name="Freeform 9" id="9"/>
          <p:cNvSpPr/>
          <p:nvPr/>
        </p:nvSpPr>
        <p:spPr>
          <a:xfrm flipH="false" flipV="false" rot="0">
            <a:off x="2379870" y="4918156"/>
            <a:ext cx="5927123" cy="4140939"/>
          </a:xfrm>
          <a:custGeom>
            <a:avLst/>
            <a:gdLst/>
            <a:ahLst/>
            <a:cxnLst/>
            <a:rect r="r" b="b" t="t" l="l"/>
            <a:pathLst>
              <a:path h="4140939" w="5927123">
                <a:moveTo>
                  <a:pt x="0" y="0"/>
                </a:moveTo>
                <a:lnTo>
                  <a:pt x="5927122" y="0"/>
                </a:lnTo>
                <a:lnTo>
                  <a:pt x="5927122" y="4140938"/>
                </a:lnTo>
                <a:lnTo>
                  <a:pt x="0" y="4140938"/>
                </a:lnTo>
                <a:lnTo>
                  <a:pt x="0" y="0"/>
                </a:lnTo>
                <a:close/>
              </a:path>
            </a:pathLst>
          </a:custGeom>
          <a:blipFill>
            <a:blip r:embed="rId4"/>
            <a:stretch>
              <a:fillRect l="0" t="0" r="-12015" b="0"/>
            </a:stretch>
          </a:blipFill>
        </p:spPr>
      </p:sp>
      <p:sp>
        <p:nvSpPr>
          <p:cNvPr name="Freeform 10" id="10"/>
          <p:cNvSpPr/>
          <p:nvPr/>
        </p:nvSpPr>
        <p:spPr>
          <a:xfrm flipH="false" flipV="false" rot="0">
            <a:off x="9827331" y="4970676"/>
            <a:ext cx="5789398" cy="4088418"/>
          </a:xfrm>
          <a:custGeom>
            <a:avLst/>
            <a:gdLst/>
            <a:ahLst/>
            <a:cxnLst/>
            <a:rect r="r" b="b" t="t" l="l"/>
            <a:pathLst>
              <a:path h="4088418" w="5789398">
                <a:moveTo>
                  <a:pt x="0" y="0"/>
                </a:moveTo>
                <a:lnTo>
                  <a:pt x="5789398" y="0"/>
                </a:lnTo>
                <a:lnTo>
                  <a:pt x="5789398" y="4088418"/>
                </a:lnTo>
                <a:lnTo>
                  <a:pt x="0" y="4088418"/>
                </a:lnTo>
                <a:lnTo>
                  <a:pt x="0" y="0"/>
                </a:lnTo>
                <a:close/>
              </a:path>
            </a:pathLst>
          </a:custGeom>
          <a:blipFill>
            <a:blip r:embed="rId5"/>
            <a:stretch>
              <a:fillRect l="0" t="-6203" r="0" b="0"/>
            </a:stretch>
          </a:blipFill>
        </p:spPr>
      </p:sp>
      <p:sp>
        <p:nvSpPr>
          <p:cNvPr name="TextBox 11" id="11"/>
          <p:cNvSpPr txBox="true"/>
          <p:nvPr/>
        </p:nvSpPr>
        <p:spPr>
          <a:xfrm rot="0">
            <a:off x="4149585" y="538811"/>
            <a:ext cx="9988830" cy="1285875"/>
          </a:xfrm>
          <a:prstGeom prst="rect">
            <a:avLst/>
          </a:prstGeom>
        </p:spPr>
        <p:txBody>
          <a:bodyPr anchor="t" rtlCol="false" tIns="0" lIns="0" bIns="0" rIns="0">
            <a:spAutoFit/>
          </a:bodyPr>
          <a:lstStyle/>
          <a:p>
            <a:pPr algn="ctr">
              <a:lnSpc>
                <a:spcPts val="10500"/>
              </a:lnSpc>
            </a:pPr>
            <a:r>
              <a:rPr lang="en-US" sz="7500">
                <a:solidFill>
                  <a:srgbClr val="000000"/>
                </a:solidFill>
                <a:latin typeface="Fredoka"/>
                <a:ea typeface="Fredoka"/>
                <a:cs typeface="Fredoka"/>
                <a:sym typeface="Fredoka"/>
              </a:rPr>
              <a:t>COMMON HAZARD</a:t>
            </a:r>
          </a:p>
        </p:txBody>
      </p:sp>
    </p:spTree>
  </p:cSld>
  <p:clrMapOvr>
    <a:masterClrMapping/>
  </p:clrMapOvr>
</p:sld>
</file>

<file path=ppt/slides/slide7.xml><?xml version="1.0" encoding="utf-8"?>
<p:sld xmlns:p="http://schemas.openxmlformats.org/presentationml/2006/main" xmlns:a="http://schemas.openxmlformats.org/drawingml/2006/main" xmlns:r="http://schemas.openxmlformats.org/officeDocument/2006/relationships">
  <p:cSld>
    <p:bg>
      <p:bgPr>
        <a:solidFill>
          <a:srgbClr val="ACC6B8"/>
        </a:solidFill>
      </p:bgPr>
    </p:bg>
    <p:spTree>
      <p:nvGrpSpPr>
        <p:cNvPr id="1" name=""/>
        <p:cNvGrpSpPr/>
        <p:nvPr/>
      </p:nvGrpSpPr>
      <p:grpSpPr>
        <a:xfrm>
          <a:off x="0" y="0"/>
          <a:ext cx="0" cy="0"/>
          <a:chOff x="0" y="0"/>
          <a:chExt cx="0" cy="0"/>
        </a:xfrm>
      </p:grpSpPr>
      <p:sp>
        <p:nvSpPr>
          <p:cNvPr name="Freeform 2" id="2"/>
          <p:cNvSpPr/>
          <p:nvPr/>
        </p:nvSpPr>
        <p:spPr>
          <a:xfrm flipH="false" flipV="false" rot="0">
            <a:off x="-1073252" y="-530691"/>
            <a:ext cx="5259149" cy="2667823"/>
          </a:xfrm>
          <a:custGeom>
            <a:avLst/>
            <a:gdLst/>
            <a:ahLst/>
            <a:cxnLst/>
            <a:rect r="r" b="b" t="t" l="l"/>
            <a:pathLst>
              <a:path h="2667823" w="5259149">
                <a:moveTo>
                  <a:pt x="0" y="0"/>
                </a:moveTo>
                <a:lnTo>
                  <a:pt x="5259149" y="0"/>
                </a:lnTo>
                <a:lnTo>
                  <a:pt x="5259149" y="2667823"/>
                </a:lnTo>
                <a:lnTo>
                  <a:pt x="0" y="2667823"/>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13132004" y="0"/>
            <a:ext cx="6326347" cy="3209184"/>
          </a:xfrm>
          <a:custGeom>
            <a:avLst/>
            <a:gdLst/>
            <a:ahLst/>
            <a:cxnLst/>
            <a:rect r="r" b="b" t="t" l="l"/>
            <a:pathLst>
              <a:path h="3209184" w="6326347">
                <a:moveTo>
                  <a:pt x="0" y="0"/>
                </a:moveTo>
                <a:lnTo>
                  <a:pt x="6326347" y="0"/>
                </a:lnTo>
                <a:lnTo>
                  <a:pt x="6326347" y="3209184"/>
                </a:lnTo>
                <a:lnTo>
                  <a:pt x="0" y="3209184"/>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4" id="4"/>
          <p:cNvSpPr/>
          <p:nvPr/>
        </p:nvSpPr>
        <p:spPr>
          <a:xfrm flipH="false" flipV="false" rot="0">
            <a:off x="1162266" y="8464517"/>
            <a:ext cx="5259149" cy="2667823"/>
          </a:xfrm>
          <a:custGeom>
            <a:avLst/>
            <a:gdLst/>
            <a:ahLst/>
            <a:cxnLst/>
            <a:rect r="r" b="b" t="t" l="l"/>
            <a:pathLst>
              <a:path h="2667823" w="5259149">
                <a:moveTo>
                  <a:pt x="0" y="0"/>
                </a:moveTo>
                <a:lnTo>
                  <a:pt x="5259149" y="0"/>
                </a:lnTo>
                <a:lnTo>
                  <a:pt x="5259149" y="2667823"/>
                </a:lnTo>
                <a:lnTo>
                  <a:pt x="0" y="2667823"/>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5" id="5"/>
          <p:cNvGrpSpPr/>
          <p:nvPr/>
        </p:nvGrpSpPr>
        <p:grpSpPr>
          <a:xfrm rot="0">
            <a:off x="807132" y="1028700"/>
            <a:ext cx="16230600" cy="9258300"/>
            <a:chOff x="0" y="0"/>
            <a:chExt cx="5274950" cy="3008950"/>
          </a:xfrm>
        </p:grpSpPr>
        <p:sp>
          <p:nvSpPr>
            <p:cNvPr name="Freeform 6" id="6"/>
            <p:cNvSpPr/>
            <p:nvPr/>
          </p:nvSpPr>
          <p:spPr>
            <a:xfrm flipH="false" flipV="false" rot="0">
              <a:off x="0" y="0"/>
              <a:ext cx="5274950" cy="3008950"/>
            </a:xfrm>
            <a:custGeom>
              <a:avLst/>
              <a:gdLst/>
              <a:ahLst/>
              <a:cxnLst/>
              <a:rect r="r" b="b" t="t" l="l"/>
              <a:pathLst>
                <a:path h="3008950" w="5274950">
                  <a:moveTo>
                    <a:pt x="23850" y="0"/>
                  </a:moveTo>
                  <a:lnTo>
                    <a:pt x="5251100" y="0"/>
                  </a:lnTo>
                  <a:cubicBezTo>
                    <a:pt x="5264272" y="0"/>
                    <a:pt x="5274950" y="10678"/>
                    <a:pt x="5274950" y="23850"/>
                  </a:cubicBezTo>
                  <a:lnTo>
                    <a:pt x="5274950" y="2985100"/>
                  </a:lnTo>
                  <a:cubicBezTo>
                    <a:pt x="5274950" y="2991426"/>
                    <a:pt x="5272437" y="2997492"/>
                    <a:pt x="5267964" y="3001965"/>
                  </a:cubicBezTo>
                  <a:cubicBezTo>
                    <a:pt x="5263492" y="3006437"/>
                    <a:pt x="5257425" y="3008950"/>
                    <a:pt x="5251100" y="3008950"/>
                  </a:cubicBezTo>
                  <a:lnTo>
                    <a:pt x="23850" y="3008950"/>
                  </a:lnTo>
                  <a:cubicBezTo>
                    <a:pt x="17524" y="3008950"/>
                    <a:pt x="11458" y="3006437"/>
                    <a:pt x="6985" y="3001965"/>
                  </a:cubicBezTo>
                  <a:cubicBezTo>
                    <a:pt x="2513" y="2997492"/>
                    <a:pt x="0" y="2991426"/>
                    <a:pt x="0" y="2985100"/>
                  </a:cubicBezTo>
                  <a:lnTo>
                    <a:pt x="0" y="23850"/>
                  </a:lnTo>
                  <a:cubicBezTo>
                    <a:pt x="0" y="17524"/>
                    <a:pt x="2513" y="11458"/>
                    <a:pt x="6985" y="6985"/>
                  </a:cubicBezTo>
                  <a:cubicBezTo>
                    <a:pt x="11458" y="2513"/>
                    <a:pt x="17524" y="0"/>
                    <a:pt x="23850" y="0"/>
                  </a:cubicBezTo>
                  <a:close/>
                </a:path>
              </a:pathLst>
            </a:custGeom>
            <a:solidFill>
              <a:srgbClr val="EBE5DD"/>
            </a:solidFill>
            <a:ln w="38100" cap="rnd">
              <a:solidFill>
                <a:srgbClr val="000000"/>
              </a:solidFill>
              <a:prstDash val="solid"/>
              <a:round/>
            </a:ln>
          </p:spPr>
        </p:sp>
        <p:sp>
          <p:nvSpPr>
            <p:cNvPr name="TextBox 7" id="7"/>
            <p:cNvSpPr txBox="true"/>
            <p:nvPr/>
          </p:nvSpPr>
          <p:spPr>
            <a:xfrm>
              <a:off x="0" y="-47625"/>
              <a:ext cx="5274950" cy="3056575"/>
            </a:xfrm>
            <a:prstGeom prst="rect">
              <a:avLst/>
            </a:prstGeom>
          </p:spPr>
          <p:txBody>
            <a:bodyPr anchor="ctr" rtlCol="false" tIns="50800" lIns="50800" bIns="50800" rIns="50800"/>
            <a:lstStyle/>
            <a:p>
              <a:pPr algn="ctr">
                <a:lnSpc>
                  <a:spcPts val="2659"/>
                </a:lnSpc>
              </a:pPr>
            </a:p>
          </p:txBody>
        </p:sp>
      </p:grpSp>
      <p:sp>
        <p:nvSpPr>
          <p:cNvPr name="TextBox 8" id="8"/>
          <p:cNvSpPr txBox="true"/>
          <p:nvPr/>
        </p:nvSpPr>
        <p:spPr>
          <a:xfrm rot="0">
            <a:off x="3117200" y="2590368"/>
            <a:ext cx="12769070" cy="2229712"/>
          </a:xfrm>
          <a:prstGeom prst="rect">
            <a:avLst/>
          </a:prstGeom>
        </p:spPr>
        <p:txBody>
          <a:bodyPr anchor="t" rtlCol="false" tIns="0" lIns="0" bIns="0" rIns="0">
            <a:spAutoFit/>
          </a:bodyPr>
          <a:lstStyle/>
          <a:p>
            <a:pPr algn="just">
              <a:lnSpc>
                <a:spcPts val="4377"/>
              </a:lnSpc>
            </a:pPr>
            <a:r>
              <a:rPr lang="en-US" sz="4090" b="true">
                <a:solidFill>
                  <a:srgbClr val="000000"/>
                </a:solidFill>
                <a:latin typeface="Raleway Bold"/>
                <a:ea typeface="Raleway Bold"/>
                <a:cs typeface="Raleway Bold"/>
                <a:sym typeface="Raleway Bold"/>
              </a:rPr>
              <a:t>4. Biological Hazards </a:t>
            </a:r>
            <a:r>
              <a:rPr lang="en-US" sz="4090">
                <a:solidFill>
                  <a:srgbClr val="000000"/>
                </a:solidFill>
                <a:latin typeface="Raleway"/>
                <a:ea typeface="Raleway"/>
                <a:cs typeface="Raleway"/>
                <a:sym typeface="Raleway"/>
              </a:rPr>
              <a:t>– Diseases, viruses, pests, toxic organisms.</a:t>
            </a:r>
          </a:p>
          <a:p>
            <a:pPr algn="just">
              <a:lnSpc>
                <a:spcPts val="4377"/>
              </a:lnSpc>
            </a:pPr>
          </a:p>
          <a:p>
            <a:pPr algn="just">
              <a:lnSpc>
                <a:spcPts val="4377"/>
              </a:lnSpc>
            </a:pPr>
            <a:r>
              <a:rPr lang="en-US" b="true" sz="4090">
                <a:solidFill>
                  <a:srgbClr val="000000"/>
                </a:solidFill>
                <a:latin typeface="Raleway Bold"/>
                <a:ea typeface="Raleway Bold"/>
                <a:cs typeface="Raleway Bold"/>
                <a:sym typeface="Raleway Bold"/>
              </a:rPr>
              <a:t>Example:</a:t>
            </a:r>
          </a:p>
        </p:txBody>
      </p:sp>
      <p:sp>
        <p:nvSpPr>
          <p:cNvPr name="Freeform 9" id="9"/>
          <p:cNvSpPr/>
          <p:nvPr/>
        </p:nvSpPr>
        <p:spPr>
          <a:xfrm flipH="false" flipV="false" rot="0">
            <a:off x="2904567" y="4820080"/>
            <a:ext cx="5198780" cy="5198780"/>
          </a:xfrm>
          <a:custGeom>
            <a:avLst/>
            <a:gdLst/>
            <a:ahLst/>
            <a:cxnLst/>
            <a:rect r="r" b="b" t="t" l="l"/>
            <a:pathLst>
              <a:path h="5198780" w="5198780">
                <a:moveTo>
                  <a:pt x="0" y="0"/>
                </a:moveTo>
                <a:lnTo>
                  <a:pt x="5198780" y="0"/>
                </a:lnTo>
                <a:lnTo>
                  <a:pt x="5198780" y="5198780"/>
                </a:lnTo>
                <a:lnTo>
                  <a:pt x="0" y="5198780"/>
                </a:lnTo>
                <a:lnTo>
                  <a:pt x="0" y="0"/>
                </a:lnTo>
                <a:close/>
              </a:path>
            </a:pathLst>
          </a:custGeom>
          <a:blipFill>
            <a:blip r:embed="rId4"/>
            <a:stretch>
              <a:fillRect l="0" t="0" r="0" b="0"/>
            </a:stretch>
          </a:blipFill>
        </p:spPr>
      </p:sp>
      <p:sp>
        <p:nvSpPr>
          <p:cNvPr name="Freeform 10" id="10"/>
          <p:cNvSpPr/>
          <p:nvPr/>
        </p:nvSpPr>
        <p:spPr>
          <a:xfrm flipH="false" flipV="false" rot="0">
            <a:off x="10222014" y="4888027"/>
            <a:ext cx="4910402" cy="4910402"/>
          </a:xfrm>
          <a:custGeom>
            <a:avLst/>
            <a:gdLst/>
            <a:ahLst/>
            <a:cxnLst/>
            <a:rect r="r" b="b" t="t" l="l"/>
            <a:pathLst>
              <a:path h="4910402" w="4910402">
                <a:moveTo>
                  <a:pt x="0" y="0"/>
                </a:moveTo>
                <a:lnTo>
                  <a:pt x="4910402" y="0"/>
                </a:lnTo>
                <a:lnTo>
                  <a:pt x="4910402" y="4910402"/>
                </a:lnTo>
                <a:lnTo>
                  <a:pt x="0" y="4910402"/>
                </a:lnTo>
                <a:lnTo>
                  <a:pt x="0" y="0"/>
                </a:lnTo>
                <a:close/>
              </a:path>
            </a:pathLst>
          </a:custGeom>
          <a:blipFill>
            <a:blip r:embed="rId5"/>
            <a:stretch>
              <a:fillRect l="0" t="0" r="0" b="0"/>
            </a:stretch>
          </a:blipFill>
        </p:spPr>
      </p:sp>
      <p:sp>
        <p:nvSpPr>
          <p:cNvPr name="TextBox 11" id="11"/>
          <p:cNvSpPr txBox="true"/>
          <p:nvPr/>
        </p:nvSpPr>
        <p:spPr>
          <a:xfrm rot="0">
            <a:off x="4149585" y="538811"/>
            <a:ext cx="9988830" cy="1285875"/>
          </a:xfrm>
          <a:prstGeom prst="rect">
            <a:avLst/>
          </a:prstGeom>
        </p:spPr>
        <p:txBody>
          <a:bodyPr anchor="t" rtlCol="false" tIns="0" lIns="0" bIns="0" rIns="0">
            <a:spAutoFit/>
          </a:bodyPr>
          <a:lstStyle/>
          <a:p>
            <a:pPr algn="ctr">
              <a:lnSpc>
                <a:spcPts val="10500"/>
              </a:lnSpc>
            </a:pPr>
            <a:r>
              <a:rPr lang="en-US" sz="7500">
                <a:solidFill>
                  <a:srgbClr val="000000"/>
                </a:solidFill>
                <a:latin typeface="Fredoka"/>
                <a:ea typeface="Fredoka"/>
                <a:cs typeface="Fredoka"/>
                <a:sym typeface="Fredoka"/>
              </a:rPr>
              <a:t>COMMON HAZARD</a:t>
            </a:r>
          </a:p>
        </p:txBody>
      </p:sp>
    </p:spTree>
  </p:cSld>
  <p:clrMapOvr>
    <a:masterClrMapping/>
  </p:clrMapOvr>
</p:sld>
</file>

<file path=ppt/slides/slide8.xml><?xml version="1.0" encoding="utf-8"?>
<p:sld xmlns:p="http://schemas.openxmlformats.org/presentationml/2006/main" xmlns:a="http://schemas.openxmlformats.org/drawingml/2006/main" xmlns:r="http://schemas.openxmlformats.org/officeDocument/2006/relationships">
  <p:cSld>
    <p:bg>
      <p:bgPr>
        <a:solidFill>
          <a:srgbClr val="ACC6B8"/>
        </a:solidFill>
      </p:bgPr>
    </p:bg>
    <p:spTree>
      <p:nvGrpSpPr>
        <p:cNvPr id="1" name=""/>
        <p:cNvGrpSpPr/>
        <p:nvPr/>
      </p:nvGrpSpPr>
      <p:grpSpPr>
        <a:xfrm>
          <a:off x="0" y="0"/>
          <a:ext cx="0" cy="0"/>
          <a:chOff x="0" y="0"/>
          <a:chExt cx="0" cy="0"/>
        </a:xfrm>
      </p:grpSpPr>
      <p:sp>
        <p:nvSpPr>
          <p:cNvPr name="Freeform 2" id="2"/>
          <p:cNvSpPr/>
          <p:nvPr/>
        </p:nvSpPr>
        <p:spPr>
          <a:xfrm flipH="false" flipV="false" rot="0">
            <a:off x="-1073252" y="-530691"/>
            <a:ext cx="5259149" cy="2667823"/>
          </a:xfrm>
          <a:custGeom>
            <a:avLst/>
            <a:gdLst/>
            <a:ahLst/>
            <a:cxnLst/>
            <a:rect r="r" b="b" t="t" l="l"/>
            <a:pathLst>
              <a:path h="2667823" w="5259149">
                <a:moveTo>
                  <a:pt x="0" y="0"/>
                </a:moveTo>
                <a:lnTo>
                  <a:pt x="5259149" y="0"/>
                </a:lnTo>
                <a:lnTo>
                  <a:pt x="5259149" y="2667823"/>
                </a:lnTo>
                <a:lnTo>
                  <a:pt x="0" y="2667823"/>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13132004" y="0"/>
            <a:ext cx="6326347" cy="3209184"/>
          </a:xfrm>
          <a:custGeom>
            <a:avLst/>
            <a:gdLst/>
            <a:ahLst/>
            <a:cxnLst/>
            <a:rect r="r" b="b" t="t" l="l"/>
            <a:pathLst>
              <a:path h="3209184" w="6326347">
                <a:moveTo>
                  <a:pt x="0" y="0"/>
                </a:moveTo>
                <a:lnTo>
                  <a:pt x="6326347" y="0"/>
                </a:lnTo>
                <a:lnTo>
                  <a:pt x="6326347" y="3209184"/>
                </a:lnTo>
                <a:lnTo>
                  <a:pt x="0" y="3209184"/>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4" id="4"/>
          <p:cNvSpPr/>
          <p:nvPr/>
        </p:nvSpPr>
        <p:spPr>
          <a:xfrm flipH="false" flipV="false" rot="0">
            <a:off x="1162266" y="8464517"/>
            <a:ext cx="5259149" cy="2667823"/>
          </a:xfrm>
          <a:custGeom>
            <a:avLst/>
            <a:gdLst/>
            <a:ahLst/>
            <a:cxnLst/>
            <a:rect r="r" b="b" t="t" l="l"/>
            <a:pathLst>
              <a:path h="2667823" w="5259149">
                <a:moveTo>
                  <a:pt x="0" y="0"/>
                </a:moveTo>
                <a:lnTo>
                  <a:pt x="5259149" y="0"/>
                </a:lnTo>
                <a:lnTo>
                  <a:pt x="5259149" y="2667823"/>
                </a:lnTo>
                <a:lnTo>
                  <a:pt x="0" y="2667823"/>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5" id="5"/>
          <p:cNvGrpSpPr/>
          <p:nvPr/>
        </p:nvGrpSpPr>
        <p:grpSpPr>
          <a:xfrm rot="0">
            <a:off x="807132" y="1028700"/>
            <a:ext cx="16230600" cy="9258300"/>
            <a:chOff x="0" y="0"/>
            <a:chExt cx="5274950" cy="3008950"/>
          </a:xfrm>
        </p:grpSpPr>
        <p:sp>
          <p:nvSpPr>
            <p:cNvPr name="Freeform 6" id="6"/>
            <p:cNvSpPr/>
            <p:nvPr/>
          </p:nvSpPr>
          <p:spPr>
            <a:xfrm flipH="false" flipV="false" rot="0">
              <a:off x="0" y="0"/>
              <a:ext cx="5274950" cy="3008950"/>
            </a:xfrm>
            <a:custGeom>
              <a:avLst/>
              <a:gdLst/>
              <a:ahLst/>
              <a:cxnLst/>
              <a:rect r="r" b="b" t="t" l="l"/>
              <a:pathLst>
                <a:path h="3008950" w="5274950">
                  <a:moveTo>
                    <a:pt x="23850" y="0"/>
                  </a:moveTo>
                  <a:lnTo>
                    <a:pt x="5251100" y="0"/>
                  </a:lnTo>
                  <a:cubicBezTo>
                    <a:pt x="5264272" y="0"/>
                    <a:pt x="5274950" y="10678"/>
                    <a:pt x="5274950" y="23850"/>
                  </a:cubicBezTo>
                  <a:lnTo>
                    <a:pt x="5274950" y="2985100"/>
                  </a:lnTo>
                  <a:cubicBezTo>
                    <a:pt x="5274950" y="2991426"/>
                    <a:pt x="5272437" y="2997492"/>
                    <a:pt x="5267964" y="3001965"/>
                  </a:cubicBezTo>
                  <a:cubicBezTo>
                    <a:pt x="5263492" y="3006437"/>
                    <a:pt x="5257425" y="3008950"/>
                    <a:pt x="5251100" y="3008950"/>
                  </a:cubicBezTo>
                  <a:lnTo>
                    <a:pt x="23850" y="3008950"/>
                  </a:lnTo>
                  <a:cubicBezTo>
                    <a:pt x="17524" y="3008950"/>
                    <a:pt x="11458" y="3006437"/>
                    <a:pt x="6985" y="3001965"/>
                  </a:cubicBezTo>
                  <a:cubicBezTo>
                    <a:pt x="2513" y="2997492"/>
                    <a:pt x="0" y="2991426"/>
                    <a:pt x="0" y="2985100"/>
                  </a:cubicBezTo>
                  <a:lnTo>
                    <a:pt x="0" y="23850"/>
                  </a:lnTo>
                  <a:cubicBezTo>
                    <a:pt x="0" y="17524"/>
                    <a:pt x="2513" y="11458"/>
                    <a:pt x="6985" y="6985"/>
                  </a:cubicBezTo>
                  <a:cubicBezTo>
                    <a:pt x="11458" y="2513"/>
                    <a:pt x="17524" y="0"/>
                    <a:pt x="23850" y="0"/>
                  </a:cubicBezTo>
                  <a:close/>
                </a:path>
              </a:pathLst>
            </a:custGeom>
            <a:solidFill>
              <a:srgbClr val="EBE5DD"/>
            </a:solidFill>
            <a:ln w="38100" cap="rnd">
              <a:solidFill>
                <a:srgbClr val="000000"/>
              </a:solidFill>
              <a:prstDash val="solid"/>
              <a:round/>
            </a:ln>
          </p:spPr>
        </p:sp>
        <p:sp>
          <p:nvSpPr>
            <p:cNvPr name="TextBox 7" id="7"/>
            <p:cNvSpPr txBox="true"/>
            <p:nvPr/>
          </p:nvSpPr>
          <p:spPr>
            <a:xfrm>
              <a:off x="0" y="-47625"/>
              <a:ext cx="5274950" cy="3056575"/>
            </a:xfrm>
            <a:prstGeom prst="rect">
              <a:avLst/>
            </a:prstGeom>
          </p:spPr>
          <p:txBody>
            <a:bodyPr anchor="ctr" rtlCol="false" tIns="50800" lIns="50800" bIns="50800" rIns="50800"/>
            <a:lstStyle/>
            <a:p>
              <a:pPr algn="ctr">
                <a:lnSpc>
                  <a:spcPts val="2659"/>
                </a:lnSpc>
              </a:pPr>
            </a:p>
          </p:txBody>
        </p:sp>
      </p:grpSp>
      <p:sp>
        <p:nvSpPr>
          <p:cNvPr name="TextBox 8" id="8"/>
          <p:cNvSpPr txBox="true"/>
          <p:nvPr/>
        </p:nvSpPr>
        <p:spPr>
          <a:xfrm rot="0">
            <a:off x="3117200" y="2590368"/>
            <a:ext cx="12769070" cy="2229712"/>
          </a:xfrm>
          <a:prstGeom prst="rect">
            <a:avLst/>
          </a:prstGeom>
        </p:spPr>
        <p:txBody>
          <a:bodyPr anchor="t" rtlCol="false" tIns="0" lIns="0" bIns="0" rIns="0">
            <a:spAutoFit/>
          </a:bodyPr>
          <a:lstStyle/>
          <a:p>
            <a:pPr algn="just">
              <a:lnSpc>
                <a:spcPts val="4377"/>
              </a:lnSpc>
            </a:pPr>
            <a:r>
              <a:rPr lang="en-US" sz="4090" b="true">
                <a:solidFill>
                  <a:srgbClr val="000000"/>
                </a:solidFill>
                <a:latin typeface="Raleway Bold"/>
                <a:ea typeface="Raleway Bold"/>
                <a:cs typeface="Raleway Bold"/>
                <a:sym typeface="Raleway Bold"/>
              </a:rPr>
              <a:t>5. Human-Induced Hazards </a:t>
            </a:r>
            <a:r>
              <a:rPr lang="en-US" sz="4090">
                <a:solidFill>
                  <a:srgbClr val="000000"/>
                </a:solidFill>
                <a:latin typeface="Raleway"/>
                <a:ea typeface="Raleway"/>
                <a:cs typeface="Raleway"/>
                <a:sym typeface="Raleway"/>
              </a:rPr>
              <a:t>– Fire, conflict, deforestation, improper waste disposal.</a:t>
            </a:r>
          </a:p>
          <a:p>
            <a:pPr algn="just">
              <a:lnSpc>
                <a:spcPts val="4377"/>
              </a:lnSpc>
            </a:pPr>
          </a:p>
          <a:p>
            <a:pPr algn="just">
              <a:lnSpc>
                <a:spcPts val="4377"/>
              </a:lnSpc>
            </a:pPr>
            <a:r>
              <a:rPr lang="en-US" b="true" sz="4090">
                <a:solidFill>
                  <a:srgbClr val="000000"/>
                </a:solidFill>
                <a:latin typeface="Raleway Bold"/>
                <a:ea typeface="Raleway Bold"/>
                <a:cs typeface="Raleway Bold"/>
                <a:sym typeface="Raleway Bold"/>
              </a:rPr>
              <a:t>Example:</a:t>
            </a:r>
          </a:p>
        </p:txBody>
      </p:sp>
      <p:sp>
        <p:nvSpPr>
          <p:cNvPr name="Freeform 9" id="9"/>
          <p:cNvSpPr/>
          <p:nvPr/>
        </p:nvSpPr>
        <p:spPr>
          <a:xfrm flipH="false" flipV="false" rot="0">
            <a:off x="3014220" y="5027665"/>
            <a:ext cx="4626284" cy="4626284"/>
          </a:xfrm>
          <a:custGeom>
            <a:avLst/>
            <a:gdLst/>
            <a:ahLst/>
            <a:cxnLst/>
            <a:rect r="r" b="b" t="t" l="l"/>
            <a:pathLst>
              <a:path h="4626284" w="4626284">
                <a:moveTo>
                  <a:pt x="0" y="0"/>
                </a:moveTo>
                <a:lnTo>
                  <a:pt x="4626284" y="0"/>
                </a:lnTo>
                <a:lnTo>
                  <a:pt x="4626284" y="4626284"/>
                </a:lnTo>
                <a:lnTo>
                  <a:pt x="0" y="4626284"/>
                </a:lnTo>
                <a:lnTo>
                  <a:pt x="0" y="0"/>
                </a:lnTo>
                <a:close/>
              </a:path>
            </a:pathLst>
          </a:custGeom>
          <a:blipFill>
            <a:blip r:embed="rId4"/>
            <a:stretch>
              <a:fillRect l="0" t="0" r="0" b="0"/>
            </a:stretch>
          </a:blipFill>
        </p:spPr>
      </p:sp>
      <p:sp>
        <p:nvSpPr>
          <p:cNvPr name="Freeform 10" id="10"/>
          <p:cNvSpPr/>
          <p:nvPr/>
        </p:nvSpPr>
        <p:spPr>
          <a:xfrm flipH="false" flipV="false" rot="0">
            <a:off x="9930035" y="5027665"/>
            <a:ext cx="4920440" cy="4626284"/>
          </a:xfrm>
          <a:custGeom>
            <a:avLst/>
            <a:gdLst/>
            <a:ahLst/>
            <a:cxnLst/>
            <a:rect r="r" b="b" t="t" l="l"/>
            <a:pathLst>
              <a:path h="4626284" w="4920440">
                <a:moveTo>
                  <a:pt x="0" y="0"/>
                </a:moveTo>
                <a:lnTo>
                  <a:pt x="4920440" y="0"/>
                </a:lnTo>
                <a:lnTo>
                  <a:pt x="4920440" y="4626284"/>
                </a:lnTo>
                <a:lnTo>
                  <a:pt x="0" y="4626284"/>
                </a:lnTo>
                <a:lnTo>
                  <a:pt x="0" y="0"/>
                </a:lnTo>
                <a:close/>
              </a:path>
            </a:pathLst>
          </a:custGeom>
          <a:blipFill>
            <a:blip r:embed="rId5"/>
            <a:stretch>
              <a:fillRect l="-34293" t="0" r="-33639" b="0"/>
            </a:stretch>
          </a:blipFill>
        </p:spPr>
      </p:sp>
      <p:sp>
        <p:nvSpPr>
          <p:cNvPr name="TextBox 11" id="11"/>
          <p:cNvSpPr txBox="true"/>
          <p:nvPr/>
        </p:nvSpPr>
        <p:spPr>
          <a:xfrm rot="0">
            <a:off x="4149585" y="538811"/>
            <a:ext cx="9988830" cy="1285875"/>
          </a:xfrm>
          <a:prstGeom prst="rect">
            <a:avLst/>
          </a:prstGeom>
        </p:spPr>
        <p:txBody>
          <a:bodyPr anchor="t" rtlCol="false" tIns="0" lIns="0" bIns="0" rIns="0">
            <a:spAutoFit/>
          </a:bodyPr>
          <a:lstStyle/>
          <a:p>
            <a:pPr algn="ctr">
              <a:lnSpc>
                <a:spcPts val="10500"/>
              </a:lnSpc>
            </a:pPr>
            <a:r>
              <a:rPr lang="en-US" sz="7500">
                <a:solidFill>
                  <a:srgbClr val="000000"/>
                </a:solidFill>
                <a:latin typeface="Fredoka"/>
                <a:ea typeface="Fredoka"/>
                <a:cs typeface="Fredoka"/>
                <a:sym typeface="Fredoka"/>
              </a:rPr>
              <a:t>COMMON HAZARD</a:t>
            </a:r>
          </a:p>
        </p:txBody>
      </p:sp>
    </p:spTree>
  </p:cSld>
  <p:clrMapOvr>
    <a:masterClrMapping/>
  </p:clrMapOvr>
</p:sld>
</file>

<file path=ppt/slides/slide9.xml><?xml version="1.0" encoding="utf-8"?>
<p:sld xmlns:p="http://schemas.openxmlformats.org/presentationml/2006/main" xmlns:a="http://schemas.openxmlformats.org/drawingml/2006/main" xmlns:r="http://schemas.openxmlformats.org/officeDocument/2006/relationships">
  <p:cSld>
    <p:bg>
      <p:bgPr>
        <a:solidFill>
          <a:srgbClr val="ACC6B8"/>
        </a:solidFill>
      </p:bgPr>
    </p:bg>
    <p:spTree>
      <p:nvGrpSpPr>
        <p:cNvPr id="1" name=""/>
        <p:cNvGrpSpPr/>
        <p:nvPr/>
      </p:nvGrpSpPr>
      <p:grpSpPr>
        <a:xfrm>
          <a:off x="0" y="0"/>
          <a:ext cx="0" cy="0"/>
          <a:chOff x="0" y="0"/>
          <a:chExt cx="0" cy="0"/>
        </a:xfrm>
      </p:grpSpPr>
      <p:sp>
        <p:nvSpPr>
          <p:cNvPr name="Freeform 2" id="2"/>
          <p:cNvSpPr/>
          <p:nvPr/>
        </p:nvSpPr>
        <p:spPr>
          <a:xfrm flipH="false" flipV="false" rot="0">
            <a:off x="-1073252" y="-530691"/>
            <a:ext cx="5259149" cy="2667823"/>
          </a:xfrm>
          <a:custGeom>
            <a:avLst/>
            <a:gdLst/>
            <a:ahLst/>
            <a:cxnLst/>
            <a:rect r="r" b="b" t="t" l="l"/>
            <a:pathLst>
              <a:path h="2667823" w="5259149">
                <a:moveTo>
                  <a:pt x="0" y="0"/>
                </a:moveTo>
                <a:lnTo>
                  <a:pt x="5259149" y="0"/>
                </a:lnTo>
                <a:lnTo>
                  <a:pt x="5259149" y="2667823"/>
                </a:lnTo>
                <a:lnTo>
                  <a:pt x="0" y="2667823"/>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13132004" y="0"/>
            <a:ext cx="6326347" cy="3209184"/>
          </a:xfrm>
          <a:custGeom>
            <a:avLst/>
            <a:gdLst/>
            <a:ahLst/>
            <a:cxnLst/>
            <a:rect r="r" b="b" t="t" l="l"/>
            <a:pathLst>
              <a:path h="3209184" w="6326347">
                <a:moveTo>
                  <a:pt x="0" y="0"/>
                </a:moveTo>
                <a:lnTo>
                  <a:pt x="6326347" y="0"/>
                </a:lnTo>
                <a:lnTo>
                  <a:pt x="6326347" y="3209184"/>
                </a:lnTo>
                <a:lnTo>
                  <a:pt x="0" y="3209184"/>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4" id="4"/>
          <p:cNvSpPr/>
          <p:nvPr/>
        </p:nvSpPr>
        <p:spPr>
          <a:xfrm flipH="false" flipV="false" rot="0">
            <a:off x="1162266" y="8464517"/>
            <a:ext cx="5259149" cy="2667823"/>
          </a:xfrm>
          <a:custGeom>
            <a:avLst/>
            <a:gdLst/>
            <a:ahLst/>
            <a:cxnLst/>
            <a:rect r="r" b="b" t="t" l="l"/>
            <a:pathLst>
              <a:path h="2667823" w="5259149">
                <a:moveTo>
                  <a:pt x="0" y="0"/>
                </a:moveTo>
                <a:lnTo>
                  <a:pt x="5259149" y="0"/>
                </a:lnTo>
                <a:lnTo>
                  <a:pt x="5259149" y="2667823"/>
                </a:lnTo>
                <a:lnTo>
                  <a:pt x="0" y="2667823"/>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5" id="5"/>
          <p:cNvGrpSpPr/>
          <p:nvPr/>
        </p:nvGrpSpPr>
        <p:grpSpPr>
          <a:xfrm rot="0">
            <a:off x="822958" y="1028700"/>
            <a:ext cx="16230600" cy="9258300"/>
            <a:chOff x="0" y="0"/>
            <a:chExt cx="5274950" cy="3008950"/>
          </a:xfrm>
        </p:grpSpPr>
        <p:sp>
          <p:nvSpPr>
            <p:cNvPr name="Freeform 6" id="6"/>
            <p:cNvSpPr/>
            <p:nvPr/>
          </p:nvSpPr>
          <p:spPr>
            <a:xfrm flipH="false" flipV="false" rot="0">
              <a:off x="0" y="0"/>
              <a:ext cx="5274950" cy="3008950"/>
            </a:xfrm>
            <a:custGeom>
              <a:avLst/>
              <a:gdLst/>
              <a:ahLst/>
              <a:cxnLst/>
              <a:rect r="r" b="b" t="t" l="l"/>
              <a:pathLst>
                <a:path h="3008950" w="5274950">
                  <a:moveTo>
                    <a:pt x="23850" y="0"/>
                  </a:moveTo>
                  <a:lnTo>
                    <a:pt x="5251100" y="0"/>
                  </a:lnTo>
                  <a:cubicBezTo>
                    <a:pt x="5264272" y="0"/>
                    <a:pt x="5274950" y="10678"/>
                    <a:pt x="5274950" y="23850"/>
                  </a:cubicBezTo>
                  <a:lnTo>
                    <a:pt x="5274950" y="2985100"/>
                  </a:lnTo>
                  <a:cubicBezTo>
                    <a:pt x="5274950" y="2991426"/>
                    <a:pt x="5272437" y="2997492"/>
                    <a:pt x="5267964" y="3001965"/>
                  </a:cubicBezTo>
                  <a:cubicBezTo>
                    <a:pt x="5263492" y="3006437"/>
                    <a:pt x="5257425" y="3008950"/>
                    <a:pt x="5251100" y="3008950"/>
                  </a:cubicBezTo>
                  <a:lnTo>
                    <a:pt x="23850" y="3008950"/>
                  </a:lnTo>
                  <a:cubicBezTo>
                    <a:pt x="17524" y="3008950"/>
                    <a:pt x="11458" y="3006437"/>
                    <a:pt x="6985" y="3001965"/>
                  </a:cubicBezTo>
                  <a:cubicBezTo>
                    <a:pt x="2513" y="2997492"/>
                    <a:pt x="0" y="2991426"/>
                    <a:pt x="0" y="2985100"/>
                  </a:cubicBezTo>
                  <a:lnTo>
                    <a:pt x="0" y="23850"/>
                  </a:lnTo>
                  <a:cubicBezTo>
                    <a:pt x="0" y="17524"/>
                    <a:pt x="2513" y="11458"/>
                    <a:pt x="6985" y="6985"/>
                  </a:cubicBezTo>
                  <a:cubicBezTo>
                    <a:pt x="11458" y="2513"/>
                    <a:pt x="17524" y="0"/>
                    <a:pt x="23850" y="0"/>
                  </a:cubicBezTo>
                  <a:close/>
                </a:path>
              </a:pathLst>
            </a:custGeom>
            <a:solidFill>
              <a:srgbClr val="EBE5DD"/>
            </a:solidFill>
            <a:ln w="38100" cap="rnd">
              <a:solidFill>
                <a:srgbClr val="000000"/>
              </a:solidFill>
              <a:prstDash val="solid"/>
              <a:round/>
            </a:ln>
          </p:spPr>
        </p:sp>
        <p:sp>
          <p:nvSpPr>
            <p:cNvPr name="TextBox 7" id="7"/>
            <p:cNvSpPr txBox="true"/>
            <p:nvPr/>
          </p:nvSpPr>
          <p:spPr>
            <a:xfrm>
              <a:off x="0" y="-47625"/>
              <a:ext cx="5274950" cy="3056575"/>
            </a:xfrm>
            <a:prstGeom prst="rect">
              <a:avLst/>
            </a:prstGeom>
          </p:spPr>
          <p:txBody>
            <a:bodyPr anchor="ctr" rtlCol="false" tIns="50800" lIns="50800" bIns="50800" rIns="50800"/>
            <a:lstStyle/>
            <a:p>
              <a:pPr algn="ctr">
                <a:lnSpc>
                  <a:spcPts val="2659"/>
                </a:lnSpc>
              </a:pPr>
            </a:p>
          </p:txBody>
        </p:sp>
      </p:grpSp>
      <p:sp>
        <p:nvSpPr>
          <p:cNvPr name="TextBox 8" id="8"/>
          <p:cNvSpPr txBox="true"/>
          <p:nvPr/>
        </p:nvSpPr>
        <p:spPr>
          <a:xfrm rot="0">
            <a:off x="2191209" y="2604382"/>
            <a:ext cx="13905582" cy="5440511"/>
          </a:xfrm>
          <a:prstGeom prst="rect">
            <a:avLst/>
          </a:prstGeom>
        </p:spPr>
        <p:txBody>
          <a:bodyPr anchor="t" rtlCol="false" tIns="0" lIns="0" bIns="0" rIns="0">
            <a:spAutoFit/>
          </a:bodyPr>
          <a:lstStyle/>
          <a:p>
            <a:pPr algn="just">
              <a:lnSpc>
                <a:spcPts val="4766"/>
              </a:lnSpc>
            </a:pPr>
            <a:r>
              <a:rPr lang="en-US" sz="4454">
                <a:solidFill>
                  <a:srgbClr val="000000"/>
                </a:solidFill>
                <a:latin typeface="Raleway"/>
                <a:ea typeface="Raleway"/>
                <a:cs typeface="Raleway"/>
                <a:sym typeface="Raleway"/>
              </a:rPr>
              <a:t>Understanding hazards and the elements at risk helps communities prepare, respond, and reduce potential impacts. By identifying different types of hazards and recognizing how human, physical, natural, economic, and social elements can be affected, we can strengthen safety measures and promote resilience. Effective awareness and planning are key to minimizing damage and protecting lives.</a:t>
            </a:r>
          </a:p>
        </p:txBody>
      </p:sp>
      <p:sp>
        <p:nvSpPr>
          <p:cNvPr name="TextBox 9" id="9"/>
          <p:cNvSpPr txBox="true"/>
          <p:nvPr/>
        </p:nvSpPr>
        <p:spPr>
          <a:xfrm rot="0">
            <a:off x="4149585" y="538811"/>
            <a:ext cx="9988830" cy="1285875"/>
          </a:xfrm>
          <a:prstGeom prst="rect">
            <a:avLst/>
          </a:prstGeom>
        </p:spPr>
        <p:txBody>
          <a:bodyPr anchor="t" rtlCol="false" tIns="0" lIns="0" bIns="0" rIns="0">
            <a:spAutoFit/>
          </a:bodyPr>
          <a:lstStyle/>
          <a:p>
            <a:pPr algn="ctr">
              <a:lnSpc>
                <a:spcPts val="10500"/>
              </a:lnSpc>
            </a:pPr>
            <a:r>
              <a:rPr lang="en-US" sz="7500">
                <a:solidFill>
                  <a:srgbClr val="000000"/>
                </a:solidFill>
                <a:latin typeface="Fredoka"/>
                <a:ea typeface="Fredoka"/>
                <a:cs typeface="Fredoka"/>
                <a:sym typeface="Fredoka"/>
              </a:rPr>
              <a:t>CONCLUSION</a:t>
            </a:r>
          </a:p>
        </p:txBody>
      </p:sp>
    </p:spTree>
  </p:cSld>
  <p:clrMapOvr>
    <a:masterClrMapping/>
  </p:clrMapOvr>
</p:sld>
</file>

<file path=ppt/slides/slide10.xml><?xml version="1.0" encoding="utf-8"?>
<p:sld xmlns:p="http://schemas.openxmlformats.org/presentationml/2006/main" xmlns:a="http://schemas.openxmlformats.org/drawingml/2006/main" xmlns:r="http://schemas.openxmlformats.org/officeDocument/2006/relationships">
  <p:cSld>
    <p:bg>
      <p:bgPr>
        <a:solidFill>
          <a:srgbClr val="ACC6B8"/>
        </a:solidFill>
      </p:bgPr>
    </p:bg>
    <p:spTree>
      <p:nvGrpSpPr>
        <p:cNvPr id="1" name=""/>
        <p:cNvGrpSpPr/>
        <p:nvPr/>
      </p:nvGrpSpPr>
      <p:grpSpPr>
        <a:xfrm>
          <a:off x="0" y="0"/>
          <a:ext cx="0" cy="0"/>
          <a:chOff x="0" y="0"/>
          <a:chExt cx="0" cy="0"/>
        </a:xfrm>
      </p:grpSpPr>
      <p:sp>
        <p:nvSpPr>
          <p:cNvPr name="Freeform 2" id="2"/>
          <p:cNvSpPr/>
          <p:nvPr/>
        </p:nvSpPr>
        <p:spPr>
          <a:xfrm flipH="false" flipV="false" rot="1582151">
            <a:off x="14295703" y="480512"/>
            <a:ext cx="3846079" cy="1559410"/>
          </a:xfrm>
          <a:custGeom>
            <a:avLst/>
            <a:gdLst/>
            <a:ahLst/>
            <a:cxnLst/>
            <a:rect r="r" b="b" t="t" l="l"/>
            <a:pathLst>
              <a:path h="1559410" w="3846079">
                <a:moveTo>
                  <a:pt x="0" y="0"/>
                </a:moveTo>
                <a:lnTo>
                  <a:pt x="3846079" y="0"/>
                </a:lnTo>
                <a:lnTo>
                  <a:pt x="3846079" y="1559410"/>
                </a:lnTo>
                <a:lnTo>
                  <a:pt x="0" y="155941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1028700" y="796372"/>
            <a:ext cx="1617820" cy="1570756"/>
          </a:xfrm>
          <a:custGeom>
            <a:avLst/>
            <a:gdLst/>
            <a:ahLst/>
            <a:cxnLst/>
            <a:rect r="r" b="b" t="t" l="l"/>
            <a:pathLst>
              <a:path h="1570756" w="1617820">
                <a:moveTo>
                  <a:pt x="0" y="0"/>
                </a:moveTo>
                <a:lnTo>
                  <a:pt x="1617820" y="0"/>
                </a:lnTo>
                <a:lnTo>
                  <a:pt x="1617820" y="1570756"/>
                </a:lnTo>
                <a:lnTo>
                  <a:pt x="0" y="1570756"/>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4" id="4"/>
          <p:cNvSpPr/>
          <p:nvPr/>
        </p:nvSpPr>
        <p:spPr>
          <a:xfrm flipH="false" flipV="false" rot="0">
            <a:off x="2067371" y="2812919"/>
            <a:ext cx="692801" cy="672647"/>
          </a:xfrm>
          <a:custGeom>
            <a:avLst/>
            <a:gdLst/>
            <a:ahLst/>
            <a:cxnLst/>
            <a:rect r="r" b="b" t="t" l="l"/>
            <a:pathLst>
              <a:path h="672647" w="692801">
                <a:moveTo>
                  <a:pt x="0" y="0"/>
                </a:moveTo>
                <a:lnTo>
                  <a:pt x="692802" y="0"/>
                </a:lnTo>
                <a:lnTo>
                  <a:pt x="692802" y="672647"/>
                </a:lnTo>
                <a:lnTo>
                  <a:pt x="0" y="672647"/>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5" id="5"/>
          <p:cNvSpPr/>
          <p:nvPr/>
        </p:nvSpPr>
        <p:spPr>
          <a:xfrm flipH="false" flipV="false" rot="0">
            <a:off x="3185174" y="1694481"/>
            <a:ext cx="692801" cy="672647"/>
          </a:xfrm>
          <a:custGeom>
            <a:avLst/>
            <a:gdLst/>
            <a:ahLst/>
            <a:cxnLst/>
            <a:rect r="r" b="b" t="t" l="l"/>
            <a:pathLst>
              <a:path h="672647" w="692801">
                <a:moveTo>
                  <a:pt x="0" y="0"/>
                </a:moveTo>
                <a:lnTo>
                  <a:pt x="692801" y="0"/>
                </a:lnTo>
                <a:lnTo>
                  <a:pt x="692801" y="672647"/>
                </a:lnTo>
                <a:lnTo>
                  <a:pt x="0" y="672647"/>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6" id="6"/>
          <p:cNvSpPr/>
          <p:nvPr/>
        </p:nvSpPr>
        <p:spPr>
          <a:xfrm flipH="false" flipV="false" rot="0">
            <a:off x="101614" y="3917803"/>
            <a:ext cx="1262422" cy="1225697"/>
          </a:xfrm>
          <a:custGeom>
            <a:avLst/>
            <a:gdLst/>
            <a:ahLst/>
            <a:cxnLst/>
            <a:rect r="r" b="b" t="t" l="l"/>
            <a:pathLst>
              <a:path h="1225697" w="1262422">
                <a:moveTo>
                  <a:pt x="0" y="0"/>
                </a:moveTo>
                <a:lnTo>
                  <a:pt x="1262422" y="0"/>
                </a:lnTo>
                <a:lnTo>
                  <a:pt x="1262422" y="1225697"/>
                </a:lnTo>
                <a:lnTo>
                  <a:pt x="0" y="1225697"/>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7" id="7"/>
          <p:cNvSpPr/>
          <p:nvPr/>
        </p:nvSpPr>
        <p:spPr>
          <a:xfrm flipH="false" flipV="false" rot="0">
            <a:off x="13456684" y="1028700"/>
            <a:ext cx="692801" cy="672647"/>
          </a:xfrm>
          <a:custGeom>
            <a:avLst/>
            <a:gdLst/>
            <a:ahLst/>
            <a:cxnLst/>
            <a:rect r="r" b="b" t="t" l="l"/>
            <a:pathLst>
              <a:path h="672647" w="692801">
                <a:moveTo>
                  <a:pt x="0" y="0"/>
                </a:moveTo>
                <a:lnTo>
                  <a:pt x="692802" y="0"/>
                </a:lnTo>
                <a:lnTo>
                  <a:pt x="692802" y="672647"/>
                </a:lnTo>
                <a:lnTo>
                  <a:pt x="0" y="672647"/>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8" id="8"/>
          <p:cNvSpPr/>
          <p:nvPr/>
        </p:nvSpPr>
        <p:spPr>
          <a:xfrm flipH="false" flipV="false" rot="0">
            <a:off x="17011733" y="3760782"/>
            <a:ext cx="692801" cy="672647"/>
          </a:xfrm>
          <a:custGeom>
            <a:avLst/>
            <a:gdLst/>
            <a:ahLst/>
            <a:cxnLst/>
            <a:rect r="r" b="b" t="t" l="l"/>
            <a:pathLst>
              <a:path h="672647" w="692801">
                <a:moveTo>
                  <a:pt x="0" y="0"/>
                </a:moveTo>
                <a:lnTo>
                  <a:pt x="692801" y="0"/>
                </a:lnTo>
                <a:lnTo>
                  <a:pt x="692801" y="672648"/>
                </a:lnTo>
                <a:lnTo>
                  <a:pt x="0" y="672648"/>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9" id="9"/>
          <p:cNvSpPr/>
          <p:nvPr/>
        </p:nvSpPr>
        <p:spPr>
          <a:xfrm flipH="false" flipV="false" rot="0">
            <a:off x="-343267" y="6172200"/>
            <a:ext cx="3528441" cy="4114800"/>
          </a:xfrm>
          <a:custGeom>
            <a:avLst/>
            <a:gdLst/>
            <a:ahLst/>
            <a:cxnLst/>
            <a:rect r="r" b="b" t="t" l="l"/>
            <a:pathLst>
              <a:path h="4114800" w="3528441">
                <a:moveTo>
                  <a:pt x="0" y="0"/>
                </a:moveTo>
                <a:lnTo>
                  <a:pt x="3528441" y="0"/>
                </a:lnTo>
                <a:lnTo>
                  <a:pt x="3528441" y="4114800"/>
                </a:lnTo>
                <a:lnTo>
                  <a:pt x="0" y="4114800"/>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10" id="10"/>
          <p:cNvSpPr/>
          <p:nvPr/>
        </p:nvSpPr>
        <p:spPr>
          <a:xfrm flipH="false" flipV="false" rot="0">
            <a:off x="2067371" y="8229600"/>
            <a:ext cx="1764221" cy="2057400"/>
          </a:xfrm>
          <a:custGeom>
            <a:avLst/>
            <a:gdLst/>
            <a:ahLst/>
            <a:cxnLst/>
            <a:rect r="r" b="b" t="t" l="l"/>
            <a:pathLst>
              <a:path h="2057400" w="1764221">
                <a:moveTo>
                  <a:pt x="0" y="0"/>
                </a:moveTo>
                <a:lnTo>
                  <a:pt x="1764221" y="0"/>
                </a:lnTo>
                <a:lnTo>
                  <a:pt x="1764221" y="2057400"/>
                </a:lnTo>
                <a:lnTo>
                  <a:pt x="0" y="2057400"/>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11" id="11"/>
          <p:cNvSpPr/>
          <p:nvPr/>
        </p:nvSpPr>
        <p:spPr>
          <a:xfrm flipH="false" flipV="false" rot="0">
            <a:off x="13456684" y="5143500"/>
            <a:ext cx="4986135" cy="5184072"/>
          </a:xfrm>
          <a:custGeom>
            <a:avLst/>
            <a:gdLst/>
            <a:ahLst/>
            <a:cxnLst/>
            <a:rect r="r" b="b" t="t" l="l"/>
            <a:pathLst>
              <a:path h="5184072" w="4986135">
                <a:moveTo>
                  <a:pt x="0" y="0"/>
                </a:moveTo>
                <a:lnTo>
                  <a:pt x="4986135" y="0"/>
                </a:lnTo>
                <a:lnTo>
                  <a:pt x="4986135" y="5184072"/>
                </a:lnTo>
                <a:lnTo>
                  <a:pt x="0" y="5184072"/>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TextBox 12" id="12"/>
          <p:cNvSpPr txBox="true"/>
          <p:nvPr/>
        </p:nvSpPr>
        <p:spPr>
          <a:xfrm rot="0">
            <a:off x="6127869" y="4290555"/>
            <a:ext cx="9988830" cy="1285875"/>
          </a:xfrm>
          <a:prstGeom prst="rect">
            <a:avLst/>
          </a:prstGeom>
        </p:spPr>
        <p:txBody>
          <a:bodyPr anchor="t" rtlCol="false" tIns="0" lIns="0" bIns="0" rIns="0">
            <a:spAutoFit/>
          </a:bodyPr>
          <a:lstStyle/>
          <a:p>
            <a:pPr algn="just">
              <a:lnSpc>
                <a:spcPts val="10500"/>
              </a:lnSpc>
            </a:pPr>
            <a:r>
              <a:rPr lang="en-US" sz="7500">
                <a:solidFill>
                  <a:srgbClr val="000000"/>
                </a:solidFill>
                <a:latin typeface="Fredoka"/>
                <a:ea typeface="Fredoka"/>
                <a:cs typeface="Fredoka"/>
                <a:sym typeface="Fredoka"/>
              </a:rPr>
              <a:t>THANK YOU</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DAG5tm3blPk</dc:identifier>
  <dcterms:modified xsi:type="dcterms:W3CDTF">2011-08-01T06:04:30Z</dcterms:modified>
  <cp:revision>1</cp:revision>
  <dc:title>Hydrological Hazards Educational Student Presentation in Green Simple Lined Style</dc:title>
</cp:coreProperties>
</file>