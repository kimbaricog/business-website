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Saira Heavy" charset="1" panose="00000A00000000000000"/>
      <p:regular r:id="rId17"/>
    </p:embeddedFont>
    <p:embeddedFont>
      <p:font typeface="Tahoma Bold" charset="1" panose="020B0804030504040204"/>
      <p:regular r:id="rId18"/>
    </p:embeddedFont>
    <p:embeddedFont>
      <p:font typeface="Tahoma" charset="1" panose="020B0604030504040204"/>
      <p:regular r:id="rId19"/>
    </p:embeddedFont>
    <p:embeddedFont>
      <p:font typeface="Ropa Sa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https://www.bing.com/ck/a?!&amp;&amp;p=6d3d8632b4ab5c43b7a3bdc1c65d34586da5db08c33f2aa62ba3eac73e6a3314JmltdHM9MTc2NDI4ODAwMA&amp;ptn=3&amp;ver=2&amp;hsh=4&amp;fclid=2d4ec691-21f1-64ff-1ef9-d0f7207765ca&amp;psq=momentum+formula&amp;u=a1aHR0cHM6Ly90ZXN0Ym9vay5jb20vcGh5c2ljcy1mb3JtdWxhcy9tb21lbnR1bS1mb3JtdWxh&amp;ntb=1" TargetMode="External" Type="http://schemas.openxmlformats.org/officeDocument/2006/relationships/hyperlink"/><Relationship Id="rId6" Target="https://www.bing.com/ck/a?!&amp;&amp;p=6d3d8632b4ab5c43b7a3bdc1c65d34586da5db08c33f2aa62ba3eac73e6a3314JmltdHM9MTc2NDI4ODAwMA&amp;ptn=3&amp;ver=2&amp;hsh=4&amp;fclid=2d4ec691-21f1-64ff-1ef9-d0f7207765ca&amp;psq=momentum+formula&amp;u=a1aHR0cHM6Ly90ZXN0Ym9vay5jb20vcGh5c2ljcy1mb3JtdWxhcy9tb21lbnR1bS1mb3JtdWxh&amp;ntb=1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5.png" Type="http://schemas.openxmlformats.org/officeDocument/2006/relationships/image"/><Relationship Id="rId17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87278" y="505264"/>
            <a:ext cx="1557428" cy="2504636"/>
          </a:xfrm>
          <a:custGeom>
            <a:avLst/>
            <a:gdLst/>
            <a:ahLst/>
            <a:cxnLst/>
            <a:rect r="r" b="b" t="t" l="l"/>
            <a:pathLst>
              <a:path h="2504636" w="1557428">
                <a:moveTo>
                  <a:pt x="0" y="0"/>
                </a:moveTo>
                <a:lnTo>
                  <a:pt x="1557428" y="0"/>
                </a:lnTo>
                <a:lnTo>
                  <a:pt x="1557428" y="2504636"/>
                </a:lnTo>
                <a:lnTo>
                  <a:pt x="0" y="2504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47252">
            <a:off x="-595611" y="921152"/>
            <a:ext cx="3248622" cy="2805628"/>
          </a:xfrm>
          <a:custGeom>
            <a:avLst/>
            <a:gdLst/>
            <a:ahLst/>
            <a:cxnLst/>
            <a:rect r="r" b="b" t="t" l="l"/>
            <a:pathLst>
              <a:path h="2805628" w="3248622">
                <a:moveTo>
                  <a:pt x="0" y="0"/>
                </a:moveTo>
                <a:lnTo>
                  <a:pt x="3248622" y="0"/>
                </a:lnTo>
                <a:lnTo>
                  <a:pt x="3248622" y="2805628"/>
                </a:lnTo>
                <a:lnTo>
                  <a:pt x="0" y="280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20386" y="7207344"/>
            <a:ext cx="6712342" cy="3636869"/>
          </a:xfrm>
          <a:custGeom>
            <a:avLst/>
            <a:gdLst/>
            <a:ahLst/>
            <a:cxnLst/>
            <a:rect r="r" b="b" t="t" l="l"/>
            <a:pathLst>
              <a:path h="3636869" w="6712342">
                <a:moveTo>
                  <a:pt x="0" y="0"/>
                </a:moveTo>
                <a:lnTo>
                  <a:pt x="6712341" y="0"/>
                </a:lnTo>
                <a:lnTo>
                  <a:pt x="6712341" y="3636868"/>
                </a:lnTo>
                <a:lnTo>
                  <a:pt x="0" y="363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59902" y="6855792"/>
            <a:ext cx="4628098" cy="4114800"/>
          </a:xfrm>
          <a:custGeom>
            <a:avLst/>
            <a:gdLst/>
            <a:ahLst/>
            <a:cxnLst/>
            <a:rect r="r" b="b" t="t" l="l"/>
            <a:pathLst>
              <a:path h="4114800" w="4628098">
                <a:moveTo>
                  <a:pt x="0" y="0"/>
                </a:moveTo>
                <a:lnTo>
                  <a:pt x="4628098" y="0"/>
                </a:lnTo>
                <a:lnTo>
                  <a:pt x="46280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74745" y="3234888"/>
            <a:ext cx="3169111" cy="2506479"/>
          </a:xfrm>
          <a:custGeom>
            <a:avLst/>
            <a:gdLst/>
            <a:ahLst/>
            <a:cxnLst/>
            <a:rect r="r" b="b" t="t" l="l"/>
            <a:pathLst>
              <a:path h="2506479" w="3169111">
                <a:moveTo>
                  <a:pt x="3169110" y="0"/>
                </a:moveTo>
                <a:lnTo>
                  <a:pt x="0" y="0"/>
                </a:lnTo>
                <a:lnTo>
                  <a:pt x="0" y="2506479"/>
                </a:lnTo>
                <a:lnTo>
                  <a:pt x="3169110" y="2506479"/>
                </a:lnTo>
                <a:lnTo>
                  <a:pt x="316911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49680">
            <a:off x="263009" y="5775709"/>
            <a:ext cx="2222299" cy="866370"/>
          </a:xfrm>
          <a:custGeom>
            <a:avLst/>
            <a:gdLst/>
            <a:ahLst/>
            <a:cxnLst/>
            <a:rect r="r" b="b" t="t" l="l"/>
            <a:pathLst>
              <a:path h="866370" w="2222299">
                <a:moveTo>
                  <a:pt x="0" y="0"/>
                </a:moveTo>
                <a:lnTo>
                  <a:pt x="2222299" y="0"/>
                </a:lnTo>
                <a:lnTo>
                  <a:pt x="2222299" y="866370"/>
                </a:lnTo>
                <a:lnTo>
                  <a:pt x="0" y="8663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19921" y="8335000"/>
            <a:ext cx="2560421" cy="2509213"/>
          </a:xfrm>
          <a:custGeom>
            <a:avLst/>
            <a:gdLst/>
            <a:ahLst/>
            <a:cxnLst/>
            <a:rect r="r" b="b" t="t" l="l"/>
            <a:pathLst>
              <a:path h="2509213" w="2560421">
                <a:moveTo>
                  <a:pt x="0" y="0"/>
                </a:moveTo>
                <a:lnTo>
                  <a:pt x="2560421" y="0"/>
                </a:lnTo>
                <a:lnTo>
                  <a:pt x="2560421" y="2509212"/>
                </a:lnTo>
                <a:lnTo>
                  <a:pt x="0" y="25092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35784" y="307998"/>
            <a:ext cx="2215378" cy="918375"/>
          </a:xfrm>
          <a:custGeom>
            <a:avLst/>
            <a:gdLst/>
            <a:ahLst/>
            <a:cxnLst/>
            <a:rect r="r" b="b" t="t" l="l"/>
            <a:pathLst>
              <a:path h="918375" w="2215378">
                <a:moveTo>
                  <a:pt x="0" y="0"/>
                </a:moveTo>
                <a:lnTo>
                  <a:pt x="2215378" y="0"/>
                </a:lnTo>
                <a:lnTo>
                  <a:pt x="2215378" y="918375"/>
                </a:lnTo>
                <a:lnTo>
                  <a:pt x="0" y="9183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30100" y="-589201"/>
            <a:ext cx="2712773" cy="2712773"/>
          </a:xfrm>
          <a:custGeom>
            <a:avLst/>
            <a:gdLst/>
            <a:ahLst/>
            <a:cxnLst/>
            <a:rect r="r" b="b" t="t" l="l"/>
            <a:pathLst>
              <a:path h="2712773" w="2712773">
                <a:moveTo>
                  <a:pt x="0" y="0"/>
                </a:moveTo>
                <a:lnTo>
                  <a:pt x="2712773" y="0"/>
                </a:lnTo>
                <a:lnTo>
                  <a:pt x="2712773" y="2712773"/>
                </a:lnTo>
                <a:lnTo>
                  <a:pt x="0" y="27127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47087" y="2669552"/>
            <a:ext cx="8593827" cy="540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59"/>
              </a:lnSpc>
            </a:pPr>
            <a:r>
              <a:rPr lang="en-US" b="true" sz="11246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MOMENTUM AND IMPULSE</a:t>
            </a:r>
          </a:p>
          <a:p>
            <a:pPr algn="ctr">
              <a:lnSpc>
                <a:spcPts val="104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62048" y="7383201"/>
            <a:ext cx="4412654" cy="4114800"/>
          </a:xfrm>
          <a:custGeom>
            <a:avLst/>
            <a:gdLst/>
            <a:ahLst/>
            <a:cxnLst/>
            <a:rect r="r" b="b" t="t" l="l"/>
            <a:pathLst>
              <a:path h="4114800" w="4412654">
                <a:moveTo>
                  <a:pt x="0" y="0"/>
                </a:moveTo>
                <a:lnTo>
                  <a:pt x="4412654" y="0"/>
                </a:lnTo>
                <a:lnTo>
                  <a:pt x="4412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51467" y="7042923"/>
            <a:ext cx="1918061" cy="3244077"/>
          </a:xfrm>
          <a:custGeom>
            <a:avLst/>
            <a:gdLst/>
            <a:ahLst/>
            <a:cxnLst/>
            <a:rect r="r" b="b" t="t" l="l"/>
            <a:pathLst>
              <a:path h="3244077" w="1918061">
                <a:moveTo>
                  <a:pt x="0" y="0"/>
                </a:moveTo>
                <a:lnTo>
                  <a:pt x="1918061" y="0"/>
                </a:lnTo>
                <a:lnTo>
                  <a:pt x="1918061" y="3244077"/>
                </a:lnTo>
                <a:lnTo>
                  <a:pt x="0" y="3244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560" y="401595"/>
            <a:ext cx="7382881" cy="140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1"/>
              </a:lnSpc>
            </a:pPr>
            <a:r>
              <a:rPr lang="en-US" b="true" sz="5764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WHAT IS MOTION &amp;</a:t>
            </a:r>
          </a:p>
          <a:p>
            <a:pPr algn="ctr">
              <a:lnSpc>
                <a:spcPts val="5361"/>
              </a:lnSpc>
            </a:pPr>
            <a:r>
              <a:rPr lang="en-US" b="true" sz="5764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MOMENTUM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1947" y="2546494"/>
            <a:ext cx="7425533" cy="5127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5"/>
              </a:lnSpc>
            </a:pPr>
            <a:r>
              <a:rPr lang="en-US" sz="3261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Motion</a:t>
            </a:r>
          </a:p>
          <a:p>
            <a:pPr algn="l">
              <a:lnSpc>
                <a:spcPts val="4565"/>
              </a:lnSpc>
            </a:pPr>
            <a:r>
              <a:rPr lang="en-US" sz="3261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Motion is the change in position of an object over time. If something moves from one place to another, it is in motion.</a:t>
            </a:r>
          </a:p>
          <a:p>
            <a:pPr algn="l">
              <a:lnSpc>
                <a:spcPts val="4565"/>
              </a:lnSpc>
            </a:pPr>
            <a:r>
              <a:rPr lang="en-US" sz="3261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Example:</a:t>
            </a:r>
          </a:p>
          <a:p>
            <a:pPr algn="l">
              <a:lnSpc>
                <a:spcPts val="4565"/>
              </a:lnSpc>
            </a:pPr>
            <a:r>
              <a:rPr lang="en-US" sz="3261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 A car driving on a road, a ball falling, or a person walking - all are in motion.</a:t>
            </a:r>
          </a:p>
          <a:p>
            <a:pPr algn="l">
              <a:lnSpc>
                <a:spcPts val="456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983145" y="2546494"/>
            <a:ext cx="9086383" cy="741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4"/>
              </a:lnSpc>
            </a:pPr>
            <a:r>
              <a:rPr lang="en-US" sz="3260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Momentum</a:t>
            </a:r>
          </a:p>
          <a:p>
            <a:pPr algn="l">
              <a:lnSpc>
                <a:spcPts val="4564"/>
              </a:lnSpc>
            </a:pPr>
            <a:r>
              <a:rPr lang="en-US" sz="326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Momentum is the quantity of motion an object has. It depends on how heavy the object is and how fast it is moving.</a:t>
            </a:r>
          </a:p>
          <a:p>
            <a:pPr algn="l">
              <a:lnSpc>
                <a:spcPts val="4564"/>
              </a:lnSpc>
            </a:pPr>
          </a:p>
          <a:p>
            <a:pPr algn="l">
              <a:lnSpc>
                <a:spcPts val="4564"/>
              </a:lnSpc>
            </a:pPr>
            <a:r>
              <a:rPr lang="en-US" sz="3260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Formula:</a:t>
            </a:r>
          </a:p>
          <a:p>
            <a:pPr algn="l">
              <a:lnSpc>
                <a:spcPts val="4564"/>
              </a:lnSpc>
            </a:pPr>
            <a:r>
              <a:rPr lang="en-US" sz="3260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p = mv</a:t>
            </a:r>
          </a:p>
          <a:p>
            <a:pPr algn="l">
              <a:lnSpc>
                <a:spcPts val="4564"/>
              </a:lnSpc>
            </a:pPr>
            <a:r>
              <a:rPr lang="en-US" sz="326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where:</a:t>
            </a:r>
          </a:p>
          <a:p>
            <a:pPr algn="l" marL="703835" indent="-351917" lvl="1">
              <a:lnSpc>
                <a:spcPts val="4564"/>
              </a:lnSpc>
              <a:buFont typeface="Arial"/>
              <a:buChar char="•"/>
            </a:pPr>
            <a:r>
              <a:rPr lang="en-US" b="true" sz="3260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p</a:t>
            </a:r>
            <a:r>
              <a:rPr lang="en-US" sz="326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 represents momentum,</a:t>
            </a:r>
          </a:p>
          <a:p>
            <a:pPr algn="l" marL="703835" indent="-351917" lvl="1">
              <a:lnSpc>
                <a:spcPts val="4564"/>
              </a:lnSpc>
              <a:buFont typeface="Arial"/>
              <a:buChar char="•"/>
            </a:pPr>
            <a:r>
              <a:rPr lang="en-US" b="true" sz="3260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m</a:t>
            </a:r>
            <a:r>
              <a:rPr lang="en-US" sz="326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 represents mass,</a:t>
            </a:r>
          </a:p>
          <a:p>
            <a:pPr algn="l" marL="703835" indent="-351917" lvl="1">
              <a:lnSpc>
                <a:spcPts val="4564"/>
              </a:lnSpc>
              <a:buFont typeface="Arial"/>
              <a:buChar char="•"/>
            </a:pPr>
            <a:r>
              <a:rPr lang="en-US" b="true" sz="3260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  <a:hlinkClick r:id="rId5" tooltip="https://www.bing.com/ck/a?!&amp;&amp;p=6d3d8632b4ab5c43b7a3bdc1c65d34586da5db08c33f2aa62ba3eac73e6a3314JmltdHM9MTc2NDI4ODAwMA&amp;ptn=3&amp;ver=2&amp;hsh=4&amp;fclid=2d4ec691-21f1-64ff-1ef9-d0f7207765ca&amp;psq=momentum+formula&amp;u=a1aHR0cHM6Ly90ZXN0Ym9vay5jb20vcGh5c2ljcy1mb3JtdWxhcy9tb21lbnR1bS1mb3JtdWxh&amp;ntb=1"/>
              </a:rPr>
              <a:t>v</a:t>
            </a:r>
            <a:r>
              <a:rPr lang="en-US" sz="326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  <a:hlinkClick r:id="rId6" tooltip="https://www.bing.com/ck/a?!&amp;&amp;p=6d3d8632b4ab5c43b7a3bdc1c65d34586da5db08c33f2aa62ba3eac73e6a3314JmltdHM9MTc2NDI4ODAwMA&amp;ptn=3&amp;ver=2&amp;hsh=4&amp;fclid=2d4ec691-21f1-64ff-1ef9-d0f7207765ca&amp;psq=momentum+formula&amp;u=a1aHR0cHM6Ly90ZXN0Ym9vay5jb20vcGh5c2ljcy1mb3JtdWxhcy9tb21lbnR1bS1mb3JtdWxh&amp;ntb=1"/>
              </a:rPr>
              <a:t> represents velocity.</a:t>
            </a:r>
          </a:p>
          <a:p>
            <a:pPr algn="l">
              <a:lnSpc>
                <a:spcPts val="4564"/>
              </a:lnSpc>
            </a:pPr>
          </a:p>
          <a:p>
            <a:pPr algn="l">
              <a:lnSpc>
                <a:spcPts val="45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64873" y="0"/>
            <a:ext cx="1188854" cy="1911900"/>
          </a:xfrm>
          <a:custGeom>
            <a:avLst/>
            <a:gdLst/>
            <a:ahLst/>
            <a:cxnLst/>
            <a:rect r="r" b="b" t="t" l="l"/>
            <a:pathLst>
              <a:path h="1911900" w="1188854">
                <a:moveTo>
                  <a:pt x="0" y="0"/>
                </a:moveTo>
                <a:lnTo>
                  <a:pt x="1188854" y="0"/>
                </a:lnTo>
                <a:lnTo>
                  <a:pt x="1188854" y="1911900"/>
                </a:lnTo>
                <a:lnTo>
                  <a:pt x="0" y="1911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91742" y="8936916"/>
            <a:ext cx="1897208" cy="1859264"/>
          </a:xfrm>
          <a:custGeom>
            <a:avLst/>
            <a:gdLst/>
            <a:ahLst/>
            <a:cxnLst/>
            <a:rect r="r" b="b" t="t" l="l"/>
            <a:pathLst>
              <a:path h="1859264" w="1897208">
                <a:moveTo>
                  <a:pt x="0" y="0"/>
                </a:moveTo>
                <a:lnTo>
                  <a:pt x="1897208" y="0"/>
                </a:lnTo>
                <a:lnTo>
                  <a:pt x="1897208" y="1859264"/>
                </a:lnTo>
                <a:lnTo>
                  <a:pt x="0" y="1859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0201" y="332008"/>
            <a:ext cx="1680617" cy="696692"/>
          </a:xfrm>
          <a:custGeom>
            <a:avLst/>
            <a:gdLst/>
            <a:ahLst/>
            <a:cxnLst/>
            <a:rect r="r" b="b" t="t" l="l"/>
            <a:pathLst>
              <a:path h="696692" w="1680617">
                <a:moveTo>
                  <a:pt x="0" y="0"/>
                </a:moveTo>
                <a:lnTo>
                  <a:pt x="1680617" y="0"/>
                </a:lnTo>
                <a:lnTo>
                  <a:pt x="1680617" y="696692"/>
                </a:lnTo>
                <a:lnTo>
                  <a:pt x="0" y="696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98914" y="7800892"/>
            <a:ext cx="4996478" cy="2707182"/>
          </a:xfrm>
          <a:custGeom>
            <a:avLst/>
            <a:gdLst/>
            <a:ahLst/>
            <a:cxnLst/>
            <a:rect r="r" b="b" t="t" l="l"/>
            <a:pathLst>
              <a:path h="2707182" w="4996478">
                <a:moveTo>
                  <a:pt x="0" y="0"/>
                </a:moveTo>
                <a:lnTo>
                  <a:pt x="4996478" y="0"/>
                </a:lnTo>
                <a:lnTo>
                  <a:pt x="4996478" y="2707183"/>
                </a:lnTo>
                <a:lnTo>
                  <a:pt x="0" y="27071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97564" y="688562"/>
            <a:ext cx="10026545" cy="86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1"/>
              </a:lnSpc>
            </a:pPr>
            <a:r>
              <a:rPr lang="en-US" b="true" sz="6840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MOMENTUM EXAMPLE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0201" y="1814368"/>
            <a:ext cx="5616369" cy="627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3"/>
              </a:lnSpc>
            </a:pPr>
            <a:r>
              <a:rPr lang="en-US" sz="3266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1</a:t>
            </a:r>
            <a:r>
              <a:rPr lang="en-US" sz="3266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. A car with a mass of 900 kg is moving at 10 m/s. Find its momentum.</a:t>
            </a:r>
          </a:p>
          <a:p>
            <a:pPr algn="l">
              <a:lnSpc>
                <a:spcPts val="4573"/>
              </a:lnSpc>
            </a:pPr>
          </a:p>
          <a:p>
            <a:pPr algn="l">
              <a:lnSpc>
                <a:spcPts val="4573"/>
              </a:lnSpc>
            </a:pPr>
            <a:r>
              <a:rPr lang="en-US" sz="3266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Formula:</a:t>
            </a:r>
          </a:p>
          <a:p>
            <a:pPr algn="l">
              <a:lnSpc>
                <a:spcPts val="4573"/>
              </a:lnSpc>
            </a:pPr>
            <a:r>
              <a:rPr lang="en-US" sz="3266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p=mv</a:t>
            </a:r>
          </a:p>
          <a:p>
            <a:pPr algn="l">
              <a:lnSpc>
                <a:spcPts val="4573"/>
              </a:lnSpc>
            </a:pPr>
          </a:p>
          <a:p>
            <a:pPr algn="l">
              <a:lnSpc>
                <a:spcPts val="4573"/>
              </a:lnSpc>
            </a:pPr>
            <a:r>
              <a:rPr lang="en-US" sz="3266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Solution: </a:t>
            </a:r>
          </a:p>
          <a:p>
            <a:pPr algn="l">
              <a:lnSpc>
                <a:spcPts val="4573"/>
              </a:lnSpc>
            </a:pPr>
            <a:r>
              <a:rPr lang="en-US" sz="3266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p=900x10 = 9000kg m/s</a:t>
            </a:r>
          </a:p>
          <a:p>
            <a:pPr algn="l">
              <a:lnSpc>
                <a:spcPts val="4573"/>
              </a:lnSpc>
            </a:pPr>
          </a:p>
          <a:p>
            <a:pPr algn="l">
              <a:lnSpc>
                <a:spcPts val="457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387980" y="1854750"/>
            <a:ext cx="5512041" cy="55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3205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2</a:t>
            </a:r>
            <a:r>
              <a:rPr lang="en-US" sz="3205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. A 4 kg ball is rolling with a speed of 3 m/s. What is its momentum?</a:t>
            </a:r>
          </a:p>
          <a:p>
            <a:pPr algn="l">
              <a:lnSpc>
                <a:spcPts val="4488"/>
              </a:lnSpc>
            </a:pPr>
          </a:p>
          <a:p>
            <a:pPr algn="l">
              <a:lnSpc>
                <a:spcPts val="4488"/>
              </a:lnSpc>
            </a:pPr>
            <a:r>
              <a:rPr lang="en-US" sz="3205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Formula:</a:t>
            </a:r>
          </a:p>
          <a:p>
            <a:pPr algn="l">
              <a:lnSpc>
                <a:spcPts val="4488"/>
              </a:lnSpc>
            </a:pPr>
            <a:r>
              <a:rPr lang="en-US" sz="3205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p=mv</a:t>
            </a:r>
          </a:p>
          <a:p>
            <a:pPr algn="l">
              <a:lnSpc>
                <a:spcPts val="4488"/>
              </a:lnSpc>
            </a:pPr>
          </a:p>
          <a:p>
            <a:pPr algn="l">
              <a:lnSpc>
                <a:spcPts val="4488"/>
              </a:lnSpc>
            </a:pPr>
            <a:r>
              <a:rPr lang="en-US" sz="3205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solution: </a:t>
            </a:r>
          </a:p>
          <a:p>
            <a:pPr algn="l">
              <a:lnSpc>
                <a:spcPts val="4488"/>
              </a:lnSpc>
            </a:pPr>
            <a:r>
              <a:rPr lang="en-US" sz="3205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p=4×3 =</a:t>
            </a:r>
            <a:r>
              <a:rPr lang="en-US" sz="3205" u="sng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12kg m/s</a:t>
            </a:r>
          </a:p>
          <a:p>
            <a:pPr algn="l">
              <a:lnSpc>
                <a:spcPts val="448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709887" y="1854750"/>
            <a:ext cx="5512041" cy="55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3205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3</a:t>
            </a:r>
            <a:r>
              <a:rPr lang="en-US" sz="3205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. A 0.2 kg baseball is thrown at 20 m/s. What is its momentum?</a:t>
            </a:r>
          </a:p>
          <a:p>
            <a:pPr algn="l">
              <a:lnSpc>
                <a:spcPts val="4488"/>
              </a:lnSpc>
            </a:pPr>
          </a:p>
          <a:p>
            <a:pPr algn="l">
              <a:lnSpc>
                <a:spcPts val="4488"/>
              </a:lnSpc>
            </a:pPr>
            <a:r>
              <a:rPr lang="en-US" sz="3205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Formula:</a:t>
            </a:r>
          </a:p>
          <a:p>
            <a:pPr algn="l">
              <a:lnSpc>
                <a:spcPts val="4488"/>
              </a:lnSpc>
            </a:pPr>
            <a:r>
              <a:rPr lang="en-US" sz="3205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p=mv</a:t>
            </a:r>
          </a:p>
          <a:p>
            <a:pPr algn="l">
              <a:lnSpc>
                <a:spcPts val="4488"/>
              </a:lnSpc>
            </a:pPr>
          </a:p>
          <a:p>
            <a:pPr algn="l">
              <a:lnSpc>
                <a:spcPts val="4488"/>
              </a:lnSpc>
            </a:pPr>
            <a:r>
              <a:rPr lang="en-US" sz="3205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solution: </a:t>
            </a:r>
          </a:p>
          <a:p>
            <a:pPr algn="l">
              <a:lnSpc>
                <a:spcPts val="4488"/>
              </a:lnSpc>
            </a:pPr>
            <a:r>
              <a:rPr lang="en-US" sz="3205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p=0.2×20 =4</a:t>
            </a:r>
            <a:r>
              <a:rPr lang="en-US" sz="3205" u="sng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kg m/s</a:t>
            </a:r>
          </a:p>
          <a:p>
            <a:pPr algn="l">
              <a:lnSpc>
                <a:spcPts val="4488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03867" y="7195323"/>
            <a:ext cx="1918061" cy="3244077"/>
          </a:xfrm>
          <a:custGeom>
            <a:avLst/>
            <a:gdLst/>
            <a:ahLst/>
            <a:cxnLst/>
            <a:rect r="r" b="b" t="t" l="l"/>
            <a:pathLst>
              <a:path h="3244077" w="1918061">
                <a:moveTo>
                  <a:pt x="0" y="0"/>
                </a:moveTo>
                <a:lnTo>
                  <a:pt x="1918061" y="0"/>
                </a:lnTo>
                <a:lnTo>
                  <a:pt x="1918061" y="3244077"/>
                </a:lnTo>
                <a:lnTo>
                  <a:pt x="0" y="32440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64873" y="0"/>
            <a:ext cx="1188854" cy="1911900"/>
          </a:xfrm>
          <a:custGeom>
            <a:avLst/>
            <a:gdLst/>
            <a:ahLst/>
            <a:cxnLst/>
            <a:rect r="r" b="b" t="t" l="l"/>
            <a:pathLst>
              <a:path h="1911900" w="1188854">
                <a:moveTo>
                  <a:pt x="0" y="0"/>
                </a:moveTo>
                <a:lnTo>
                  <a:pt x="1188854" y="0"/>
                </a:lnTo>
                <a:lnTo>
                  <a:pt x="1188854" y="1911900"/>
                </a:lnTo>
                <a:lnTo>
                  <a:pt x="0" y="1911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91742" y="8936916"/>
            <a:ext cx="1897208" cy="1859264"/>
          </a:xfrm>
          <a:custGeom>
            <a:avLst/>
            <a:gdLst/>
            <a:ahLst/>
            <a:cxnLst/>
            <a:rect r="r" b="b" t="t" l="l"/>
            <a:pathLst>
              <a:path h="1859264" w="1897208">
                <a:moveTo>
                  <a:pt x="0" y="0"/>
                </a:moveTo>
                <a:lnTo>
                  <a:pt x="1897208" y="0"/>
                </a:lnTo>
                <a:lnTo>
                  <a:pt x="1897208" y="1859264"/>
                </a:lnTo>
                <a:lnTo>
                  <a:pt x="0" y="1859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0201" y="332008"/>
            <a:ext cx="1680617" cy="696692"/>
          </a:xfrm>
          <a:custGeom>
            <a:avLst/>
            <a:gdLst/>
            <a:ahLst/>
            <a:cxnLst/>
            <a:rect r="r" b="b" t="t" l="l"/>
            <a:pathLst>
              <a:path h="696692" w="1680617">
                <a:moveTo>
                  <a:pt x="0" y="0"/>
                </a:moveTo>
                <a:lnTo>
                  <a:pt x="1680617" y="0"/>
                </a:lnTo>
                <a:lnTo>
                  <a:pt x="1680617" y="696692"/>
                </a:lnTo>
                <a:lnTo>
                  <a:pt x="0" y="696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61421" y="8202450"/>
            <a:ext cx="4996478" cy="2707182"/>
          </a:xfrm>
          <a:custGeom>
            <a:avLst/>
            <a:gdLst/>
            <a:ahLst/>
            <a:cxnLst/>
            <a:rect r="r" b="b" t="t" l="l"/>
            <a:pathLst>
              <a:path h="2707182" w="4996478">
                <a:moveTo>
                  <a:pt x="0" y="0"/>
                </a:moveTo>
                <a:lnTo>
                  <a:pt x="4996477" y="0"/>
                </a:lnTo>
                <a:lnTo>
                  <a:pt x="4996477" y="2707182"/>
                </a:lnTo>
                <a:lnTo>
                  <a:pt x="0" y="27071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28329" y="615812"/>
            <a:ext cx="9780445" cy="86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1"/>
              </a:lnSpc>
            </a:pPr>
            <a:r>
              <a:rPr lang="en-US" b="true" sz="6840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WHAT IS IMPULSE?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4789" y="1529732"/>
            <a:ext cx="14667524" cy="802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Impulse is the change in momentum of an object caused by a force acting on it for a certain amount of time.</a:t>
            </a:r>
          </a:p>
          <a:p>
            <a:pPr algn="l">
              <a:lnSpc>
                <a:spcPts val="4905"/>
              </a:lnSpc>
            </a:pPr>
            <a:r>
              <a:rPr lang="en-US" sz="3503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Simple Definition: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Impulse tells how much a force changes an object’s motion.</a:t>
            </a:r>
          </a:p>
          <a:p>
            <a:pPr algn="l">
              <a:lnSpc>
                <a:spcPts val="4905"/>
              </a:lnSpc>
            </a:pPr>
          </a:p>
          <a:p>
            <a:pPr algn="l">
              <a:lnSpc>
                <a:spcPts val="4905"/>
              </a:lnSpc>
            </a:pPr>
            <a:r>
              <a:rPr lang="en-US" sz="3503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Formula: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Impulse=F×t</a:t>
            </a:r>
          </a:p>
          <a:p>
            <a:pPr algn="l">
              <a:lnSpc>
                <a:spcPts val="4905"/>
              </a:lnSpc>
            </a:pP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where:</a:t>
            </a:r>
          </a:p>
          <a:p>
            <a:pPr algn="l" marL="756423" indent="-378211" lvl="1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F = force</a:t>
            </a:r>
          </a:p>
          <a:p>
            <a:pPr algn="l" marL="756423" indent="-378211" lvl="1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t = time the force acts</a:t>
            </a:r>
          </a:p>
          <a:p>
            <a:pPr algn="l">
              <a:lnSpc>
                <a:spcPts val="4905"/>
              </a:lnSpc>
            </a:pPr>
          </a:p>
          <a:p>
            <a:pPr algn="ctr">
              <a:lnSpc>
                <a:spcPts val="4905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303867" y="7195323"/>
            <a:ext cx="1918061" cy="3244077"/>
          </a:xfrm>
          <a:custGeom>
            <a:avLst/>
            <a:gdLst/>
            <a:ahLst/>
            <a:cxnLst/>
            <a:rect r="r" b="b" t="t" l="l"/>
            <a:pathLst>
              <a:path h="3244077" w="1918061">
                <a:moveTo>
                  <a:pt x="0" y="0"/>
                </a:moveTo>
                <a:lnTo>
                  <a:pt x="1918061" y="0"/>
                </a:lnTo>
                <a:lnTo>
                  <a:pt x="1918061" y="3244077"/>
                </a:lnTo>
                <a:lnTo>
                  <a:pt x="0" y="32440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64873" y="0"/>
            <a:ext cx="1188854" cy="1911900"/>
          </a:xfrm>
          <a:custGeom>
            <a:avLst/>
            <a:gdLst/>
            <a:ahLst/>
            <a:cxnLst/>
            <a:rect r="r" b="b" t="t" l="l"/>
            <a:pathLst>
              <a:path h="1911900" w="1188854">
                <a:moveTo>
                  <a:pt x="0" y="0"/>
                </a:moveTo>
                <a:lnTo>
                  <a:pt x="1188854" y="0"/>
                </a:lnTo>
                <a:lnTo>
                  <a:pt x="1188854" y="1911900"/>
                </a:lnTo>
                <a:lnTo>
                  <a:pt x="0" y="1911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91742" y="8936916"/>
            <a:ext cx="1897208" cy="1859264"/>
          </a:xfrm>
          <a:custGeom>
            <a:avLst/>
            <a:gdLst/>
            <a:ahLst/>
            <a:cxnLst/>
            <a:rect r="r" b="b" t="t" l="l"/>
            <a:pathLst>
              <a:path h="1859264" w="1897208">
                <a:moveTo>
                  <a:pt x="0" y="0"/>
                </a:moveTo>
                <a:lnTo>
                  <a:pt x="1897208" y="0"/>
                </a:lnTo>
                <a:lnTo>
                  <a:pt x="1897208" y="1859264"/>
                </a:lnTo>
                <a:lnTo>
                  <a:pt x="0" y="1859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0201" y="332008"/>
            <a:ext cx="1680617" cy="696692"/>
          </a:xfrm>
          <a:custGeom>
            <a:avLst/>
            <a:gdLst/>
            <a:ahLst/>
            <a:cxnLst/>
            <a:rect r="r" b="b" t="t" l="l"/>
            <a:pathLst>
              <a:path h="696692" w="1680617">
                <a:moveTo>
                  <a:pt x="0" y="0"/>
                </a:moveTo>
                <a:lnTo>
                  <a:pt x="1680617" y="0"/>
                </a:lnTo>
                <a:lnTo>
                  <a:pt x="1680617" y="696692"/>
                </a:lnTo>
                <a:lnTo>
                  <a:pt x="0" y="696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61421" y="8202450"/>
            <a:ext cx="4996478" cy="2707182"/>
          </a:xfrm>
          <a:custGeom>
            <a:avLst/>
            <a:gdLst/>
            <a:ahLst/>
            <a:cxnLst/>
            <a:rect r="r" b="b" t="t" l="l"/>
            <a:pathLst>
              <a:path h="2707182" w="4996478">
                <a:moveTo>
                  <a:pt x="0" y="0"/>
                </a:moveTo>
                <a:lnTo>
                  <a:pt x="4996477" y="0"/>
                </a:lnTo>
                <a:lnTo>
                  <a:pt x="4996477" y="2707182"/>
                </a:lnTo>
                <a:lnTo>
                  <a:pt x="0" y="27071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28329" y="615812"/>
            <a:ext cx="9780445" cy="86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1"/>
              </a:lnSpc>
            </a:pPr>
            <a:r>
              <a:rPr lang="en-US" b="true" sz="6840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IMPULSE EXAMPLE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0510" y="2031514"/>
            <a:ext cx="7448577" cy="554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6423" indent="-378211" lvl="1">
              <a:lnSpc>
                <a:spcPts val="4905"/>
              </a:lnSpc>
              <a:buAutoNum type="arabicPeriod" startAt="1"/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A force of 10 N acts on a ball for 3 seconds. What is the impulse?</a:t>
            </a:r>
          </a:p>
          <a:p>
            <a:pPr algn="ctr">
              <a:lnSpc>
                <a:spcPts val="4905"/>
              </a:lnSpc>
            </a:pPr>
          </a:p>
          <a:p>
            <a:pPr algn="l">
              <a:lnSpc>
                <a:spcPts val="4905"/>
              </a:lnSpc>
            </a:pPr>
            <a:r>
              <a:rPr lang="en-US" sz="3503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Formula: 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J=F×t</a:t>
            </a:r>
          </a:p>
          <a:p>
            <a:pPr algn="l">
              <a:lnSpc>
                <a:spcPts val="4905"/>
              </a:lnSpc>
            </a:pPr>
          </a:p>
          <a:p>
            <a:pPr algn="l">
              <a:lnSpc>
                <a:spcPts val="4905"/>
              </a:lnSpc>
            </a:pPr>
            <a:r>
              <a:rPr lang="en-US" sz="3503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Solution: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j=10x3 =</a:t>
            </a:r>
            <a:r>
              <a:rPr lang="en-US" sz="3503" u="sng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30N/s</a:t>
            </a:r>
          </a:p>
          <a:p>
            <a:pPr algn="ctr">
              <a:lnSpc>
                <a:spcPts val="4905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303867" y="7195323"/>
            <a:ext cx="1918061" cy="3244077"/>
          </a:xfrm>
          <a:custGeom>
            <a:avLst/>
            <a:gdLst/>
            <a:ahLst/>
            <a:cxnLst/>
            <a:rect r="r" b="b" t="t" l="l"/>
            <a:pathLst>
              <a:path h="3244077" w="1918061">
                <a:moveTo>
                  <a:pt x="0" y="0"/>
                </a:moveTo>
                <a:lnTo>
                  <a:pt x="1918061" y="0"/>
                </a:lnTo>
                <a:lnTo>
                  <a:pt x="1918061" y="3244077"/>
                </a:lnTo>
                <a:lnTo>
                  <a:pt x="0" y="32440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18551" y="2031514"/>
            <a:ext cx="7448577" cy="554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2. A 50 N force pushes a box for 2 seconds. Find the impulse given to the box.</a:t>
            </a:r>
          </a:p>
          <a:p>
            <a:pPr algn="l">
              <a:lnSpc>
                <a:spcPts val="4905"/>
              </a:lnSpc>
            </a:pPr>
            <a:r>
              <a:rPr lang="en-US" sz="3503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Formula: 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J=F×t</a:t>
            </a:r>
          </a:p>
          <a:p>
            <a:pPr algn="l">
              <a:lnSpc>
                <a:spcPts val="4905"/>
              </a:lnSpc>
            </a:pPr>
          </a:p>
          <a:p>
            <a:pPr algn="l">
              <a:lnSpc>
                <a:spcPts val="4905"/>
              </a:lnSpc>
            </a:pPr>
            <a:r>
              <a:rPr lang="en-US" sz="3503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Solution: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j=50x2 =10</a:t>
            </a:r>
            <a:r>
              <a:rPr lang="en-US" sz="3503" u="sng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0N/s</a:t>
            </a:r>
          </a:p>
          <a:p>
            <a:pPr algn="ctr">
              <a:lnSpc>
                <a:spcPts val="49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64873" y="0"/>
            <a:ext cx="1188854" cy="1911900"/>
          </a:xfrm>
          <a:custGeom>
            <a:avLst/>
            <a:gdLst/>
            <a:ahLst/>
            <a:cxnLst/>
            <a:rect r="r" b="b" t="t" l="l"/>
            <a:pathLst>
              <a:path h="1911900" w="1188854">
                <a:moveTo>
                  <a:pt x="0" y="0"/>
                </a:moveTo>
                <a:lnTo>
                  <a:pt x="1188854" y="0"/>
                </a:lnTo>
                <a:lnTo>
                  <a:pt x="1188854" y="1911900"/>
                </a:lnTo>
                <a:lnTo>
                  <a:pt x="0" y="1911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91742" y="8936916"/>
            <a:ext cx="1897208" cy="1859264"/>
          </a:xfrm>
          <a:custGeom>
            <a:avLst/>
            <a:gdLst/>
            <a:ahLst/>
            <a:cxnLst/>
            <a:rect r="r" b="b" t="t" l="l"/>
            <a:pathLst>
              <a:path h="1859264" w="1897208">
                <a:moveTo>
                  <a:pt x="0" y="0"/>
                </a:moveTo>
                <a:lnTo>
                  <a:pt x="1897208" y="0"/>
                </a:lnTo>
                <a:lnTo>
                  <a:pt x="1897208" y="1859264"/>
                </a:lnTo>
                <a:lnTo>
                  <a:pt x="0" y="1859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0201" y="332008"/>
            <a:ext cx="1680617" cy="696692"/>
          </a:xfrm>
          <a:custGeom>
            <a:avLst/>
            <a:gdLst/>
            <a:ahLst/>
            <a:cxnLst/>
            <a:rect r="r" b="b" t="t" l="l"/>
            <a:pathLst>
              <a:path h="696692" w="1680617">
                <a:moveTo>
                  <a:pt x="0" y="0"/>
                </a:moveTo>
                <a:lnTo>
                  <a:pt x="1680617" y="0"/>
                </a:lnTo>
                <a:lnTo>
                  <a:pt x="1680617" y="696692"/>
                </a:lnTo>
                <a:lnTo>
                  <a:pt x="0" y="696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61421" y="8202450"/>
            <a:ext cx="4996478" cy="2707182"/>
          </a:xfrm>
          <a:custGeom>
            <a:avLst/>
            <a:gdLst/>
            <a:ahLst/>
            <a:cxnLst/>
            <a:rect r="r" b="b" t="t" l="l"/>
            <a:pathLst>
              <a:path h="2707182" w="4996478">
                <a:moveTo>
                  <a:pt x="0" y="0"/>
                </a:moveTo>
                <a:lnTo>
                  <a:pt x="4996477" y="0"/>
                </a:lnTo>
                <a:lnTo>
                  <a:pt x="4996477" y="2707182"/>
                </a:lnTo>
                <a:lnTo>
                  <a:pt x="0" y="27071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35366" y="455833"/>
            <a:ext cx="10624959" cy="185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</a:pPr>
            <a:r>
              <a:rPr lang="en-US" b="true" sz="5102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RELATIONSHIP OF MOMENTUM </a:t>
            </a:r>
          </a:p>
          <a:p>
            <a:pPr algn="ctr">
              <a:lnSpc>
                <a:spcPts val="4745"/>
              </a:lnSpc>
            </a:pPr>
            <a:r>
              <a:rPr lang="en-US" b="true" sz="5102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&amp;</a:t>
            </a:r>
          </a:p>
          <a:p>
            <a:pPr algn="ctr">
              <a:lnSpc>
                <a:spcPts val="4745"/>
              </a:lnSpc>
            </a:pPr>
            <a:r>
              <a:rPr lang="en-US" b="true" sz="5102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 IMPULSE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40315" y="2817455"/>
            <a:ext cx="12615062" cy="554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Impulse causes a change in momentum.</a:t>
            </a:r>
          </a:p>
          <a:p>
            <a:pPr algn="ctr">
              <a:lnSpc>
                <a:spcPts val="4905"/>
              </a:lnSpc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 When a force acts on an object for a certain time, it gives the object impulse, which either increases or decreases its momentum.</a:t>
            </a:r>
          </a:p>
          <a:p>
            <a:pPr algn="ctr">
              <a:lnSpc>
                <a:spcPts val="4905"/>
              </a:lnSpc>
            </a:pPr>
          </a:p>
          <a:p>
            <a:pPr algn="ctr">
              <a:lnSpc>
                <a:spcPts val="4905"/>
              </a:lnSpc>
            </a:pPr>
            <a:r>
              <a:rPr lang="en-US" sz="3503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Example: </a:t>
            </a:r>
          </a:p>
          <a:p>
            <a:pPr algn="ctr">
              <a:lnSpc>
                <a:spcPts val="4905"/>
              </a:lnSpc>
              <a:spcBef>
                <a:spcPct val="0"/>
              </a:spcBef>
            </a:pPr>
            <a:r>
              <a:rPr lang="en-US" sz="3503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When a bat hits a ball, the force from the bat acts for a short time. This impulse changes the ball’s momentum, making it move faster.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303867" y="7195323"/>
            <a:ext cx="1918061" cy="3244077"/>
          </a:xfrm>
          <a:custGeom>
            <a:avLst/>
            <a:gdLst/>
            <a:ahLst/>
            <a:cxnLst/>
            <a:rect r="r" b="b" t="t" l="l"/>
            <a:pathLst>
              <a:path h="3244077" w="1918061">
                <a:moveTo>
                  <a:pt x="0" y="0"/>
                </a:moveTo>
                <a:lnTo>
                  <a:pt x="1918061" y="0"/>
                </a:lnTo>
                <a:lnTo>
                  <a:pt x="1918061" y="3244077"/>
                </a:lnTo>
                <a:lnTo>
                  <a:pt x="0" y="32440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25828" y="360375"/>
            <a:ext cx="11036345" cy="1303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8"/>
              </a:lnSpc>
            </a:pPr>
            <a:r>
              <a:rPr lang="en-US" b="true" sz="10245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EXAMPLE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41015" y="1625734"/>
            <a:ext cx="13805971" cy="763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363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A 2 kg ball is moving at 5 m/s to the right. A player hits the ball, giving it a velocity of 15 m/s to the right.</a:t>
            </a:r>
          </a:p>
          <a:p>
            <a:pPr algn="l" marL="783785" indent="-391893" lvl="1">
              <a:lnSpc>
                <a:spcPts val="5082"/>
              </a:lnSpc>
              <a:buFont typeface="Arial"/>
              <a:buChar char="•"/>
            </a:pPr>
            <a:r>
              <a:rPr lang="en-US" sz="363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What is the initial momentum of the ball?</a:t>
            </a:r>
          </a:p>
          <a:p>
            <a:pPr algn="l" marL="783785" indent="-391893" lvl="1">
              <a:lnSpc>
                <a:spcPts val="5082"/>
              </a:lnSpc>
              <a:buFont typeface="Arial"/>
              <a:buChar char="•"/>
            </a:pPr>
            <a:r>
              <a:rPr lang="en-US" sz="363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What is the final momentum of the ball?</a:t>
            </a:r>
          </a:p>
          <a:p>
            <a:pPr algn="l" marL="783785" indent="-391893" lvl="1">
              <a:lnSpc>
                <a:spcPts val="5082"/>
              </a:lnSpc>
              <a:buFont typeface="Arial"/>
              <a:buChar char="•"/>
            </a:pPr>
            <a:r>
              <a:rPr lang="en-US" sz="363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What impulse did the player apply to the ball?</a:t>
            </a:r>
          </a:p>
          <a:p>
            <a:pPr algn="l">
              <a:lnSpc>
                <a:spcPts val="5082"/>
              </a:lnSpc>
            </a:pPr>
          </a:p>
          <a:p>
            <a:pPr algn="ctr">
              <a:lnSpc>
                <a:spcPts val="5082"/>
              </a:lnSpc>
            </a:pPr>
            <a:r>
              <a:rPr lang="en-US" sz="3630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Step 1: Calculate Initial Momentum</a:t>
            </a:r>
          </a:p>
          <a:p>
            <a:pPr algn="ctr">
              <a:lnSpc>
                <a:spcPts val="5082"/>
              </a:lnSpc>
            </a:pPr>
            <a:r>
              <a:rPr lang="en-US" sz="363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p=2x5 = 10kg m/s</a:t>
            </a:r>
          </a:p>
          <a:p>
            <a:pPr algn="ctr">
              <a:lnSpc>
                <a:spcPts val="5082"/>
              </a:lnSpc>
            </a:pPr>
            <a:r>
              <a:rPr lang="en-US" sz="3630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Step 2: Calculate Final Momentum</a:t>
            </a:r>
          </a:p>
          <a:p>
            <a:pPr algn="ctr">
              <a:lnSpc>
                <a:spcPts val="5082"/>
              </a:lnSpc>
            </a:pPr>
            <a:r>
              <a:rPr lang="en-US" sz="363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p=2x15 = 30kg m/s</a:t>
            </a:r>
          </a:p>
          <a:p>
            <a:pPr algn="ctr">
              <a:lnSpc>
                <a:spcPts val="5082"/>
              </a:lnSpc>
            </a:pPr>
            <a:r>
              <a:rPr lang="en-US" sz="3630" b="true">
                <a:solidFill>
                  <a:srgbClr val="071353"/>
                </a:solidFill>
                <a:latin typeface="Tahoma Bold"/>
                <a:ea typeface="Tahoma Bold"/>
                <a:cs typeface="Tahoma Bold"/>
                <a:sym typeface="Tahoma Bold"/>
              </a:rPr>
              <a:t>Step 3: Calculate Impulse</a:t>
            </a:r>
          </a:p>
          <a:p>
            <a:pPr algn="ctr">
              <a:lnSpc>
                <a:spcPts val="5082"/>
              </a:lnSpc>
              <a:spcBef>
                <a:spcPct val="0"/>
              </a:spcBef>
            </a:pPr>
            <a:r>
              <a:rPr lang="en-US" sz="3630">
                <a:solidFill>
                  <a:srgbClr val="071353"/>
                </a:solidFill>
                <a:latin typeface="Tahoma"/>
                <a:ea typeface="Tahoma"/>
                <a:cs typeface="Tahoma"/>
                <a:sym typeface="Tahoma"/>
              </a:rPr>
              <a:t>j=30-10 N/s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64873" y="1926830"/>
            <a:ext cx="1188854" cy="1911900"/>
          </a:xfrm>
          <a:custGeom>
            <a:avLst/>
            <a:gdLst/>
            <a:ahLst/>
            <a:cxnLst/>
            <a:rect r="r" b="b" t="t" l="l"/>
            <a:pathLst>
              <a:path h="1911900" w="1188854">
                <a:moveTo>
                  <a:pt x="0" y="0"/>
                </a:moveTo>
                <a:lnTo>
                  <a:pt x="1188854" y="0"/>
                </a:lnTo>
                <a:lnTo>
                  <a:pt x="1188854" y="1911900"/>
                </a:lnTo>
                <a:lnTo>
                  <a:pt x="0" y="1911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47252">
            <a:off x="-501282" y="488775"/>
            <a:ext cx="2708047" cy="2338768"/>
          </a:xfrm>
          <a:custGeom>
            <a:avLst/>
            <a:gdLst/>
            <a:ahLst/>
            <a:cxnLst/>
            <a:rect r="r" b="b" t="t" l="l"/>
            <a:pathLst>
              <a:path h="2338768" w="2708047">
                <a:moveTo>
                  <a:pt x="0" y="0"/>
                </a:moveTo>
                <a:lnTo>
                  <a:pt x="2708047" y="0"/>
                </a:lnTo>
                <a:lnTo>
                  <a:pt x="2708047" y="2338768"/>
                </a:lnTo>
                <a:lnTo>
                  <a:pt x="0" y="23387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58738" y="6411834"/>
            <a:ext cx="10522483" cy="3148295"/>
            <a:chOff x="0" y="0"/>
            <a:chExt cx="3291792" cy="9848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91792" cy="984894"/>
            </a:xfrm>
            <a:custGeom>
              <a:avLst/>
              <a:gdLst/>
              <a:ahLst/>
              <a:cxnLst/>
              <a:rect r="r" b="b" t="t" l="l"/>
              <a:pathLst>
                <a:path h="984894" w="3291792">
                  <a:moveTo>
                    <a:pt x="23544" y="0"/>
                  </a:moveTo>
                  <a:lnTo>
                    <a:pt x="3268248" y="0"/>
                  </a:lnTo>
                  <a:cubicBezTo>
                    <a:pt x="3274492" y="0"/>
                    <a:pt x="3280481" y="2481"/>
                    <a:pt x="3284896" y="6896"/>
                  </a:cubicBezTo>
                  <a:cubicBezTo>
                    <a:pt x="3289312" y="11311"/>
                    <a:pt x="3291792" y="17300"/>
                    <a:pt x="3291792" y="23544"/>
                  </a:cubicBezTo>
                  <a:lnTo>
                    <a:pt x="3291792" y="961350"/>
                  </a:lnTo>
                  <a:cubicBezTo>
                    <a:pt x="3291792" y="974353"/>
                    <a:pt x="3281251" y="984894"/>
                    <a:pt x="3268248" y="984894"/>
                  </a:cubicBezTo>
                  <a:lnTo>
                    <a:pt x="23544" y="984894"/>
                  </a:lnTo>
                  <a:cubicBezTo>
                    <a:pt x="10541" y="984894"/>
                    <a:pt x="0" y="974353"/>
                    <a:pt x="0" y="961350"/>
                  </a:cubicBezTo>
                  <a:lnTo>
                    <a:pt x="0" y="23544"/>
                  </a:lnTo>
                  <a:cubicBezTo>
                    <a:pt x="0" y="10541"/>
                    <a:pt x="10541" y="0"/>
                    <a:pt x="23544" y="0"/>
                  </a:cubicBezTo>
                  <a:close/>
                </a:path>
              </a:pathLst>
            </a:custGeom>
            <a:solidFill>
              <a:srgbClr val="5761C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91792" cy="1022994"/>
            </a:xfrm>
            <a:prstGeom prst="rect">
              <a:avLst/>
            </a:prstGeom>
          </p:spPr>
          <p:txBody>
            <a:bodyPr anchor="ctr" rtlCol="false" tIns="42768" lIns="42768" bIns="42768" rIns="427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15881220" y="4758581"/>
            <a:ext cx="2121203" cy="1677679"/>
          </a:xfrm>
          <a:custGeom>
            <a:avLst/>
            <a:gdLst/>
            <a:ahLst/>
            <a:cxnLst/>
            <a:rect r="r" b="b" t="t" l="l"/>
            <a:pathLst>
              <a:path h="1677679" w="2121203">
                <a:moveTo>
                  <a:pt x="2121203" y="0"/>
                </a:moveTo>
                <a:lnTo>
                  <a:pt x="0" y="0"/>
                </a:lnTo>
                <a:lnTo>
                  <a:pt x="0" y="1677678"/>
                </a:lnTo>
                <a:lnTo>
                  <a:pt x="2121203" y="1677678"/>
                </a:lnTo>
                <a:lnTo>
                  <a:pt x="21212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49680">
            <a:off x="395447" y="6093634"/>
            <a:ext cx="1632410" cy="636400"/>
          </a:xfrm>
          <a:custGeom>
            <a:avLst/>
            <a:gdLst/>
            <a:ahLst/>
            <a:cxnLst/>
            <a:rect r="r" b="b" t="t" l="l"/>
            <a:pathLst>
              <a:path h="636400" w="1632410">
                <a:moveTo>
                  <a:pt x="0" y="0"/>
                </a:moveTo>
                <a:lnTo>
                  <a:pt x="1632410" y="0"/>
                </a:lnTo>
                <a:lnTo>
                  <a:pt x="1632410" y="636400"/>
                </a:lnTo>
                <a:lnTo>
                  <a:pt x="0" y="636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71341" y="8936916"/>
            <a:ext cx="1897208" cy="1859264"/>
          </a:xfrm>
          <a:custGeom>
            <a:avLst/>
            <a:gdLst/>
            <a:ahLst/>
            <a:cxnLst/>
            <a:rect r="r" b="b" t="t" l="l"/>
            <a:pathLst>
              <a:path h="1859264" w="1897208">
                <a:moveTo>
                  <a:pt x="0" y="0"/>
                </a:moveTo>
                <a:lnTo>
                  <a:pt x="1897209" y="0"/>
                </a:lnTo>
                <a:lnTo>
                  <a:pt x="1897209" y="1859264"/>
                </a:lnTo>
                <a:lnTo>
                  <a:pt x="0" y="18592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4695" y="332008"/>
            <a:ext cx="1680617" cy="696692"/>
          </a:xfrm>
          <a:custGeom>
            <a:avLst/>
            <a:gdLst/>
            <a:ahLst/>
            <a:cxnLst/>
            <a:rect r="r" b="b" t="t" l="l"/>
            <a:pathLst>
              <a:path h="696692" w="1680617">
                <a:moveTo>
                  <a:pt x="0" y="0"/>
                </a:moveTo>
                <a:lnTo>
                  <a:pt x="1680617" y="0"/>
                </a:lnTo>
                <a:lnTo>
                  <a:pt x="1680617" y="696692"/>
                </a:lnTo>
                <a:lnTo>
                  <a:pt x="0" y="6966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66832" y="-589201"/>
            <a:ext cx="2712773" cy="2712773"/>
          </a:xfrm>
          <a:custGeom>
            <a:avLst/>
            <a:gdLst/>
            <a:ahLst/>
            <a:cxnLst/>
            <a:rect r="r" b="b" t="t" l="l"/>
            <a:pathLst>
              <a:path h="2712773" w="2712773">
                <a:moveTo>
                  <a:pt x="0" y="0"/>
                </a:moveTo>
                <a:lnTo>
                  <a:pt x="2712773" y="0"/>
                </a:lnTo>
                <a:lnTo>
                  <a:pt x="2712773" y="2712773"/>
                </a:lnTo>
                <a:lnTo>
                  <a:pt x="0" y="27127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425136" y="7700699"/>
            <a:ext cx="4996478" cy="2707182"/>
          </a:xfrm>
          <a:custGeom>
            <a:avLst/>
            <a:gdLst/>
            <a:ahLst/>
            <a:cxnLst/>
            <a:rect r="r" b="b" t="t" l="l"/>
            <a:pathLst>
              <a:path h="2707182" w="4996478">
                <a:moveTo>
                  <a:pt x="0" y="0"/>
                </a:moveTo>
                <a:lnTo>
                  <a:pt x="4996477" y="0"/>
                </a:lnTo>
                <a:lnTo>
                  <a:pt x="4996477" y="2707182"/>
                </a:lnTo>
                <a:lnTo>
                  <a:pt x="0" y="27071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45003" y="819763"/>
            <a:ext cx="11036345" cy="1303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8"/>
              </a:lnSpc>
            </a:pPr>
            <a:r>
              <a:rPr lang="en-US" b="true" sz="10245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REMEMBER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58738" y="3031546"/>
            <a:ext cx="10522483" cy="3148295"/>
            <a:chOff x="0" y="0"/>
            <a:chExt cx="3291792" cy="9848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91792" cy="984894"/>
            </a:xfrm>
            <a:custGeom>
              <a:avLst/>
              <a:gdLst/>
              <a:ahLst/>
              <a:cxnLst/>
              <a:rect r="r" b="b" t="t" l="l"/>
              <a:pathLst>
                <a:path h="984894" w="3291792">
                  <a:moveTo>
                    <a:pt x="23544" y="0"/>
                  </a:moveTo>
                  <a:lnTo>
                    <a:pt x="3268248" y="0"/>
                  </a:lnTo>
                  <a:cubicBezTo>
                    <a:pt x="3274492" y="0"/>
                    <a:pt x="3280481" y="2481"/>
                    <a:pt x="3284896" y="6896"/>
                  </a:cubicBezTo>
                  <a:cubicBezTo>
                    <a:pt x="3289312" y="11311"/>
                    <a:pt x="3291792" y="17300"/>
                    <a:pt x="3291792" y="23544"/>
                  </a:cubicBezTo>
                  <a:lnTo>
                    <a:pt x="3291792" y="961350"/>
                  </a:lnTo>
                  <a:cubicBezTo>
                    <a:pt x="3291792" y="974353"/>
                    <a:pt x="3281251" y="984894"/>
                    <a:pt x="3268248" y="984894"/>
                  </a:cubicBezTo>
                  <a:lnTo>
                    <a:pt x="23544" y="984894"/>
                  </a:lnTo>
                  <a:cubicBezTo>
                    <a:pt x="10541" y="984894"/>
                    <a:pt x="0" y="974353"/>
                    <a:pt x="0" y="961350"/>
                  </a:cubicBezTo>
                  <a:lnTo>
                    <a:pt x="0" y="23544"/>
                  </a:lnTo>
                  <a:cubicBezTo>
                    <a:pt x="0" y="10541"/>
                    <a:pt x="10541" y="0"/>
                    <a:pt x="23544" y="0"/>
                  </a:cubicBezTo>
                  <a:close/>
                </a:path>
              </a:pathLst>
            </a:custGeom>
            <a:solidFill>
              <a:srgbClr val="5761C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291792" cy="1022994"/>
            </a:xfrm>
            <a:prstGeom prst="rect">
              <a:avLst/>
            </a:prstGeom>
          </p:spPr>
          <p:txBody>
            <a:bodyPr anchor="ctr" rtlCol="false" tIns="42768" lIns="42768" bIns="42768" rIns="427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128868" y="6716428"/>
            <a:ext cx="9077541" cy="1617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3079" b="true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Impulse is the push or hit that changes an object’s momentum.</a:t>
            </a:r>
          </a:p>
          <a:p>
            <a:pPr algn="l">
              <a:lnSpc>
                <a:spcPts val="4311"/>
              </a:lnSpc>
              <a:spcBef>
                <a:spcPct val="0"/>
              </a:spcBef>
            </a:pPr>
            <a:r>
              <a:rPr lang="en-US" sz="3079" b="true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 It comes from a force acting for a short time.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59914" y="3328368"/>
            <a:ext cx="5521948" cy="1485061"/>
            <a:chOff x="0" y="0"/>
            <a:chExt cx="1727454" cy="4645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27454" cy="464578"/>
            </a:xfrm>
            <a:custGeom>
              <a:avLst/>
              <a:gdLst/>
              <a:ahLst/>
              <a:cxnLst/>
              <a:rect r="r" b="b" t="t" l="l"/>
              <a:pathLst>
                <a:path h="464578" w="1727454">
                  <a:moveTo>
                    <a:pt x="44865" y="0"/>
                  </a:moveTo>
                  <a:lnTo>
                    <a:pt x="1682589" y="0"/>
                  </a:lnTo>
                  <a:cubicBezTo>
                    <a:pt x="1707367" y="0"/>
                    <a:pt x="1727454" y="20087"/>
                    <a:pt x="1727454" y="44865"/>
                  </a:cubicBezTo>
                  <a:lnTo>
                    <a:pt x="1727454" y="419713"/>
                  </a:lnTo>
                  <a:cubicBezTo>
                    <a:pt x="1727454" y="444491"/>
                    <a:pt x="1707367" y="464578"/>
                    <a:pt x="1682589" y="464578"/>
                  </a:cubicBezTo>
                  <a:lnTo>
                    <a:pt x="44865" y="464578"/>
                  </a:lnTo>
                  <a:cubicBezTo>
                    <a:pt x="20087" y="464578"/>
                    <a:pt x="0" y="444491"/>
                    <a:pt x="0" y="419713"/>
                  </a:cubicBezTo>
                  <a:lnTo>
                    <a:pt x="0" y="44865"/>
                  </a:lnTo>
                  <a:cubicBezTo>
                    <a:pt x="0" y="20087"/>
                    <a:pt x="20087" y="0"/>
                    <a:pt x="44865" y="0"/>
                  </a:cubicBezTo>
                  <a:close/>
                </a:path>
              </a:pathLst>
            </a:custGeom>
            <a:solidFill>
              <a:srgbClr val="0E275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27454" cy="502678"/>
            </a:xfrm>
            <a:prstGeom prst="rect">
              <a:avLst/>
            </a:prstGeom>
          </p:spPr>
          <p:txBody>
            <a:bodyPr anchor="ctr" rtlCol="false" tIns="42768" lIns="42768" bIns="42768" rIns="427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-90288" y="3757873"/>
            <a:ext cx="6066756" cy="72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1"/>
              </a:lnSpc>
            </a:pPr>
            <a:r>
              <a:rPr lang="en-US" b="true" sz="5786">
                <a:solidFill>
                  <a:srgbClr val="FFFFFF"/>
                </a:solidFill>
                <a:latin typeface="Saira Heavy"/>
                <a:ea typeface="Saira Heavy"/>
                <a:cs typeface="Saira Heavy"/>
                <a:sym typeface="Saira Heavy"/>
              </a:rPr>
              <a:t>MOMENTUM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50201" y="6556257"/>
            <a:ext cx="5521948" cy="1485061"/>
            <a:chOff x="0" y="0"/>
            <a:chExt cx="1727454" cy="4645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27454" cy="464578"/>
            </a:xfrm>
            <a:custGeom>
              <a:avLst/>
              <a:gdLst/>
              <a:ahLst/>
              <a:cxnLst/>
              <a:rect r="r" b="b" t="t" l="l"/>
              <a:pathLst>
                <a:path h="464578" w="1727454">
                  <a:moveTo>
                    <a:pt x="44865" y="0"/>
                  </a:moveTo>
                  <a:lnTo>
                    <a:pt x="1682589" y="0"/>
                  </a:lnTo>
                  <a:cubicBezTo>
                    <a:pt x="1707367" y="0"/>
                    <a:pt x="1727454" y="20087"/>
                    <a:pt x="1727454" y="44865"/>
                  </a:cubicBezTo>
                  <a:lnTo>
                    <a:pt x="1727454" y="419713"/>
                  </a:lnTo>
                  <a:cubicBezTo>
                    <a:pt x="1727454" y="444491"/>
                    <a:pt x="1707367" y="464578"/>
                    <a:pt x="1682589" y="464578"/>
                  </a:cubicBezTo>
                  <a:lnTo>
                    <a:pt x="44865" y="464578"/>
                  </a:lnTo>
                  <a:cubicBezTo>
                    <a:pt x="20087" y="464578"/>
                    <a:pt x="0" y="444491"/>
                    <a:pt x="0" y="419713"/>
                  </a:cubicBezTo>
                  <a:lnTo>
                    <a:pt x="0" y="44865"/>
                  </a:lnTo>
                  <a:cubicBezTo>
                    <a:pt x="0" y="20087"/>
                    <a:pt x="20087" y="0"/>
                    <a:pt x="44865" y="0"/>
                  </a:cubicBezTo>
                  <a:close/>
                </a:path>
              </a:pathLst>
            </a:custGeom>
            <a:solidFill>
              <a:srgbClr val="0E275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727454" cy="502678"/>
            </a:xfrm>
            <a:prstGeom prst="rect">
              <a:avLst/>
            </a:prstGeom>
          </p:spPr>
          <p:txBody>
            <a:bodyPr anchor="ctr" rtlCol="false" tIns="42768" lIns="42768" bIns="42768" rIns="4276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-194606" y="6985762"/>
            <a:ext cx="6066756" cy="72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1"/>
              </a:lnSpc>
            </a:pPr>
            <a:r>
              <a:rPr lang="en-US" b="true" sz="5786">
                <a:solidFill>
                  <a:srgbClr val="FFFFFF"/>
                </a:solidFill>
                <a:latin typeface="Saira Heavy"/>
                <a:ea typeface="Saira Heavy"/>
                <a:cs typeface="Saira Heavy"/>
                <a:sym typeface="Saira Heavy"/>
              </a:rPr>
              <a:t>IMPULSE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28868" y="3470216"/>
            <a:ext cx="9077541" cy="193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true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Momentum is how hard it is to stop a moving object.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b="true" sz="2779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rPr>
              <a:t> It depends on how heavy it is and how fast it is going.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63962" y="400631"/>
            <a:ext cx="9160077" cy="1076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8"/>
              </a:lnSpc>
            </a:pPr>
            <a:r>
              <a:rPr lang="en-US" b="true" sz="8503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QUIZ TIME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8030" y="1356956"/>
            <a:ext cx="7911862" cy="1039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2"/>
              </a:lnSpc>
            </a:pP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1. A 3 kg ball is moving at 4 m/s. What is its momentum?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A) 7 kg·m/s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B) 12 kg·m/s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C) 1.33 kg·m/s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D) 0.75 kg·m/s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2. A 5 kg cart is initially at rest. A force is applied for 2 s and the cart reaches a velocity of 3 m/s. What is the impulse delivered?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A) 5 N·s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B) 15 N·s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C) 10 N·s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D) 30 N·s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3. Impulse measures: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A) The speed of an object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B) The change in momentum of an object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C) The mass of an object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D) The distance an object moves</a:t>
            </a:r>
          </a:p>
          <a:p>
            <a:pPr algn="l">
              <a:lnSpc>
                <a:spcPts val="3942"/>
              </a:lnSpc>
            </a:pPr>
          </a:p>
          <a:p>
            <a:pPr algn="l">
              <a:lnSpc>
                <a:spcPts val="3942"/>
              </a:lnSpc>
            </a:pPr>
          </a:p>
          <a:p>
            <a:pPr algn="l">
              <a:lnSpc>
                <a:spcPts val="394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538496" y="1356956"/>
            <a:ext cx="8371085" cy="750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3"/>
              </a:lnSpc>
            </a:pP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4. A 2 kg ball moving at 6 m/s is stopped by a player. What is the impulse applied by the player?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A) 12 N·s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B) -12 N·s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C) 6 N·s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D) -6 N·s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5. A 4 kg object has an initial momentum of 20 kg·m/s. If a force gives it an impulse of -10 N·s, what is the final momentum?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A) 10 kg·m/s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B) 30 kg·m/s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C) -10 kg·m/s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D) 0 kg·m/s</a:t>
            </a:r>
          </a:p>
          <a:p>
            <a:pPr algn="just">
              <a:lnSpc>
                <a:spcPts val="402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63962" y="400631"/>
            <a:ext cx="9160077" cy="1076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8"/>
              </a:lnSpc>
            </a:pPr>
            <a:r>
              <a:rPr lang="en-US" b="true" sz="8503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QUIZ TIME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8030" y="1635870"/>
            <a:ext cx="7911862" cy="791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6. If a force acts opposite to an object’s motion, the impulse is: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A) Positive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B) Negative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C) Zero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D) Equal to mass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7. A 1 kg ball is moving at 5 m/s to the right. Another force acts on it for 0.2 s, producing an impulse of -2 N·s. What is the final velocity of the ball?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8. A car of mass 1000 kg has a momentum of 20,000 kg·m/s. What is its velocity?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A) 10 m/s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B) 20 m/s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C) 200 m/s</a:t>
            </a:r>
          </a:p>
          <a:p>
            <a:pPr algn="l">
              <a:lnSpc>
                <a:spcPts val="3942"/>
              </a:lnSpc>
            </a:pPr>
            <a:r>
              <a:rPr lang="en-US" sz="2816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D) 2 m/s</a:t>
            </a:r>
          </a:p>
          <a:p>
            <a:pPr algn="l">
              <a:lnSpc>
                <a:spcPts val="394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538496" y="1635870"/>
            <a:ext cx="8371085" cy="650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9. Which of the following statements is true?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A) Momentum depends on mass and velocity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B) Impulse depends only on mass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C) Impulse cannot change momentum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D) Momentum is always negative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10. A ball moving at 3 m/s is struck in the same direction and its velocity becomes 7 m/s. Mass of ball = 2 kg. What is the impulse?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A) 4 N·s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B) 10 N·s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C) 8 N·s</a:t>
            </a:r>
          </a:p>
          <a:p>
            <a:pPr algn="just">
              <a:lnSpc>
                <a:spcPts val="4023"/>
              </a:lnSpc>
            </a:pPr>
            <a:r>
              <a:rPr lang="en-US" sz="2874">
                <a:solidFill>
                  <a:srgbClr val="071353"/>
                </a:solidFill>
                <a:latin typeface="Ropa Sans"/>
                <a:ea typeface="Ropa Sans"/>
                <a:cs typeface="Ropa Sans"/>
                <a:sym typeface="Ropa Sans"/>
              </a:rPr>
              <a:t> D) 6 N·s</a:t>
            </a:r>
          </a:p>
          <a:p>
            <a:pPr algn="just">
              <a:lnSpc>
                <a:spcPts val="402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E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87278" y="505264"/>
            <a:ext cx="1557428" cy="2504636"/>
          </a:xfrm>
          <a:custGeom>
            <a:avLst/>
            <a:gdLst/>
            <a:ahLst/>
            <a:cxnLst/>
            <a:rect r="r" b="b" t="t" l="l"/>
            <a:pathLst>
              <a:path h="2504636" w="1557428">
                <a:moveTo>
                  <a:pt x="0" y="0"/>
                </a:moveTo>
                <a:lnTo>
                  <a:pt x="1557428" y="0"/>
                </a:lnTo>
                <a:lnTo>
                  <a:pt x="1557428" y="2504636"/>
                </a:lnTo>
                <a:lnTo>
                  <a:pt x="0" y="2504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47252">
            <a:off x="-595611" y="921152"/>
            <a:ext cx="3248622" cy="2805628"/>
          </a:xfrm>
          <a:custGeom>
            <a:avLst/>
            <a:gdLst/>
            <a:ahLst/>
            <a:cxnLst/>
            <a:rect r="r" b="b" t="t" l="l"/>
            <a:pathLst>
              <a:path h="2805628" w="3248622">
                <a:moveTo>
                  <a:pt x="0" y="0"/>
                </a:moveTo>
                <a:lnTo>
                  <a:pt x="3248622" y="0"/>
                </a:lnTo>
                <a:lnTo>
                  <a:pt x="3248622" y="2805628"/>
                </a:lnTo>
                <a:lnTo>
                  <a:pt x="0" y="280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20386" y="7207344"/>
            <a:ext cx="6712342" cy="3636869"/>
          </a:xfrm>
          <a:custGeom>
            <a:avLst/>
            <a:gdLst/>
            <a:ahLst/>
            <a:cxnLst/>
            <a:rect r="r" b="b" t="t" l="l"/>
            <a:pathLst>
              <a:path h="3636869" w="6712342">
                <a:moveTo>
                  <a:pt x="0" y="0"/>
                </a:moveTo>
                <a:lnTo>
                  <a:pt x="6712341" y="0"/>
                </a:lnTo>
                <a:lnTo>
                  <a:pt x="6712341" y="3636868"/>
                </a:lnTo>
                <a:lnTo>
                  <a:pt x="0" y="363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0611" y="6372225"/>
            <a:ext cx="4628098" cy="4114800"/>
          </a:xfrm>
          <a:custGeom>
            <a:avLst/>
            <a:gdLst/>
            <a:ahLst/>
            <a:cxnLst/>
            <a:rect r="r" b="b" t="t" l="l"/>
            <a:pathLst>
              <a:path h="4114800" w="4628098">
                <a:moveTo>
                  <a:pt x="0" y="0"/>
                </a:moveTo>
                <a:lnTo>
                  <a:pt x="4628099" y="0"/>
                </a:lnTo>
                <a:lnTo>
                  <a:pt x="4628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74745" y="3234888"/>
            <a:ext cx="3169111" cy="2506479"/>
          </a:xfrm>
          <a:custGeom>
            <a:avLst/>
            <a:gdLst/>
            <a:ahLst/>
            <a:cxnLst/>
            <a:rect r="r" b="b" t="t" l="l"/>
            <a:pathLst>
              <a:path h="2506479" w="3169111">
                <a:moveTo>
                  <a:pt x="3169110" y="0"/>
                </a:moveTo>
                <a:lnTo>
                  <a:pt x="0" y="0"/>
                </a:lnTo>
                <a:lnTo>
                  <a:pt x="0" y="2506479"/>
                </a:lnTo>
                <a:lnTo>
                  <a:pt x="3169110" y="2506479"/>
                </a:lnTo>
                <a:lnTo>
                  <a:pt x="316911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49680">
            <a:off x="263009" y="5775709"/>
            <a:ext cx="2222299" cy="866370"/>
          </a:xfrm>
          <a:custGeom>
            <a:avLst/>
            <a:gdLst/>
            <a:ahLst/>
            <a:cxnLst/>
            <a:rect r="r" b="b" t="t" l="l"/>
            <a:pathLst>
              <a:path h="866370" w="2222299">
                <a:moveTo>
                  <a:pt x="0" y="0"/>
                </a:moveTo>
                <a:lnTo>
                  <a:pt x="2222299" y="0"/>
                </a:lnTo>
                <a:lnTo>
                  <a:pt x="2222299" y="866370"/>
                </a:lnTo>
                <a:lnTo>
                  <a:pt x="0" y="8663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19921" y="8335000"/>
            <a:ext cx="2560421" cy="2509213"/>
          </a:xfrm>
          <a:custGeom>
            <a:avLst/>
            <a:gdLst/>
            <a:ahLst/>
            <a:cxnLst/>
            <a:rect r="r" b="b" t="t" l="l"/>
            <a:pathLst>
              <a:path h="2509213" w="2560421">
                <a:moveTo>
                  <a:pt x="0" y="0"/>
                </a:moveTo>
                <a:lnTo>
                  <a:pt x="2560421" y="0"/>
                </a:lnTo>
                <a:lnTo>
                  <a:pt x="2560421" y="2509212"/>
                </a:lnTo>
                <a:lnTo>
                  <a:pt x="0" y="25092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35784" y="307998"/>
            <a:ext cx="2215378" cy="918375"/>
          </a:xfrm>
          <a:custGeom>
            <a:avLst/>
            <a:gdLst/>
            <a:ahLst/>
            <a:cxnLst/>
            <a:rect r="r" b="b" t="t" l="l"/>
            <a:pathLst>
              <a:path h="918375" w="2215378">
                <a:moveTo>
                  <a:pt x="0" y="0"/>
                </a:moveTo>
                <a:lnTo>
                  <a:pt x="2215378" y="0"/>
                </a:lnTo>
                <a:lnTo>
                  <a:pt x="2215378" y="918375"/>
                </a:lnTo>
                <a:lnTo>
                  <a:pt x="0" y="9183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30100" y="-589201"/>
            <a:ext cx="2712773" cy="2712773"/>
          </a:xfrm>
          <a:custGeom>
            <a:avLst/>
            <a:gdLst/>
            <a:ahLst/>
            <a:cxnLst/>
            <a:rect r="r" b="b" t="t" l="l"/>
            <a:pathLst>
              <a:path h="2712773" w="2712773">
                <a:moveTo>
                  <a:pt x="0" y="0"/>
                </a:moveTo>
                <a:lnTo>
                  <a:pt x="2712773" y="0"/>
                </a:lnTo>
                <a:lnTo>
                  <a:pt x="2712773" y="2712773"/>
                </a:lnTo>
                <a:lnTo>
                  <a:pt x="0" y="27127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19238" y="3448880"/>
            <a:ext cx="11849524" cy="378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21"/>
              </a:lnSpc>
            </a:pPr>
            <a:r>
              <a:rPr lang="en-US" b="true" sz="15507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THANK</a:t>
            </a:r>
          </a:p>
          <a:p>
            <a:pPr algn="ctr">
              <a:lnSpc>
                <a:spcPts val="14421"/>
              </a:lnSpc>
            </a:pPr>
            <a:r>
              <a:rPr lang="en-US" b="true" sz="15507">
                <a:solidFill>
                  <a:srgbClr val="071353"/>
                </a:solidFill>
                <a:latin typeface="Saira Heavy"/>
                <a:ea typeface="Saira Heavy"/>
                <a:cs typeface="Saira Heavy"/>
                <a:sym typeface="Saira Heavy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DAG5_SuY5BQ</dc:identifier>
  <dcterms:modified xsi:type="dcterms:W3CDTF">2011-08-01T06:04:30Z</dcterms:modified>
  <cp:revision>1</cp:revision>
  <dc:title>Blue Purple Minimalist Force and Motion Group Project Presentation</dc:title>
</cp:coreProperties>
</file>