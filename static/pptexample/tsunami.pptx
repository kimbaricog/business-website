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Lst>
  <p:sldSz cx="18288000" cy="10287000"/>
  <p:notesSz cx="6858000" cy="9144000"/>
  <p:embeddedFontLst>
    <p:embeddedFont>
      <p:font typeface="Anton" panose="020F0502020204030204" pitchFamily="2" charset="0"/>
      <p:regular r:id="rId11"/>
    </p:embeddedFont>
    <p:embeddedFont>
      <p:font typeface="DM Sans Bold" panose="020B0604020202020204" charset="0"/>
      <p:regular r:id="rId1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51" d="100"/>
          <a:sy n="51" d="100"/>
        </p:scale>
        <p:origin x="898" y="43"/>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2.fntdata"/><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1.fntdata"/><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im Baricog" userId="78670a054da3b147" providerId="LiveId" clId="{63F9AD82-2B02-4E52-8A93-4318F2794EF3}"/>
    <pc:docChg chg="modSld">
      <pc:chgData name="Kim Baricog" userId="78670a054da3b147" providerId="LiveId" clId="{63F9AD82-2B02-4E52-8A93-4318F2794EF3}" dt="2025-11-18T02:12:15.900" v="0" actId="20577"/>
      <pc:docMkLst>
        <pc:docMk/>
      </pc:docMkLst>
      <pc:sldChg chg="modSp mod">
        <pc:chgData name="Kim Baricog" userId="78670a054da3b147" providerId="LiveId" clId="{63F9AD82-2B02-4E52-8A93-4318F2794EF3}" dt="2025-11-18T02:12:15.900" v="0" actId="20577"/>
        <pc:sldMkLst>
          <pc:docMk/>
          <pc:sldMk cId="0" sldId="256"/>
        </pc:sldMkLst>
        <pc:spChg chg="mod">
          <ac:chgData name="Kim Baricog" userId="78670a054da3b147" providerId="LiveId" clId="{63F9AD82-2B02-4E52-8A93-4318F2794EF3}" dt="2025-11-18T02:12:15.900" v="0" actId="20577"/>
          <ac:spMkLst>
            <pc:docMk/>
            <pc:sldMk cId="0" sldId="256"/>
            <ac:spMk id="7" creationId="{00000000-0000-0000-0000-000000000000}"/>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11/26/2025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11/26/2025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11/26/2025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11/26/2025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11/26/2025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11/26/2025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11/26/2025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11/26/2025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image" Target="../media/image10.svg"/><Relationship Id="rId5" Type="http://schemas.openxmlformats.org/officeDocument/2006/relationships/image" Target="../media/image4.sv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svg"/></Relationships>
</file>

<file path=ppt/slides/_rels/slide2.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svg"/><Relationship Id="rId7" Type="http://schemas.openxmlformats.org/officeDocument/2006/relationships/image" Target="../media/image8.sv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7.png"/><Relationship Id="rId11" Type="http://schemas.openxmlformats.org/officeDocument/2006/relationships/image" Target="../media/image12.svg"/><Relationship Id="rId5" Type="http://schemas.openxmlformats.org/officeDocument/2006/relationships/image" Target="../media/image6.svg"/><Relationship Id="rId10" Type="http://schemas.openxmlformats.org/officeDocument/2006/relationships/image" Target="../media/image11.png"/><Relationship Id="rId4" Type="http://schemas.openxmlformats.org/officeDocument/2006/relationships/image" Target="../media/image5.png"/><Relationship Id="rId9" Type="http://schemas.openxmlformats.org/officeDocument/2006/relationships/image" Target="../media/image10.svg"/></Relationships>
</file>

<file path=ppt/slides/_rels/slide3.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svg"/><Relationship Id="rId7" Type="http://schemas.openxmlformats.org/officeDocument/2006/relationships/image" Target="../media/image8.sv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7.png"/><Relationship Id="rId11" Type="http://schemas.openxmlformats.org/officeDocument/2006/relationships/image" Target="../media/image12.svg"/><Relationship Id="rId5" Type="http://schemas.openxmlformats.org/officeDocument/2006/relationships/image" Target="../media/image6.svg"/><Relationship Id="rId10" Type="http://schemas.openxmlformats.org/officeDocument/2006/relationships/image" Target="../media/image11.png"/><Relationship Id="rId4" Type="http://schemas.openxmlformats.org/officeDocument/2006/relationships/image" Target="../media/image5.png"/><Relationship Id="rId9" Type="http://schemas.openxmlformats.org/officeDocument/2006/relationships/image" Target="../media/image10.svg"/></Relationships>
</file>

<file path=ppt/slides/_rels/slide4.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svg"/><Relationship Id="rId7" Type="http://schemas.openxmlformats.org/officeDocument/2006/relationships/image" Target="../media/image8.sv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5.png"/><Relationship Id="rId9" Type="http://schemas.openxmlformats.org/officeDocument/2006/relationships/image" Target="../media/image10.svg"/></Relationships>
</file>

<file path=ppt/slides/_rels/slide5.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svg"/><Relationship Id="rId7" Type="http://schemas.openxmlformats.org/officeDocument/2006/relationships/image" Target="../media/image8.sv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5.png"/><Relationship Id="rId9" Type="http://schemas.openxmlformats.org/officeDocument/2006/relationships/image" Target="../media/image10.svg"/></Relationships>
</file>

<file path=ppt/slides/_rels/slide6.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10.svg"/><Relationship Id="rId7" Type="http://schemas.openxmlformats.org/officeDocument/2006/relationships/image" Target="../media/image4.svg"/><Relationship Id="rId2" Type="http://schemas.openxmlformats.org/officeDocument/2006/relationships/image" Target="../media/image9.png"/><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image" Target="../media/image14.svg"/><Relationship Id="rId4" Type="http://schemas.openxmlformats.org/officeDocument/2006/relationships/image" Target="../media/image13.png"/><Relationship Id="rId9" Type="http://schemas.openxmlformats.org/officeDocument/2006/relationships/image" Target="../media/image8.svg"/></Relationships>
</file>

<file path=ppt/slides/_rels/slide7.xml.rels><?xml version="1.0" encoding="UTF-8" standalone="yes"?>
<Relationships xmlns="http://schemas.openxmlformats.org/package/2006/relationships"><Relationship Id="rId8" Type="http://schemas.openxmlformats.org/officeDocument/2006/relationships/image" Target="../media/image15.jpeg"/><Relationship Id="rId3" Type="http://schemas.openxmlformats.org/officeDocument/2006/relationships/image" Target="../media/image4.svg"/><Relationship Id="rId7" Type="http://schemas.openxmlformats.org/officeDocument/2006/relationships/image" Target="../media/image10.sv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8.sv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svg"/><Relationship Id="rId7" Type="http://schemas.openxmlformats.org/officeDocument/2006/relationships/image" Target="../media/image8.sv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5.png"/><Relationship Id="rId9" Type="http://schemas.openxmlformats.org/officeDocument/2006/relationships/image" Target="../media/image10.svg"/></Relationships>
</file>

<file path=ppt/slides/_rels/slide9.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svg"/><Relationship Id="rId7" Type="http://schemas.openxmlformats.org/officeDocument/2006/relationships/image" Target="../media/image8.sv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5.png"/><Relationship Id="rId9" Type="http://schemas.openxmlformats.org/officeDocument/2006/relationships/image" Target="../media/image10.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E6E2CF"/>
        </a:solidFill>
        <a:effectLst/>
      </p:bgPr>
    </p:bg>
    <p:spTree>
      <p:nvGrpSpPr>
        <p:cNvPr id="1" name=""/>
        <p:cNvGrpSpPr/>
        <p:nvPr/>
      </p:nvGrpSpPr>
      <p:grpSpPr>
        <a:xfrm>
          <a:off x="0" y="0"/>
          <a:ext cx="0" cy="0"/>
          <a:chOff x="0" y="0"/>
          <a:chExt cx="0" cy="0"/>
        </a:xfrm>
      </p:grpSpPr>
      <p:sp>
        <p:nvSpPr>
          <p:cNvPr id="2" name="Freeform 2"/>
          <p:cNvSpPr/>
          <p:nvPr/>
        </p:nvSpPr>
        <p:spPr>
          <a:xfrm>
            <a:off x="535302" y="1762680"/>
            <a:ext cx="11556840" cy="6550468"/>
          </a:xfrm>
          <a:custGeom>
            <a:avLst/>
            <a:gdLst/>
            <a:ahLst/>
            <a:cxnLst/>
            <a:rect l="l" t="t" r="r" b="b"/>
            <a:pathLst>
              <a:path w="11556840" h="6550468">
                <a:moveTo>
                  <a:pt x="0" y="0"/>
                </a:moveTo>
                <a:lnTo>
                  <a:pt x="11556841" y="0"/>
                </a:lnTo>
                <a:lnTo>
                  <a:pt x="11556841" y="6550467"/>
                </a:lnTo>
                <a:lnTo>
                  <a:pt x="0" y="655046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 name="Group 3"/>
          <p:cNvGrpSpPr/>
          <p:nvPr/>
        </p:nvGrpSpPr>
        <p:grpSpPr>
          <a:xfrm>
            <a:off x="8394639" y="2168663"/>
            <a:ext cx="9267313" cy="5949674"/>
            <a:chOff x="0" y="0"/>
            <a:chExt cx="2440774" cy="1566992"/>
          </a:xfrm>
        </p:grpSpPr>
        <p:sp>
          <p:nvSpPr>
            <p:cNvPr id="4" name="Freeform 4"/>
            <p:cNvSpPr/>
            <p:nvPr/>
          </p:nvSpPr>
          <p:spPr>
            <a:xfrm>
              <a:off x="0" y="0"/>
              <a:ext cx="2440774" cy="1566992"/>
            </a:xfrm>
            <a:custGeom>
              <a:avLst/>
              <a:gdLst/>
              <a:ahLst/>
              <a:cxnLst/>
              <a:rect l="l" t="t" r="r" b="b"/>
              <a:pathLst>
                <a:path w="2440774" h="1566992">
                  <a:moveTo>
                    <a:pt x="37593" y="0"/>
                  </a:moveTo>
                  <a:lnTo>
                    <a:pt x="2403181" y="0"/>
                  </a:lnTo>
                  <a:cubicBezTo>
                    <a:pt x="2413151" y="0"/>
                    <a:pt x="2422713" y="3961"/>
                    <a:pt x="2429763" y="11011"/>
                  </a:cubicBezTo>
                  <a:cubicBezTo>
                    <a:pt x="2436813" y="18061"/>
                    <a:pt x="2440774" y="27623"/>
                    <a:pt x="2440774" y="37593"/>
                  </a:cubicBezTo>
                  <a:lnTo>
                    <a:pt x="2440774" y="1529399"/>
                  </a:lnTo>
                  <a:cubicBezTo>
                    <a:pt x="2440774" y="1539370"/>
                    <a:pt x="2436813" y="1548931"/>
                    <a:pt x="2429763" y="1555981"/>
                  </a:cubicBezTo>
                  <a:cubicBezTo>
                    <a:pt x="2422713" y="1563032"/>
                    <a:pt x="2413151" y="1566992"/>
                    <a:pt x="2403181" y="1566992"/>
                  </a:cubicBezTo>
                  <a:lnTo>
                    <a:pt x="37593" y="1566992"/>
                  </a:lnTo>
                  <a:cubicBezTo>
                    <a:pt x="27623" y="1566992"/>
                    <a:pt x="18061" y="1563032"/>
                    <a:pt x="11011" y="1555981"/>
                  </a:cubicBezTo>
                  <a:cubicBezTo>
                    <a:pt x="3961" y="1548931"/>
                    <a:pt x="0" y="1539370"/>
                    <a:pt x="0" y="1529399"/>
                  </a:cubicBezTo>
                  <a:lnTo>
                    <a:pt x="0" y="37593"/>
                  </a:lnTo>
                  <a:cubicBezTo>
                    <a:pt x="0" y="27623"/>
                    <a:pt x="3961" y="18061"/>
                    <a:pt x="11011" y="11011"/>
                  </a:cubicBezTo>
                  <a:cubicBezTo>
                    <a:pt x="18061" y="3961"/>
                    <a:pt x="27623" y="0"/>
                    <a:pt x="37593" y="0"/>
                  </a:cubicBezTo>
                  <a:close/>
                </a:path>
              </a:pathLst>
            </a:custGeom>
            <a:solidFill>
              <a:srgbClr val="FFFFFF"/>
            </a:solidFill>
          </p:spPr>
        </p:sp>
        <p:sp>
          <p:nvSpPr>
            <p:cNvPr id="5" name="TextBox 5"/>
            <p:cNvSpPr txBox="1"/>
            <p:nvPr/>
          </p:nvSpPr>
          <p:spPr>
            <a:xfrm>
              <a:off x="0" y="-38100"/>
              <a:ext cx="2440774" cy="1605092"/>
            </a:xfrm>
            <a:prstGeom prst="rect">
              <a:avLst/>
            </a:prstGeom>
          </p:spPr>
          <p:txBody>
            <a:bodyPr lIns="50800" tIns="50800" rIns="50800" bIns="50800" rtlCol="0" anchor="ctr"/>
            <a:lstStyle/>
            <a:p>
              <a:pPr algn="ctr">
                <a:lnSpc>
                  <a:spcPts val="2659"/>
                </a:lnSpc>
                <a:spcBef>
                  <a:spcPct val="0"/>
                </a:spcBef>
              </a:pPr>
              <a:endParaRPr/>
            </a:p>
          </p:txBody>
        </p:sp>
      </p:grpSp>
      <p:sp>
        <p:nvSpPr>
          <p:cNvPr id="6" name="Freeform 6"/>
          <p:cNvSpPr/>
          <p:nvPr/>
        </p:nvSpPr>
        <p:spPr>
          <a:xfrm>
            <a:off x="-462592" y="7462084"/>
            <a:ext cx="19213183" cy="6497549"/>
          </a:xfrm>
          <a:custGeom>
            <a:avLst/>
            <a:gdLst/>
            <a:ahLst/>
            <a:cxnLst/>
            <a:rect l="l" t="t" r="r" b="b"/>
            <a:pathLst>
              <a:path w="19213183" h="6497549">
                <a:moveTo>
                  <a:pt x="0" y="0"/>
                </a:moveTo>
                <a:lnTo>
                  <a:pt x="19213184" y="0"/>
                </a:lnTo>
                <a:lnTo>
                  <a:pt x="19213184" y="6497549"/>
                </a:lnTo>
                <a:lnTo>
                  <a:pt x="0" y="649754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7" name="Freeform 7"/>
          <p:cNvSpPr/>
          <p:nvPr/>
        </p:nvSpPr>
        <p:spPr>
          <a:xfrm flipH="1">
            <a:off x="-462592" y="-2021773"/>
            <a:ext cx="8857230" cy="3784453"/>
          </a:xfrm>
          <a:custGeom>
            <a:avLst/>
            <a:gdLst/>
            <a:ahLst/>
            <a:cxnLst/>
            <a:rect l="l" t="t" r="r" b="b"/>
            <a:pathLst>
              <a:path w="8857230" h="3784453">
                <a:moveTo>
                  <a:pt x="8857231" y="0"/>
                </a:moveTo>
                <a:lnTo>
                  <a:pt x="0" y="0"/>
                </a:lnTo>
                <a:lnTo>
                  <a:pt x="0" y="3784453"/>
                </a:lnTo>
                <a:lnTo>
                  <a:pt x="8857231" y="3784453"/>
                </a:lnTo>
                <a:lnTo>
                  <a:pt x="8857231" y="0"/>
                </a:lnTo>
                <a:close/>
              </a:path>
            </a:pathLst>
          </a:custGeom>
          <a:blipFill>
            <a:blip r:embed="rId6">
              <a:extLst>
                <a:ext uri="{96DAC541-7B7A-43D3-8B79-37D633B846F1}">
                  <asvg:svgBlip xmlns:asvg="http://schemas.microsoft.com/office/drawing/2016/SVG/main" r:embed="rId7"/>
                </a:ext>
              </a:extLst>
            </a:blip>
            <a:stretch>
              <a:fillRect/>
            </a:stretch>
          </a:blipFill>
          <a:ln cap="sq">
            <a:noFill/>
            <a:prstDash val="solid"/>
            <a:miter/>
          </a:ln>
        </p:spPr>
        <p:txBody>
          <a:bodyPr/>
          <a:lstStyle/>
          <a:p>
            <a:endParaRPr lang="en-PH" dirty="0"/>
          </a:p>
        </p:txBody>
      </p:sp>
      <p:sp>
        <p:nvSpPr>
          <p:cNvPr id="8" name="TextBox 8"/>
          <p:cNvSpPr txBox="1"/>
          <p:nvPr/>
        </p:nvSpPr>
        <p:spPr>
          <a:xfrm>
            <a:off x="8540836" y="2528165"/>
            <a:ext cx="8256990" cy="5230671"/>
          </a:xfrm>
          <a:prstGeom prst="rect">
            <a:avLst/>
          </a:prstGeom>
        </p:spPr>
        <p:txBody>
          <a:bodyPr lIns="0" tIns="0" rIns="0" bIns="0" rtlCol="0" anchor="t">
            <a:spAutoFit/>
          </a:bodyPr>
          <a:lstStyle/>
          <a:p>
            <a:pPr algn="l">
              <a:lnSpc>
                <a:spcPts val="10311"/>
              </a:lnSpc>
            </a:pPr>
            <a:r>
              <a:rPr lang="en-US" sz="8592">
                <a:solidFill>
                  <a:srgbClr val="A56C53"/>
                </a:solidFill>
                <a:latin typeface="Anton"/>
                <a:ea typeface="Anton"/>
                <a:cs typeface="Anton"/>
                <a:sym typeface="Anton"/>
              </a:rPr>
              <a:t>RECOGNIZING THE NATURAL SIGNS OF AN IMPENDING TSUNAMI</a:t>
            </a:r>
          </a:p>
        </p:txBody>
      </p:sp>
      <p:sp>
        <p:nvSpPr>
          <p:cNvPr id="9" name="Freeform 9"/>
          <p:cNvSpPr/>
          <p:nvPr/>
        </p:nvSpPr>
        <p:spPr>
          <a:xfrm>
            <a:off x="6951317" y="846055"/>
            <a:ext cx="2886644" cy="1322608"/>
          </a:xfrm>
          <a:custGeom>
            <a:avLst/>
            <a:gdLst/>
            <a:ahLst/>
            <a:cxnLst/>
            <a:rect l="l" t="t" r="r" b="b"/>
            <a:pathLst>
              <a:path w="2886644" h="1322608">
                <a:moveTo>
                  <a:pt x="0" y="0"/>
                </a:moveTo>
                <a:lnTo>
                  <a:pt x="2886644" y="0"/>
                </a:lnTo>
                <a:lnTo>
                  <a:pt x="2886644" y="1322608"/>
                </a:lnTo>
                <a:lnTo>
                  <a:pt x="0" y="1322608"/>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10" name="Freeform 10"/>
          <p:cNvSpPr/>
          <p:nvPr/>
        </p:nvSpPr>
        <p:spPr>
          <a:xfrm>
            <a:off x="16336351" y="1707189"/>
            <a:ext cx="922949" cy="922949"/>
          </a:xfrm>
          <a:custGeom>
            <a:avLst/>
            <a:gdLst/>
            <a:ahLst/>
            <a:cxnLst/>
            <a:rect l="l" t="t" r="r" b="b"/>
            <a:pathLst>
              <a:path w="922949" h="922949">
                <a:moveTo>
                  <a:pt x="0" y="0"/>
                </a:moveTo>
                <a:lnTo>
                  <a:pt x="922949" y="0"/>
                </a:lnTo>
                <a:lnTo>
                  <a:pt x="922949" y="922948"/>
                </a:lnTo>
                <a:lnTo>
                  <a:pt x="0" y="922948"/>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E6E2CF"/>
        </a:solidFill>
        <a:effectLst/>
      </p:bgPr>
    </p:bg>
    <p:spTree>
      <p:nvGrpSpPr>
        <p:cNvPr id="1" name=""/>
        <p:cNvGrpSpPr/>
        <p:nvPr/>
      </p:nvGrpSpPr>
      <p:grpSpPr>
        <a:xfrm>
          <a:off x="0" y="0"/>
          <a:ext cx="0" cy="0"/>
          <a:chOff x="0" y="0"/>
          <a:chExt cx="0" cy="0"/>
        </a:xfrm>
      </p:grpSpPr>
      <p:grpSp>
        <p:nvGrpSpPr>
          <p:cNvPr id="2" name="Group 2"/>
          <p:cNvGrpSpPr/>
          <p:nvPr/>
        </p:nvGrpSpPr>
        <p:grpSpPr>
          <a:xfrm>
            <a:off x="3014696" y="3302360"/>
            <a:ext cx="12258608" cy="5215021"/>
            <a:chOff x="0" y="0"/>
            <a:chExt cx="3228605" cy="1373504"/>
          </a:xfrm>
        </p:grpSpPr>
        <p:sp>
          <p:nvSpPr>
            <p:cNvPr id="3" name="Freeform 3"/>
            <p:cNvSpPr/>
            <p:nvPr/>
          </p:nvSpPr>
          <p:spPr>
            <a:xfrm>
              <a:off x="0" y="0"/>
              <a:ext cx="3228604" cy="1373504"/>
            </a:xfrm>
            <a:custGeom>
              <a:avLst/>
              <a:gdLst/>
              <a:ahLst/>
              <a:cxnLst/>
              <a:rect l="l" t="t" r="r" b="b"/>
              <a:pathLst>
                <a:path w="3228604" h="1373504">
                  <a:moveTo>
                    <a:pt x="28420" y="0"/>
                  </a:moveTo>
                  <a:lnTo>
                    <a:pt x="3200185" y="0"/>
                  </a:lnTo>
                  <a:cubicBezTo>
                    <a:pt x="3207722" y="0"/>
                    <a:pt x="3214951" y="2994"/>
                    <a:pt x="3220281" y="8324"/>
                  </a:cubicBezTo>
                  <a:cubicBezTo>
                    <a:pt x="3225610" y="13654"/>
                    <a:pt x="3228604" y="20882"/>
                    <a:pt x="3228604" y="28420"/>
                  </a:cubicBezTo>
                  <a:lnTo>
                    <a:pt x="3228604" y="1345084"/>
                  </a:lnTo>
                  <a:cubicBezTo>
                    <a:pt x="3228604" y="1360780"/>
                    <a:pt x="3215880" y="1373504"/>
                    <a:pt x="3200185" y="1373504"/>
                  </a:cubicBezTo>
                  <a:lnTo>
                    <a:pt x="28420" y="1373504"/>
                  </a:lnTo>
                  <a:cubicBezTo>
                    <a:pt x="20882" y="1373504"/>
                    <a:pt x="13654" y="1370509"/>
                    <a:pt x="8324" y="1365180"/>
                  </a:cubicBezTo>
                  <a:cubicBezTo>
                    <a:pt x="2994" y="1359850"/>
                    <a:pt x="0" y="1352621"/>
                    <a:pt x="0" y="1345084"/>
                  </a:cubicBezTo>
                  <a:lnTo>
                    <a:pt x="0" y="28420"/>
                  </a:lnTo>
                  <a:cubicBezTo>
                    <a:pt x="0" y="20882"/>
                    <a:pt x="2994" y="13654"/>
                    <a:pt x="8324" y="8324"/>
                  </a:cubicBezTo>
                  <a:cubicBezTo>
                    <a:pt x="13654" y="2994"/>
                    <a:pt x="20882" y="0"/>
                    <a:pt x="28420" y="0"/>
                  </a:cubicBezTo>
                  <a:close/>
                </a:path>
              </a:pathLst>
            </a:custGeom>
            <a:solidFill>
              <a:srgbClr val="FFFFFF"/>
            </a:solidFill>
          </p:spPr>
        </p:sp>
        <p:sp>
          <p:nvSpPr>
            <p:cNvPr id="4" name="TextBox 4"/>
            <p:cNvSpPr txBox="1"/>
            <p:nvPr/>
          </p:nvSpPr>
          <p:spPr>
            <a:xfrm>
              <a:off x="0" y="-38100"/>
              <a:ext cx="3228605" cy="1411604"/>
            </a:xfrm>
            <a:prstGeom prst="rect">
              <a:avLst/>
            </a:prstGeom>
          </p:spPr>
          <p:txBody>
            <a:bodyPr lIns="50800" tIns="50800" rIns="50800" bIns="50800" rtlCol="0" anchor="ctr"/>
            <a:lstStyle/>
            <a:p>
              <a:pPr algn="ctr">
                <a:lnSpc>
                  <a:spcPts val="2659"/>
                </a:lnSpc>
                <a:spcBef>
                  <a:spcPct val="0"/>
                </a:spcBef>
              </a:pPr>
              <a:endParaRPr/>
            </a:p>
          </p:txBody>
        </p:sp>
      </p:grpSp>
      <p:sp>
        <p:nvSpPr>
          <p:cNvPr id="5" name="Freeform 5"/>
          <p:cNvSpPr/>
          <p:nvPr/>
        </p:nvSpPr>
        <p:spPr>
          <a:xfrm>
            <a:off x="-462592" y="7462084"/>
            <a:ext cx="19213183" cy="6497549"/>
          </a:xfrm>
          <a:custGeom>
            <a:avLst/>
            <a:gdLst/>
            <a:ahLst/>
            <a:cxnLst/>
            <a:rect l="l" t="t" r="r" b="b"/>
            <a:pathLst>
              <a:path w="19213183" h="6497549">
                <a:moveTo>
                  <a:pt x="0" y="0"/>
                </a:moveTo>
                <a:lnTo>
                  <a:pt x="19213184" y="0"/>
                </a:lnTo>
                <a:lnTo>
                  <a:pt x="19213184" y="6497549"/>
                </a:lnTo>
                <a:lnTo>
                  <a:pt x="0" y="649754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6" name="TextBox 6"/>
          <p:cNvSpPr txBox="1"/>
          <p:nvPr/>
        </p:nvSpPr>
        <p:spPr>
          <a:xfrm>
            <a:off x="2285714" y="1428901"/>
            <a:ext cx="13716573" cy="1447800"/>
          </a:xfrm>
          <a:prstGeom prst="rect">
            <a:avLst/>
          </a:prstGeom>
        </p:spPr>
        <p:txBody>
          <a:bodyPr lIns="0" tIns="0" rIns="0" bIns="0" rtlCol="0" anchor="t">
            <a:spAutoFit/>
          </a:bodyPr>
          <a:lstStyle/>
          <a:p>
            <a:pPr algn="ctr">
              <a:lnSpc>
                <a:spcPts val="11400"/>
              </a:lnSpc>
            </a:pPr>
            <a:r>
              <a:rPr lang="en-US" sz="9500">
                <a:solidFill>
                  <a:srgbClr val="A56C53"/>
                </a:solidFill>
                <a:latin typeface="Anton"/>
                <a:ea typeface="Anton"/>
                <a:cs typeface="Anton"/>
                <a:sym typeface="Anton"/>
              </a:rPr>
              <a:t>WHAT IS A TSUNAMI?</a:t>
            </a:r>
          </a:p>
        </p:txBody>
      </p:sp>
      <p:sp>
        <p:nvSpPr>
          <p:cNvPr id="7" name="Freeform 7"/>
          <p:cNvSpPr/>
          <p:nvPr/>
        </p:nvSpPr>
        <p:spPr>
          <a:xfrm flipH="1">
            <a:off x="-4891207" y="-1892226"/>
            <a:ext cx="8857230" cy="3784453"/>
          </a:xfrm>
          <a:custGeom>
            <a:avLst/>
            <a:gdLst/>
            <a:ahLst/>
            <a:cxnLst/>
            <a:rect l="l" t="t" r="r" b="b"/>
            <a:pathLst>
              <a:path w="8857230" h="3784453">
                <a:moveTo>
                  <a:pt x="8857231" y="0"/>
                </a:moveTo>
                <a:lnTo>
                  <a:pt x="0" y="0"/>
                </a:lnTo>
                <a:lnTo>
                  <a:pt x="0" y="3784452"/>
                </a:lnTo>
                <a:lnTo>
                  <a:pt x="8857231" y="3784452"/>
                </a:lnTo>
                <a:lnTo>
                  <a:pt x="8857231" y="0"/>
                </a:lnTo>
                <a:close/>
              </a:path>
            </a:pathLst>
          </a:custGeom>
          <a:blipFill>
            <a:blip r:embed="rId4">
              <a:extLst>
                <a:ext uri="{96DAC541-7B7A-43D3-8B79-37D633B846F1}">
                  <asvg:svgBlip xmlns:asvg="http://schemas.microsoft.com/office/drawing/2016/SVG/main" r:embed="rId5"/>
                </a:ext>
              </a:extLst>
            </a:blip>
            <a:stretch>
              <a:fillRect/>
            </a:stretch>
          </a:blipFill>
          <a:ln cap="sq">
            <a:noFill/>
            <a:prstDash val="solid"/>
            <a:miter/>
          </a:ln>
        </p:spPr>
      </p:sp>
      <p:sp>
        <p:nvSpPr>
          <p:cNvPr id="8" name="Freeform 8"/>
          <p:cNvSpPr/>
          <p:nvPr/>
        </p:nvSpPr>
        <p:spPr>
          <a:xfrm>
            <a:off x="14321976" y="-1892226"/>
            <a:ext cx="8857230" cy="3784453"/>
          </a:xfrm>
          <a:custGeom>
            <a:avLst/>
            <a:gdLst/>
            <a:ahLst/>
            <a:cxnLst/>
            <a:rect l="l" t="t" r="r" b="b"/>
            <a:pathLst>
              <a:path w="8857230" h="3784453">
                <a:moveTo>
                  <a:pt x="0" y="0"/>
                </a:moveTo>
                <a:lnTo>
                  <a:pt x="8857231" y="0"/>
                </a:lnTo>
                <a:lnTo>
                  <a:pt x="8857231" y="3784452"/>
                </a:lnTo>
                <a:lnTo>
                  <a:pt x="0" y="3784452"/>
                </a:lnTo>
                <a:lnTo>
                  <a:pt x="0" y="0"/>
                </a:lnTo>
                <a:close/>
              </a:path>
            </a:pathLst>
          </a:custGeom>
          <a:blipFill>
            <a:blip r:embed="rId4">
              <a:extLst>
                <a:ext uri="{96DAC541-7B7A-43D3-8B79-37D633B846F1}">
                  <asvg:svgBlip xmlns:asvg="http://schemas.microsoft.com/office/drawing/2016/SVG/main" r:embed="rId5"/>
                </a:ext>
              </a:extLst>
            </a:blip>
            <a:stretch>
              <a:fillRect/>
            </a:stretch>
          </a:blipFill>
          <a:ln cap="sq">
            <a:noFill/>
            <a:prstDash val="solid"/>
            <a:miter/>
          </a:ln>
        </p:spPr>
      </p:sp>
      <p:sp>
        <p:nvSpPr>
          <p:cNvPr id="9" name="TextBox 9"/>
          <p:cNvSpPr txBox="1"/>
          <p:nvPr/>
        </p:nvSpPr>
        <p:spPr>
          <a:xfrm>
            <a:off x="4092090" y="3809609"/>
            <a:ext cx="10635565" cy="4200525"/>
          </a:xfrm>
          <a:prstGeom prst="rect">
            <a:avLst/>
          </a:prstGeom>
        </p:spPr>
        <p:txBody>
          <a:bodyPr lIns="0" tIns="0" rIns="0" bIns="0" rtlCol="0" anchor="t">
            <a:spAutoFit/>
          </a:bodyPr>
          <a:lstStyle/>
          <a:p>
            <a:pPr algn="l">
              <a:lnSpc>
                <a:spcPts val="3678"/>
              </a:lnSpc>
            </a:pPr>
            <a:r>
              <a:rPr lang="en-US" sz="3065" b="1">
                <a:solidFill>
                  <a:srgbClr val="434F1A"/>
                </a:solidFill>
                <a:latin typeface="DM Sans Bold"/>
                <a:ea typeface="DM Sans Bold"/>
                <a:cs typeface="DM Sans Bold"/>
                <a:sym typeface="DM Sans Bold"/>
              </a:rPr>
              <a:t>A tsunami is basically a series of very large ocean waves caused by something that suddenly moves a huge amount of water. Most of the time, it’s triggered by:</a:t>
            </a:r>
          </a:p>
          <a:p>
            <a:pPr algn="just">
              <a:lnSpc>
                <a:spcPts val="3678"/>
              </a:lnSpc>
            </a:pPr>
            <a:endParaRPr lang="en-US" sz="3065" b="1">
              <a:solidFill>
                <a:srgbClr val="434F1A"/>
              </a:solidFill>
              <a:latin typeface="DM Sans Bold"/>
              <a:ea typeface="DM Sans Bold"/>
              <a:cs typeface="DM Sans Bold"/>
              <a:sym typeface="DM Sans Bold"/>
            </a:endParaRPr>
          </a:p>
          <a:p>
            <a:pPr marL="661789" lvl="1" indent="-330895" algn="l">
              <a:lnSpc>
                <a:spcPts val="3678"/>
              </a:lnSpc>
              <a:buFont typeface="Arial"/>
              <a:buChar char="•"/>
            </a:pPr>
            <a:r>
              <a:rPr lang="en-US" sz="3065" b="1">
                <a:solidFill>
                  <a:srgbClr val="434F1A"/>
                </a:solidFill>
                <a:latin typeface="DM Sans Bold"/>
                <a:ea typeface="DM Sans Bold"/>
                <a:cs typeface="DM Sans Bold"/>
                <a:sym typeface="DM Sans Bold"/>
              </a:rPr>
              <a:t>Underwater earthquakes (the most common cause)</a:t>
            </a:r>
          </a:p>
          <a:p>
            <a:pPr marL="661789" lvl="1" indent="-330895" algn="l">
              <a:lnSpc>
                <a:spcPts val="3678"/>
              </a:lnSpc>
              <a:buFont typeface="Arial"/>
              <a:buChar char="•"/>
            </a:pPr>
            <a:r>
              <a:rPr lang="en-US" sz="3065" b="1">
                <a:solidFill>
                  <a:srgbClr val="434F1A"/>
                </a:solidFill>
                <a:latin typeface="DM Sans Bold"/>
                <a:ea typeface="DM Sans Bold"/>
                <a:cs typeface="DM Sans Bold"/>
                <a:sym typeface="DM Sans Bold"/>
              </a:rPr>
              <a:t>Volcanic eruptions</a:t>
            </a:r>
          </a:p>
          <a:p>
            <a:pPr marL="661789" lvl="1" indent="-330895" algn="l">
              <a:lnSpc>
                <a:spcPts val="3678"/>
              </a:lnSpc>
              <a:buFont typeface="Arial"/>
              <a:buChar char="•"/>
            </a:pPr>
            <a:r>
              <a:rPr lang="en-US" sz="3065" b="1">
                <a:solidFill>
                  <a:srgbClr val="434F1A"/>
                </a:solidFill>
                <a:latin typeface="DM Sans Bold"/>
                <a:ea typeface="DM Sans Bold"/>
                <a:cs typeface="DM Sans Bold"/>
                <a:sym typeface="DM Sans Bold"/>
              </a:rPr>
              <a:t>Landslides under the ocean or along coasts</a:t>
            </a:r>
          </a:p>
          <a:p>
            <a:pPr marL="661789" lvl="1" indent="-330895" algn="l">
              <a:lnSpc>
                <a:spcPts val="3678"/>
              </a:lnSpc>
              <a:buFont typeface="Arial"/>
              <a:buChar char="•"/>
            </a:pPr>
            <a:r>
              <a:rPr lang="en-US" sz="3065" b="1">
                <a:solidFill>
                  <a:srgbClr val="434F1A"/>
                </a:solidFill>
                <a:latin typeface="DM Sans Bold"/>
                <a:ea typeface="DM Sans Bold"/>
                <a:cs typeface="DM Sans Bold"/>
                <a:sym typeface="DM Sans Bold"/>
              </a:rPr>
              <a:t>Meteorite impacts (super rare)</a:t>
            </a:r>
          </a:p>
          <a:p>
            <a:pPr algn="just">
              <a:lnSpc>
                <a:spcPts val="3678"/>
              </a:lnSpc>
            </a:pPr>
            <a:endParaRPr lang="en-US" sz="3065" b="1">
              <a:solidFill>
                <a:srgbClr val="434F1A"/>
              </a:solidFill>
              <a:latin typeface="DM Sans Bold"/>
              <a:ea typeface="DM Sans Bold"/>
              <a:cs typeface="DM Sans Bold"/>
              <a:sym typeface="DM Sans Bold"/>
            </a:endParaRPr>
          </a:p>
        </p:txBody>
      </p:sp>
      <p:sp>
        <p:nvSpPr>
          <p:cNvPr id="10" name="Freeform 10"/>
          <p:cNvSpPr/>
          <p:nvPr/>
        </p:nvSpPr>
        <p:spPr>
          <a:xfrm>
            <a:off x="16530203" y="4224720"/>
            <a:ext cx="2886644" cy="1322608"/>
          </a:xfrm>
          <a:custGeom>
            <a:avLst/>
            <a:gdLst/>
            <a:ahLst/>
            <a:cxnLst/>
            <a:rect l="l" t="t" r="r" b="b"/>
            <a:pathLst>
              <a:path w="2886644" h="1322608">
                <a:moveTo>
                  <a:pt x="0" y="0"/>
                </a:moveTo>
                <a:lnTo>
                  <a:pt x="2886644" y="0"/>
                </a:lnTo>
                <a:lnTo>
                  <a:pt x="2886644" y="1322608"/>
                </a:lnTo>
                <a:lnTo>
                  <a:pt x="0" y="1322608"/>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1" name="Freeform 11"/>
          <p:cNvSpPr/>
          <p:nvPr/>
        </p:nvSpPr>
        <p:spPr>
          <a:xfrm flipH="1">
            <a:off x="-1128847" y="4224720"/>
            <a:ext cx="2886644" cy="1322608"/>
          </a:xfrm>
          <a:custGeom>
            <a:avLst/>
            <a:gdLst/>
            <a:ahLst/>
            <a:cxnLst/>
            <a:rect l="l" t="t" r="r" b="b"/>
            <a:pathLst>
              <a:path w="2886644" h="1322608">
                <a:moveTo>
                  <a:pt x="2886644" y="0"/>
                </a:moveTo>
                <a:lnTo>
                  <a:pt x="0" y="0"/>
                </a:lnTo>
                <a:lnTo>
                  <a:pt x="0" y="1322608"/>
                </a:lnTo>
                <a:lnTo>
                  <a:pt x="2886644" y="1322608"/>
                </a:lnTo>
                <a:lnTo>
                  <a:pt x="2886644"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2" name="Freeform 12"/>
          <p:cNvSpPr/>
          <p:nvPr/>
        </p:nvSpPr>
        <p:spPr>
          <a:xfrm>
            <a:off x="1575498" y="1679324"/>
            <a:ext cx="946954" cy="946954"/>
          </a:xfrm>
          <a:custGeom>
            <a:avLst/>
            <a:gdLst/>
            <a:ahLst/>
            <a:cxnLst/>
            <a:rect l="l" t="t" r="r" b="b"/>
            <a:pathLst>
              <a:path w="946954" h="946954">
                <a:moveTo>
                  <a:pt x="0" y="0"/>
                </a:moveTo>
                <a:lnTo>
                  <a:pt x="946954" y="0"/>
                </a:lnTo>
                <a:lnTo>
                  <a:pt x="946954" y="946955"/>
                </a:lnTo>
                <a:lnTo>
                  <a:pt x="0" y="946955"/>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13" name="Freeform 13"/>
          <p:cNvSpPr/>
          <p:nvPr/>
        </p:nvSpPr>
        <p:spPr>
          <a:xfrm>
            <a:off x="15765548" y="1679324"/>
            <a:ext cx="946954" cy="946954"/>
          </a:xfrm>
          <a:custGeom>
            <a:avLst/>
            <a:gdLst/>
            <a:ahLst/>
            <a:cxnLst/>
            <a:rect l="l" t="t" r="r" b="b"/>
            <a:pathLst>
              <a:path w="946954" h="946954">
                <a:moveTo>
                  <a:pt x="0" y="0"/>
                </a:moveTo>
                <a:lnTo>
                  <a:pt x="946954" y="0"/>
                </a:lnTo>
                <a:lnTo>
                  <a:pt x="946954" y="946955"/>
                </a:lnTo>
                <a:lnTo>
                  <a:pt x="0" y="946955"/>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E6E2CF"/>
        </a:solidFill>
        <a:effectLst/>
      </p:bgPr>
    </p:bg>
    <p:spTree>
      <p:nvGrpSpPr>
        <p:cNvPr id="1" name=""/>
        <p:cNvGrpSpPr/>
        <p:nvPr/>
      </p:nvGrpSpPr>
      <p:grpSpPr>
        <a:xfrm>
          <a:off x="0" y="0"/>
          <a:ext cx="0" cy="0"/>
          <a:chOff x="0" y="0"/>
          <a:chExt cx="0" cy="0"/>
        </a:xfrm>
      </p:grpSpPr>
      <p:grpSp>
        <p:nvGrpSpPr>
          <p:cNvPr id="2" name="Group 2"/>
          <p:cNvGrpSpPr/>
          <p:nvPr/>
        </p:nvGrpSpPr>
        <p:grpSpPr>
          <a:xfrm>
            <a:off x="3197855" y="3302360"/>
            <a:ext cx="12258608" cy="5215021"/>
            <a:chOff x="0" y="0"/>
            <a:chExt cx="3228605" cy="1373504"/>
          </a:xfrm>
        </p:grpSpPr>
        <p:sp>
          <p:nvSpPr>
            <p:cNvPr id="3" name="Freeform 3"/>
            <p:cNvSpPr/>
            <p:nvPr/>
          </p:nvSpPr>
          <p:spPr>
            <a:xfrm>
              <a:off x="0" y="0"/>
              <a:ext cx="3228604" cy="1373504"/>
            </a:xfrm>
            <a:custGeom>
              <a:avLst/>
              <a:gdLst/>
              <a:ahLst/>
              <a:cxnLst/>
              <a:rect l="l" t="t" r="r" b="b"/>
              <a:pathLst>
                <a:path w="3228604" h="1373504">
                  <a:moveTo>
                    <a:pt x="28420" y="0"/>
                  </a:moveTo>
                  <a:lnTo>
                    <a:pt x="3200185" y="0"/>
                  </a:lnTo>
                  <a:cubicBezTo>
                    <a:pt x="3207722" y="0"/>
                    <a:pt x="3214951" y="2994"/>
                    <a:pt x="3220281" y="8324"/>
                  </a:cubicBezTo>
                  <a:cubicBezTo>
                    <a:pt x="3225610" y="13654"/>
                    <a:pt x="3228604" y="20882"/>
                    <a:pt x="3228604" y="28420"/>
                  </a:cubicBezTo>
                  <a:lnTo>
                    <a:pt x="3228604" y="1345084"/>
                  </a:lnTo>
                  <a:cubicBezTo>
                    <a:pt x="3228604" y="1360780"/>
                    <a:pt x="3215880" y="1373504"/>
                    <a:pt x="3200185" y="1373504"/>
                  </a:cubicBezTo>
                  <a:lnTo>
                    <a:pt x="28420" y="1373504"/>
                  </a:lnTo>
                  <a:cubicBezTo>
                    <a:pt x="20882" y="1373504"/>
                    <a:pt x="13654" y="1370509"/>
                    <a:pt x="8324" y="1365180"/>
                  </a:cubicBezTo>
                  <a:cubicBezTo>
                    <a:pt x="2994" y="1359850"/>
                    <a:pt x="0" y="1352621"/>
                    <a:pt x="0" y="1345084"/>
                  </a:cubicBezTo>
                  <a:lnTo>
                    <a:pt x="0" y="28420"/>
                  </a:lnTo>
                  <a:cubicBezTo>
                    <a:pt x="0" y="20882"/>
                    <a:pt x="2994" y="13654"/>
                    <a:pt x="8324" y="8324"/>
                  </a:cubicBezTo>
                  <a:cubicBezTo>
                    <a:pt x="13654" y="2994"/>
                    <a:pt x="20882" y="0"/>
                    <a:pt x="28420" y="0"/>
                  </a:cubicBezTo>
                  <a:close/>
                </a:path>
              </a:pathLst>
            </a:custGeom>
            <a:solidFill>
              <a:srgbClr val="FFFFFF"/>
            </a:solidFill>
          </p:spPr>
        </p:sp>
        <p:sp>
          <p:nvSpPr>
            <p:cNvPr id="4" name="TextBox 4"/>
            <p:cNvSpPr txBox="1"/>
            <p:nvPr/>
          </p:nvSpPr>
          <p:spPr>
            <a:xfrm>
              <a:off x="0" y="-38100"/>
              <a:ext cx="3228605" cy="1411604"/>
            </a:xfrm>
            <a:prstGeom prst="rect">
              <a:avLst/>
            </a:prstGeom>
          </p:spPr>
          <p:txBody>
            <a:bodyPr lIns="50800" tIns="50800" rIns="50800" bIns="50800" rtlCol="0" anchor="ctr"/>
            <a:lstStyle/>
            <a:p>
              <a:pPr algn="ctr">
                <a:lnSpc>
                  <a:spcPts val="2659"/>
                </a:lnSpc>
                <a:spcBef>
                  <a:spcPct val="0"/>
                </a:spcBef>
              </a:pPr>
              <a:endParaRPr/>
            </a:p>
          </p:txBody>
        </p:sp>
      </p:grpSp>
      <p:sp>
        <p:nvSpPr>
          <p:cNvPr id="5" name="Freeform 5"/>
          <p:cNvSpPr/>
          <p:nvPr/>
        </p:nvSpPr>
        <p:spPr>
          <a:xfrm>
            <a:off x="-462592" y="7466263"/>
            <a:ext cx="19213183" cy="6497549"/>
          </a:xfrm>
          <a:custGeom>
            <a:avLst/>
            <a:gdLst/>
            <a:ahLst/>
            <a:cxnLst/>
            <a:rect l="l" t="t" r="r" b="b"/>
            <a:pathLst>
              <a:path w="19213183" h="6497549">
                <a:moveTo>
                  <a:pt x="0" y="0"/>
                </a:moveTo>
                <a:lnTo>
                  <a:pt x="19213184" y="0"/>
                </a:lnTo>
                <a:lnTo>
                  <a:pt x="19213184" y="6497549"/>
                </a:lnTo>
                <a:lnTo>
                  <a:pt x="0" y="649754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6" name="TextBox 6"/>
          <p:cNvSpPr txBox="1"/>
          <p:nvPr/>
        </p:nvSpPr>
        <p:spPr>
          <a:xfrm>
            <a:off x="2582096" y="519303"/>
            <a:ext cx="13183452" cy="2783057"/>
          </a:xfrm>
          <a:prstGeom prst="rect">
            <a:avLst/>
          </a:prstGeom>
        </p:spPr>
        <p:txBody>
          <a:bodyPr lIns="0" tIns="0" rIns="0" bIns="0" rtlCol="0" anchor="t">
            <a:spAutoFit/>
          </a:bodyPr>
          <a:lstStyle/>
          <a:p>
            <a:pPr algn="ctr">
              <a:lnSpc>
                <a:spcPts val="10956"/>
              </a:lnSpc>
            </a:pPr>
            <a:r>
              <a:rPr lang="en-US" sz="9130">
                <a:solidFill>
                  <a:srgbClr val="A56C53"/>
                </a:solidFill>
                <a:latin typeface="Anton"/>
                <a:ea typeface="Anton"/>
                <a:cs typeface="Anton"/>
                <a:sym typeface="Anton"/>
              </a:rPr>
              <a:t>WHY DO WE NEED TO RECOGNIZE NATURAL SIGNS</a:t>
            </a:r>
          </a:p>
        </p:txBody>
      </p:sp>
      <p:sp>
        <p:nvSpPr>
          <p:cNvPr id="7" name="Freeform 7"/>
          <p:cNvSpPr/>
          <p:nvPr/>
        </p:nvSpPr>
        <p:spPr>
          <a:xfrm flipH="1">
            <a:off x="-4891207" y="-1892226"/>
            <a:ext cx="8857230" cy="3784453"/>
          </a:xfrm>
          <a:custGeom>
            <a:avLst/>
            <a:gdLst/>
            <a:ahLst/>
            <a:cxnLst/>
            <a:rect l="l" t="t" r="r" b="b"/>
            <a:pathLst>
              <a:path w="8857230" h="3784453">
                <a:moveTo>
                  <a:pt x="8857231" y="0"/>
                </a:moveTo>
                <a:lnTo>
                  <a:pt x="0" y="0"/>
                </a:lnTo>
                <a:lnTo>
                  <a:pt x="0" y="3784452"/>
                </a:lnTo>
                <a:lnTo>
                  <a:pt x="8857231" y="3784452"/>
                </a:lnTo>
                <a:lnTo>
                  <a:pt x="8857231" y="0"/>
                </a:lnTo>
                <a:close/>
              </a:path>
            </a:pathLst>
          </a:custGeom>
          <a:blipFill>
            <a:blip r:embed="rId4">
              <a:extLst>
                <a:ext uri="{96DAC541-7B7A-43D3-8B79-37D633B846F1}">
                  <asvg:svgBlip xmlns:asvg="http://schemas.microsoft.com/office/drawing/2016/SVG/main" r:embed="rId5"/>
                </a:ext>
              </a:extLst>
            </a:blip>
            <a:stretch>
              <a:fillRect/>
            </a:stretch>
          </a:blipFill>
          <a:ln cap="sq">
            <a:noFill/>
            <a:prstDash val="solid"/>
            <a:miter/>
          </a:ln>
        </p:spPr>
      </p:sp>
      <p:sp>
        <p:nvSpPr>
          <p:cNvPr id="8" name="Freeform 8"/>
          <p:cNvSpPr/>
          <p:nvPr/>
        </p:nvSpPr>
        <p:spPr>
          <a:xfrm>
            <a:off x="14321976" y="-1892226"/>
            <a:ext cx="8857230" cy="3784453"/>
          </a:xfrm>
          <a:custGeom>
            <a:avLst/>
            <a:gdLst/>
            <a:ahLst/>
            <a:cxnLst/>
            <a:rect l="l" t="t" r="r" b="b"/>
            <a:pathLst>
              <a:path w="8857230" h="3784453">
                <a:moveTo>
                  <a:pt x="0" y="0"/>
                </a:moveTo>
                <a:lnTo>
                  <a:pt x="8857231" y="0"/>
                </a:lnTo>
                <a:lnTo>
                  <a:pt x="8857231" y="3784452"/>
                </a:lnTo>
                <a:lnTo>
                  <a:pt x="0" y="3784452"/>
                </a:lnTo>
                <a:lnTo>
                  <a:pt x="0" y="0"/>
                </a:lnTo>
                <a:close/>
              </a:path>
            </a:pathLst>
          </a:custGeom>
          <a:blipFill>
            <a:blip r:embed="rId4">
              <a:extLst>
                <a:ext uri="{96DAC541-7B7A-43D3-8B79-37D633B846F1}">
                  <asvg:svgBlip xmlns:asvg="http://schemas.microsoft.com/office/drawing/2016/SVG/main" r:embed="rId5"/>
                </a:ext>
              </a:extLst>
            </a:blip>
            <a:stretch>
              <a:fillRect/>
            </a:stretch>
          </a:blipFill>
          <a:ln cap="sq">
            <a:noFill/>
            <a:prstDash val="solid"/>
            <a:miter/>
          </a:ln>
        </p:spPr>
      </p:sp>
      <p:sp>
        <p:nvSpPr>
          <p:cNvPr id="9" name="TextBox 9"/>
          <p:cNvSpPr txBox="1"/>
          <p:nvPr/>
        </p:nvSpPr>
        <p:spPr>
          <a:xfrm>
            <a:off x="4068018" y="3924301"/>
            <a:ext cx="10518283" cy="3541962"/>
          </a:xfrm>
          <a:prstGeom prst="rect">
            <a:avLst/>
          </a:prstGeom>
        </p:spPr>
        <p:txBody>
          <a:bodyPr lIns="0" tIns="0" rIns="0" bIns="0" rtlCol="0" anchor="t">
            <a:spAutoFit/>
          </a:bodyPr>
          <a:lstStyle/>
          <a:p>
            <a:pPr algn="just">
              <a:lnSpc>
                <a:spcPts val="3998"/>
              </a:lnSpc>
            </a:pPr>
            <a:r>
              <a:rPr lang="en-US" sz="3332" b="1">
                <a:solidFill>
                  <a:srgbClr val="434F1A"/>
                </a:solidFill>
                <a:latin typeface="DM Sans Bold"/>
                <a:ea typeface="DM Sans Bold"/>
                <a:cs typeface="DM Sans Bold"/>
                <a:sym typeface="DM Sans Bold"/>
              </a:rPr>
              <a:t>Recognizing natural signs is important for staying safe during disasters. Signs like sudden changes in water, or small ground tremors can warn us about tsunamis, earthquakes, or volcanic eruptions. Noticing these signs early helps people act quickly, protect themselves, and reduce the risk of injury or damage.</a:t>
            </a:r>
          </a:p>
        </p:txBody>
      </p:sp>
      <p:sp>
        <p:nvSpPr>
          <p:cNvPr id="10" name="Freeform 10"/>
          <p:cNvSpPr/>
          <p:nvPr/>
        </p:nvSpPr>
        <p:spPr>
          <a:xfrm>
            <a:off x="16530203" y="4224720"/>
            <a:ext cx="2886644" cy="1322608"/>
          </a:xfrm>
          <a:custGeom>
            <a:avLst/>
            <a:gdLst/>
            <a:ahLst/>
            <a:cxnLst/>
            <a:rect l="l" t="t" r="r" b="b"/>
            <a:pathLst>
              <a:path w="2886644" h="1322608">
                <a:moveTo>
                  <a:pt x="0" y="0"/>
                </a:moveTo>
                <a:lnTo>
                  <a:pt x="2886644" y="0"/>
                </a:lnTo>
                <a:lnTo>
                  <a:pt x="2886644" y="1322608"/>
                </a:lnTo>
                <a:lnTo>
                  <a:pt x="0" y="1322608"/>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1" name="Freeform 11"/>
          <p:cNvSpPr/>
          <p:nvPr/>
        </p:nvSpPr>
        <p:spPr>
          <a:xfrm flipH="1">
            <a:off x="-1128847" y="4224720"/>
            <a:ext cx="2886644" cy="1322608"/>
          </a:xfrm>
          <a:custGeom>
            <a:avLst/>
            <a:gdLst/>
            <a:ahLst/>
            <a:cxnLst/>
            <a:rect l="l" t="t" r="r" b="b"/>
            <a:pathLst>
              <a:path w="2886644" h="1322608">
                <a:moveTo>
                  <a:pt x="2886644" y="0"/>
                </a:moveTo>
                <a:lnTo>
                  <a:pt x="0" y="0"/>
                </a:lnTo>
                <a:lnTo>
                  <a:pt x="0" y="1322608"/>
                </a:lnTo>
                <a:lnTo>
                  <a:pt x="2886644" y="1322608"/>
                </a:lnTo>
                <a:lnTo>
                  <a:pt x="2886644"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2" name="Freeform 12"/>
          <p:cNvSpPr/>
          <p:nvPr/>
        </p:nvSpPr>
        <p:spPr>
          <a:xfrm>
            <a:off x="1575498" y="1679324"/>
            <a:ext cx="946954" cy="946954"/>
          </a:xfrm>
          <a:custGeom>
            <a:avLst/>
            <a:gdLst/>
            <a:ahLst/>
            <a:cxnLst/>
            <a:rect l="l" t="t" r="r" b="b"/>
            <a:pathLst>
              <a:path w="946954" h="946954">
                <a:moveTo>
                  <a:pt x="0" y="0"/>
                </a:moveTo>
                <a:lnTo>
                  <a:pt x="946954" y="0"/>
                </a:lnTo>
                <a:lnTo>
                  <a:pt x="946954" y="946955"/>
                </a:lnTo>
                <a:lnTo>
                  <a:pt x="0" y="946955"/>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13" name="Freeform 13"/>
          <p:cNvSpPr/>
          <p:nvPr/>
        </p:nvSpPr>
        <p:spPr>
          <a:xfrm>
            <a:off x="15765548" y="1679324"/>
            <a:ext cx="946954" cy="946954"/>
          </a:xfrm>
          <a:custGeom>
            <a:avLst/>
            <a:gdLst/>
            <a:ahLst/>
            <a:cxnLst/>
            <a:rect l="l" t="t" r="r" b="b"/>
            <a:pathLst>
              <a:path w="946954" h="946954">
                <a:moveTo>
                  <a:pt x="0" y="0"/>
                </a:moveTo>
                <a:lnTo>
                  <a:pt x="946954" y="0"/>
                </a:lnTo>
                <a:lnTo>
                  <a:pt x="946954" y="946955"/>
                </a:lnTo>
                <a:lnTo>
                  <a:pt x="0" y="946955"/>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E6E2CF"/>
        </a:solidFill>
        <a:effectLst/>
      </p:bgPr>
    </p:bg>
    <p:spTree>
      <p:nvGrpSpPr>
        <p:cNvPr id="1" name=""/>
        <p:cNvGrpSpPr/>
        <p:nvPr/>
      </p:nvGrpSpPr>
      <p:grpSpPr>
        <a:xfrm>
          <a:off x="0" y="0"/>
          <a:ext cx="0" cy="0"/>
          <a:chOff x="0" y="0"/>
          <a:chExt cx="0" cy="0"/>
        </a:xfrm>
      </p:grpSpPr>
      <p:grpSp>
        <p:nvGrpSpPr>
          <p:cNvPr id="2" name="Group 2"/>
          <p:cNvGrpSpPr/>
          <p:nvPr/>
        </p:nvGrpSpPr>
        <p:grpSpPr>
          <a:xfrm>
            <a:off x="1331368" y="4322441"/>
            <a:ext cx="7509965" cy="3992688"/>
            <a:chOff x="0" y="0"/>
            <a:chExt cx="1977933" cy="1051572"/>
          </a:xfrm>
        </p:grpSpPr>
        <p:sp>
          <p:nvSpPr>
            <p:cNvPr id="3" name="Freeform 3"/>
            <p:cNvSpPr/>
            <p:nvPr/>
          </p:nvSpPr>
          <p:spPr>
            <a:xfrm>
              <a:off x="0" y="0"/>
              <a:ext cx="1977933" cy="1051572"/>
            </a:xfrm>
            <a:custGeom>
              <a:avLst/>
              <a:gdLst/>
              <a:ahLst/>
              <a:cxnLst/>
              <a:rect l="l" t="t" r="r" b="b"/>
              <a:pathLst>
                <a:path w="1977933" h="1051572">
                  <a:moveTo>
                    <a:pt x="46390" y="0"/>
                  </a:moveTo>
                  <a:lnTo>
                    <a:pt x="1931543" y="0"/>
                  </a:lnTo>
                  <a:cubicBezTo>
                    <a:pt x="1957164" y="0"/>
                    <a:pt x="1977933" y="20769"/>
                    <a:pt x="1977933" y="46390"/>
                  </a:cubicBezTo>
                  <a:lnTo>
                    <a:pt x="1977933" y="1005182"/>
                  </a:lnTo>
                  <a:cubicBezTo>
                    <a:pt x="1977933" y="1017486"/>
                    <a:pt x="1973046" y="1029285"/>
                    <a:pt x="1964346" y="1037985"/>
                  </a:cubicBezTo>
                  <a:cubicBezTo>
                    <a:pt x="1955646" y="1046685"/>
                    <a:pt x="1943847" y="1051572"/>
                    <a:pt x="1931543" y="1051572"/>
                  </a:cubicBezTo>
                  <a:lnTo>
                    <a:pt x="46390" y="1051572"/>
                  </a:lnTo>
                  <a:cubicBezTo>
                    <a:pt x="34087" y="1051572"/>
                    <a:pt x="22287" y="1046685"/>
                    <a:pt x="13587" y="1037985"/>
                  </a:cubicBezTo>
                  <a:cubicBezTo>
                    <a:pt x="4887" y="1029285"/>
                    <a:pt x="0" y="1017486"/>
                    <a:pt x="0" y="1005182"/>
                  </a:cubicBezTo>
                  <a:lnTo>
                    <a:pt x="0" y="46390"/>
                  </a:lnTo>
                  <a:cubicBezTo>
                    <a:pt x="0" y="34087"/>
                    <a:pt x="4887" y="22287"/>
                    <a:pt x="13587" y="13587"/>
                  </a:cubicBezTo>
                  <a:cubicBezTo>
                    <a:pt x="22287" y="4887"/>
                    <a:pt x="34087" y="0"/>
                    <a:pt x="46390" y="0"/>
                  </a:cubicBezTo>
                  <a:close/>
                </a:path>
              </a:pathLst>
            </a:custGeom>
            <a:solidFill>
              <a:srgbClr val="FFFFFF"/>
            </a:solidFill>
          </p:spPr>
        </p:sp>
        <p:sp>
          <p:nvSpPr>
            <p:cNvPr id="4" name="TextBox 4"/>
            <p:cNvSpPr txBox="1"/>
            <p:nvPr/>
          </p:nvSpPr>
          <p:spPr>
            <a:xfrm>
              <a:off x="0" y="-38100"/>
              <a:ext cx="1977933" cy="1089672"/>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9446668" y="4322441"/>
            <a:ext cx="7509965" cy="3992688"/>
            <a:chOff x="0" y="0"/>
            <a:chExt cx="1977933" cy="1051572"/>
          </a:xfrm>
        </p:grpSpPr>
        <p:sp>
          <p:nvSpPr>
            <p:cNvPr id="6" name="Freeform 6"/>
            <p:cNvSpPr/>
            <p:nvPr/>
          </p:nvSpPr>
          <p:spPr>
            <a:xfrm>
              <a:off x="0" y="0"/>
              <a:ext cx="1977933" cy="1051572"/>
            </a:xfrm>
            <a:custGeom>
              <a:avLst/>
              <a:gdLst/>
              <a:ahLst/>
              <a:cxnLst/>
              <a:rect l="l" t="t" r="r" b="b"/>
              <a:pathLst>
                <a:path w="1977933" h="1051572">
                  <a:moveTo>
                    <a:pt x="46390" y="0"/>
                  </a:moveTo>
                  <a:lnTo>
                    <a:pt x="1931543" y="0"/>
                  </a:lnTo>
                  <a:cubicBezTo>
                    <a:pt x="1957164" y="0"/>
                    <a:pt x="1977933" y="20769"/>
                    <a:pt x="1977933" y="46390"/>
                  </a:cubicBezTo>
                  <a:lnTo>
                    <a:pt x="1977933" y="1005182"/>
                  </a:lnTo>
                  <a:cubicBezTo>
                    <a:pt x="1977933" y="1017486"/>
                    <a:pt x="1973046" y="1029285"/>
                    <a:pt x="1964346" y="1037985"/>
                  </a:cubicBezTo>
                  <a:cubicBezTo>
                    <a:pt x="1955646" y="1046685"/>
                    <a:pt x="1943847" y="1051572"/>
                    <a:pt x="1931543" y="1051572"/>
                  </a:cubicBezTo>
                  <a:lnTo>
                    <a:pt x="46390" y="1051572"/>
                  </a:lnTo>
                  <a:cubicBezTo>
                    <a:pt x="34087" y="1051572"/>
                    <a:pt x="22287" y="1046685"/>
                    <a:pt x="13587" y="1037985"/>
                  </a:cubicBezTo>
                  <a:cubicBezTo>
                    <a:pt x="4887" y="1029285"/>
                    <a:pt x="0" y="1017486"/>
                    <a:pt x="0" y="1005182"/>
                  </a:cubicBezTo>
                  <a:lnTo>
                    <a:pt x="0" y="46390"/>
                  </a:lnTo>
                  <a:cubicBezTo>
                    <a:pt x="0" y="34087"/>
                    <a:pt x="4887" y="22287"/>
                    <a:pt x="13587" y="13587"/>
                  </a:cubicBezTo>
                  <a:cubicBezTo>
                    <a:pt x="22287" y="4887"/>
                    <a:pt x="34087" y="0"/>
                    <a:pt x="46390" y="0"/>
                  </a:cubicBezTo>
                  <a:close/>
                </a:path>
              </a:pathLst>
            </a:custGeom>
            <a:solidFill>
              <a:srgbClr val="FFFFFF"/>
            </a:solidFill>
          </p:spPr>
        </p:sp>
        <p:sp>
          <p:nvSpPr>
            <p:cNvPr id="7" name="TextBox 7"/>
            <p:cNvSpPr txBox="1"/>
            <p:nvPr/>
          </p:nvSpPr>
          <p:spPr>
            <a:xfrm>
              <a:off x="0" y="-38100"/>
              <a:ext cx="1977933" cy="1089672"/>
            </a:xfrm>
            <a:prstGeom prst="rect">
              <a:avLst/>
            </a:prstGeom>
          </p:spPr>
          <p:txBody>
            <a:bodyPr lIns="50800" tIns="50800" rIns="50800" bIns="50800" rtlCol="0" anchor="ctr"/>
            <a:lstStyle/>
            <a:p>
              <a:pPr algn="ctr">
                <a:lnSpc>
                  <a:spcPts val="2659"/>
                </a:lnSpc>
                <a:spcBef>
                  <a:spcPct val="0"/>
                </a:spcBef>
              </a:pPr>
              <a:endParaRPr/>
            </a:p>
          </p:txBody>
        </p:sp>
      </p:grpSp>
      <p:sp>
        <p:nvSpPr>
          <p:cNvPr id="8" name="Freeform 8"/>
          <p:cNvSpPr/>
          <p:nvPr/>
        </p:nvSpPr>
        <p:spPr>
          <a:xfrm>
            <a:off x="-462592" y="7916199"/>
            <a:ext cx="19213183" cy="6497549"/>
          </a:xfrm>
          <a:custGeom>
            <a:avLst/>
            <a:gdLst/>
            <a:ahLst/>
            <a:cxnLst/>
            <a:rect l="l" t="t" r="r" b="b"/>
            <a:pathLst>
              <a:path w="19213183" h="6497549">
                <a:moveTo>
                  <a:pt x="0" y="0"/>
                </a:moveTo>
                <a:lnTo>
                  <a:pt x="19213184" y="0"/>
                </a:lnTo>
                <a:lnTo>
                  <a:pt x="19213184" y="6497549"/>
                </a:lnTo>
                <a:lnTo>
                  <a:pt x="0" y="649754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9" name="Freeform 9"/>
          <p:cNvSpPr/>
          <p:nvPr/>
        </p:nvSpPr>
        <p:spPr>
          <a:xfrm flipH="1">
            <a:off x="-4891207" y="-1892226"/>
            <a:ext cx="8857230" cy="3784453"/>
          </a:xfrm>
          <a:custGeom>
            <a:avLst/>
            <a:gdLst/>
            <a:ahLst/>
            <a:cxnLst/>
            <a:rect l="l" t="t" r="r" b="b"/>
            <a:pathLst>
              <a:path w="8857230" h="3784453">
                <a:moveTo>
                  <a:pt x="8857231" y="0"/>
                </a:moveTo>
                <a:lnTo>
                  <a:pt x="0" y="0"/>
                </a:lnTo>
                <a:lnTo>
                  <a:pt x="0" y="3784452"/>
                </a:lnTo>
                <a:lnTo>
                  <a:pt x="8857231" y="3784452"/>
                </a:lnTo>
                <a:lnTo>
                  <a:pt x="8857231" y="0"/>
                </a:lnTo>
                <a:close/>
              </a:path>
            </a:pathLst>
          </a:custGeom>
          <a:blipFill>
            <a:blip r:embed="rId4">
              <a:extLst>
                <a:ext uri="{96DAC541-7B7A-43D3-8B79-37D633B846F1}">
                  <asvg:svgBlip xmlns:asvg="http://schemas.microsoft.com/office/drawing/2016/SVG/main" r:embed="rId5"/>
                </a:ext>
              </a:extLst>
            </a:blip>
            <a:stretch>
              <a:fillRect/>
            </a:stretch>
          </a:blipFill>
          <a:ln cap="sq">
            <a:noFill/>
            <a:prstDash val="solid"/>
            <a:miter/>
          </a:ln>
        </p:spPr>
      </p:sp>
      <p:sp>
        <p:nvSpPr>
          <p:cNvPr id="10" name="Freeform 10"/>
          <p:cNvSpPr/>
          <p:nvPr/>
        </p:nvSpPr>
        <p:spPr>
          <a:xfrm>
            <a:off x="14321976" y="-1892226"/>
            <a:ext cx="8857230" cy="3784453"/>
          </a:xfrm>
          <a:custGeom>
            <a:avLst/>
            <a:gdLst/>
            <a:ahLst/>
            <a:cxnLst/>
            <a:rect l="l" t="t" r="r" b="b"/>
            <a:pathLst>
              <a:path w="8857230" h="3784453">
                <a:moveTo>
                  <a:pt x="0" y="0"/>
                </a:moveTo>
                <a:lnTo>
                  <a:pt x="8857231" y="0"/>
                </a:lnTo>
                <a:lnTo>
                  <a:pt x="8857231" y="3784452"/>
                </a:lnTo>
                <a:lnTo>
                  <a:pt x="0" y="3784452"/>
                </a:lnTo>
                <a:lnTo>
                  <a:pt x="0" y="0"/>
                </a:lnTo>
                <a:close/>
              </a:path>
            </a:pathLst>
          </a:custGeom>
          <a:blipFill>
            <a:blip r:embed="rId4">
              <a:extLst>
                <a:ext uri="{96DAC541-7B7A-43D3-8B79-37D633B846F1}">
                  <asvg:svgBlip xmlns:asvg="http://schemas.microsoft.com/office/drawing/2016/SVG/main" r:embed="rId5"/>
                </a:ext>
              </a:extLst>
            </a:blip>
            <a:stretch>
              <a:fillRect/>
            </a:stretch>
          </a:blipFill>
          <a:ln cap="sq">
            <a:noFill/>
            <a:prstDash val="solid"/>
            <a:miter/>
          </a:ln>
        </p:spPr>
      </p:sp>
      <p:sp>
        <p:nvSpPr>
          <p:cNvPr id="11" name="TextBox 11"/>
          <p:cNvSpPr txBox="1"/>
          <p:nvPr/>
        </p:nvSpPr>
        <p:spPr>
          <a:xfrm>
            <a:off x="1694412" y="4487371"/>
            <a:ext cx="6858047" cy="3500884"/>
          </a:xfrm>
          <a:prstGeom prst="rect">
            <a:avLst/>
          </a:prstGeom>
        </p:spPr>
        <p:txBody>
          <a:bodyPr lIns="0" tIns="0" rIns="0" bIns="0" rtlCol="0" anchor="t">
            <a:spAutoFit/>
          </a:bodyPr>
          <a:lstStyle/>
          <a:p>
            <a:pPr algn="just">
              <a:lnSpc>
                <a:spcPts val="3096"/>
              </a:lnSpc>
            </a:pPr>
            <a:r>
              <a:rPr lang="en-US" sz="2580" b="1">
                <a:solidFill>
                  <a:srgbClr val="434F1A"/>
                </a:solidFill>
                <a:latin typeface="DM Sans Bold"/>
                <a:ea typeface="DM Sans Bold"/>
                <a:cs typeface="DM Sans Bold"/>
                <a:sym typeface="DM Sans Bold"/>
              </a:rPr>
              <a:t> #1: Strong Ground Shaking near coastline </a:t>
            </a:r>
          </a:p>
          <a:p>
            <a:pPr algn="just">
              <a:lnSpc>
                <a:spcPts val="3096"/>
              </a:lnSpc>
            </a:pPr>
            <a:endParaRPr lang="en-US" sz="2580" b="1">
              <a:solidFill>
                <a:srgbClr val="434F1A"/>
              </a:solidFill>
              <a:latin typeface="DM Sans Bold"/>
              <a:ea typeface="DM Sans Bold"/>
              <a:cs typeface="DM Sans Bold"/>
              <a:sym typeface="DM Sans Bold"/>
            </a:endParaRPr>
          </a:p>
          <a:p>
            <a:pPr algn="just">
              <a:lnSpc>
                <a:spcPts val="3096"/>
              </a:lnSpc>
            </a:pPr>
            <a:r>
              <a:rPr lang="en-US" sz="2580" b="1">
                <a:solidFill>
                  <a:srgbClr val="434F1A"/>
                </a:solidFill>
                <a:latin typeface="DM Sans Bold"/>
                <a:ea typeface="DM Sans Bold"/>
                <a:cs typeface="DM Sans Bold"/>
                <a:sym typeface="DM Sans Bold"/>
              </a:rPr>
              <a:t>Feeling strong shaking of the ground, especially near the coast, can be a sign of an earthquake that might trigger a tsunami. If this happens, it’s important to move to higher ground immediately, because a tsunami could follow within minutes.</a:t>
            </a:r>
          </a:p>
        </p:txBody>
      </p:sp>
      <p:sp>
        <p:nvSpPr>
          <p:cNvPr id="12" name="TextBox 12"/>
          <p:cNvSpPr txBox="1"/>
          <p:nvPr/>
        </p:nvSpPr>
        <p:spPr>
          <a:xfrm>
            <a:off x="9638103" y="4487371"/>
            <a:ext cx="7127094" cy="3111360"/>
          </a:xfrm>
          <a:prstGeom prst="rect">
            <a:avLst/>
          </a:prstGeom>
        </p:spPr>
        <p:txBody>
          <a:bodyPr lIns="0" tIns="0" rIns="0" bIns="0" rtlCol="0" anchor="t">
            <a:spAutoFit/>
          </a:bodyPr>
          <a:lstStyle/>
          <a:p>
            <a:pPr algn="just">
              <a:lnSpc>
                <a:spcPts val="3096"/>
              </a:lnSpc>
            </a:pPr>
            <a:r>
              <a:rPr lang="en-US" sz="2580" b="1">
                <a:solidFill>
                  <a:srgbClr val="434F1A"/>
                </a:solidFill>
                <a:latin typeface="DM Sans Bold"/>
                <a:ea typeface="DM Sans Bold"/>
                <a:cs typeface="DM Sans Bold"/>
                <a:sym typeface="DM Sans Bold"/>
              </a:rPr>
              <a:t> #2: Sudden and unusual changes in the sea</a:t>
            </a:r>
          </a:p>
          <a:p>
            <a:pPr algn="just">
              <a:lnSpc>
                <a:spcPts val="3096"/>
              </a:lnSpc>
            </a:pPr>
            <a:endParaRPr lang="en-US" sz="2580" b="1">
              <a:solidFill>
                <a:srgbClr val="434F1A"/>
              </a:solidFill>
              <a:latin typeface="DM Sans Bold"/>
              <a:ea typeface="DM Sans Bold"/>
              <a:cs typeface="DM Sans Bold"/>
              <a:sym typeface="DM Sans Bold"/>
            </a:endParaRPr>
          </a:p>
          <a:p>
            <a:pPr algn="just">
              <a:lnSpc>
                <a:spcPts val="3096"/>
              </a:lnSpc>
            </a:pPr>
            <a:r>
              <a:rPr lang="en-US" sz="2580" b="1">
                <a:solidFill>
                  <a:srgbClr val="434F1A"/>
                </a:solidFill>
                <a:latin typeface="DM Sans Bold"/>
                <a:ea typeface="DM Sans Bold"/>
                <a:cs typeface="DM Sans Bold"/>
                <a:sym typeface="DM Sans Bold"/>
              </a:rPr>
              <a:t>If the sea suddenly rises, falls, or retreats far from the shore, it can be a warning that a tsunami is coming. People near the coast should quickly move to higher ground, as these changes often happen just minutes before the waves arrive.</a:t>
            </a:r>
          </a:p>
        </p:txBody>
      </p:sp>
      <p:sp>
        <p:nvSpPr>
          <p:cNvPr id="13" name="Freeform 13"/>
          <p:cNvSpPr/>
          <p:nvPr/>
        </p:nvSpPr>
        <p:spPr>
          <a:xfrm>
            <a:off x="15988253" y="1738996"/>
            <a:ext cx="2886644" cy="1322608"/>
          </a:xfrm>
          <a:custGeom>
            <a:avLst/>
            <a:gdLst/>
            <a:ahLst/>
            <a:cxnLst/>
            <a:rect l="l" t="t" r="r" b="b"/>
            <a:pathLst>
              <a:path w="2886644" h="1322608">
                <a:moveTo>
                  <a:pt x="0" y="0"/>
                </a:moveTo>
                <a:lnTo>
                  <a:pt x="2886644" y="0"/>
                </a:lnTo>
                <a:lnTo>
                  <a:pt x="2886644" y="1322608"/>
                </a:lnTo>
                <a:lnTo>
                  <a:pt x="0" y="1322608"/>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4" name="Freeform 14"/>
          <p:cNvSpPr/>
          <p:nvPr/>
        </p:nvSpPr>
        <p:spPr>
          <a:xfrm flipH="1">
            <a:off x="-586897" y="1738996"/>
            <a:ext cx="2886644" cy="1322608"/>
          </a:xfrm>
          <a:custGeom>
            <a:avLst/>
            <a:gdLst/>
            <a:ahLst/>
            <a:cxnLst/>
            <a:rect l="l" t="t" r="r" b="b"/>
            <a:pathLst>
              <a:path w="2886644" h="1322608">
                <a:moveTo>
                  <a:pt x="2886644" y="0"/>
                </a:moveTo>
                <a:lnTo>
                  <a:pt x="0" y="0"/>
                </a:lnTo>
                <a:lnTo>
                  <a:pt x="0" y="1322608"/>
                </a:lnTo>
                <a:lnTo>
                  <a:pt x="2886644" y="1322608"/>
                </a:lnTo>
                <a:lnTo>
                  <a:pt x="2886644"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5" name="Freeform 15"/>
          <p:cNvSpPr/>
          <p:nvPr/>
        </p:nvSpPr>
        <p:spPr>
          <a:xfrm>
            <a:off x="8438325" y="8171150"/>
            <a:ext cx="1411350" cy="1411350"/>
          </a:xfrm>
          <a:custGeom>
            <a:avLst/>
            <a:gdLst/>
            <a:ahLst/>
            <a:cxnLst/>
            <a:rect l="l" t="t" r="r" b="b"/>
            <a:pathLst>
              <a:path w="1411350" h="1411350">
                <a:moveTo>
                  <a:pt x="0" y="0"/>
                </a:moveTo>
                <a:lnTo>
                  <a:pt x="1411350" y="0"/>
                </a:lnTo>
                <a:lnTo>
                  <a:pt x="1411350" y="1411351"/>
                </a:lnTo>
                <a:lnTo>
                  <a:pt x="0" y="1411351"/>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16" name="TextBox 16"/>
          <p:cNvSpPr txBox="1"/>
          <p:nvPr/>
        </p:nvSpPr>
        <p:spPr>
          <a:xfrm>
            <a:off x="4687991" y="1310630"/>
            <a:ext cx="8306682" cy="2179341"/>
          </a:xfrm>
          <a:prstGeom prst="rect">
            <a:avLst/>
          </a:prstGeom>
        </p:spPr>
        <p:txBody>
          <a:bodyPr lIns="0" tIns="0" rIns="0" bIns="0" rtlCol="0" anchor="t">
            <a:spAutoFit/>
          </a:bodyPr>
          <a:lstStyle/>
          <a:p>
            <a:pPr algn="l">
              <a:lnSpc>
                <a:spcPts val="8580"/>
              </a:lnSpc>
            </a:pPr>
            <a:r>
              <a:rPr lang="en-US" sz="7150">
                <a:solidFill>
                  <a:srgbClr val="A56C53"/>
                </a:solidFill>
                <a:latin typeface="Anton"/>
                <a:ea typeface="Anton"/>
                <a:cs typeface="Anton"/>
                <a:sym typeface="Anton"/>
              </a:rPr>
              <a:t>⚠ NATURAL SIGNS OF AN </a:t>
            </a:r>
            <a:r>
              <a:rPr lang="en-US" sz="7150">
                <a:solidFill>
                  <a:srgbClr val="434F1A"/>
                </a:solidFill>
                <a:latin typeface="Anton"/>
                <a:ea typeface="Anton"/>
                <a:cs typeface="Anton"/>
                <a:sym typeface="Anton"/>
              </a:rPr>
              <a:t>IMPENDING TSUNAMI</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E6E2CF"/>
        </a:solidFill>
        <a:effectLst/>
      </p:bgPr>
    </p:bg>
    <p:spTree>
      <p:nvGrpSpPr>
        <p:cNvPr id="1" name=""/>
        <p:cNvGrpSpPr/>
        <p:nvPr/>
      </p:nvGrpSpPr>
      <p:grpSpPr>
        <a:xfrm>
          <a:off x="0" y="0"/>
          <a:ext cx="0" cy="0"/>
          <a:chOff x="0" y="0"/>
          <a:chExt cx="0" cy="0"/>
        </a:xfrm>
      </p:grpSpPr>
      <p:grpSp>
        <p:nvGrpSpPr>
          <p:cNvPr id="2" name="Group 2"/>
          <p:cNvGrpSpPr/>
          <p:nvPr/>
        </p:nvGrpSpPr>
        <p:grpSpPr>
          <a:xfrm>
            <a:off x="1331368" y="4322441"/>
            <a:ext cx="7509965" cy="3992688"/>
            <a:chOff x="0" y="0"/>
            <a:chExt cx="1977933" cy="1051572"/>
          </a:xfrm>
        </p:grpSpPr>
        <p:sp>
          <p:nvSpPr>
            <p:cNvPr id="3" name="Freeform 3"/>
            <p:cNvSpPr/>
            <p:nvPr/>
          </p:nvSpPr>
          <p:spPr>
            <a:xfrm>
              <a:off x="0" y="0"/>
              <a:ext cx="1977933" cy="1051572"/>
            </a:xfrm>
            <a:custGeom>
              <a:avLst/>
              <a:gdLst/>
              <a:ahLst/>
              <a:cxnLst/>
              <a:rect l="l" t="t" r="r" b="b"/>
              <a:pathLst>
                <a:path w="1977933" h="1051572">
                  <a:moveTo>
                    <a:pt x="46390" y="0"/>
                  </a:moveTo>
                  <a:lnTo>
                    <a:pt x="1931543" y="0"/>
                  </a:lnTo>
                  <a:cubicBezTo>
                    <a:pt x="1957164" y="0"/>
                    <a:pt x="1977933" y="20769"/>
                    <a:pt x="1977933" y="46390"/>
                  </a:cubicBezTo>
                  <a:lnTo>
                    <a:pt x="1977933" y="1005182"/>
                  </a:lnTo>
                  <a:cubicBezTo>
                    <a:pt x="1977933" y="1017486"/>
                    <a:pt x="1973046" y="1029285"/>
                    <a:pt x="1964346" y="1037985"/>
                  </a:cubicBezTo>
                  <a:cubicBezTo>
                    <a:pt x="1955646" y="1046685"/>
                    <a:pt x="1943847" y="1051572"/>
                    <a:pt x="1931543" y="1051572"/>
                  </a:cubicBezTo>
                  <a:lnTo>
                    <a:pt x="46390" y="1051572"/>
                  </a:lnTo>
                  <a:cubicBezTo>
                    <a:pt x="34087" y="1051572"/>
                    <a:pt x="22287" y="1046685"/>
                    <a:pt x="13587" y="1037985"/>
                  </a:cubicBezTo>
                  <a:cubicBezTo>
                    <a:pt x="4887" y="1029285"/>
                    <a:pt x="0" y="1017486"/>
                    <a:pt x="0" y="1005182"/>
                  </a:cubicBezTo>
                  <a:lnTo>
                    <a:pt x="0" y="46390"/>
                  </a:lnTo>
                  <a:cubicBezTo>
                    <a:pt x="0" y="34087"/>
                    <a:pt x="4887" y="22287"/>
                    <a:pt x="13587" y="13587"/>
                  </a:cubicBezTo>
                  <a:cubicBezTo>
                    <a:pt x="22287" y="4887"/>
                    <a:pt x="34087" y="0"/>
                    <a:pt x="46390" y="0"/>
                  </a:cubicBezTo>
                  <a:close/>
                </a:path>
              </a:pathLst>
            </a:custGeom>
            <a:solidFill>
              <a:srgbClr val="FFFFFF"/>
            </a:solidFill>
          </p:spPr>
        </p:sp>
        <p:sp>
          <p:nvSpPr>
            <p:cNvPr id="4" name="TextBox 4"/>
            <p:cNvSpPr txBox="1"/>
            <p:nvPr/>
          </p:nvSpPr>
          <p:spPr>
            <a:xfrm>
              <a:off x="0" y="-38100"/>
              <a:ext cx="1977933" cy="1089672"/>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9446668" y="4322441"/>
            <a:ext cx="7509965" cy="3992688"/>
            <a:chOff x="0" y="0"/>
            <a:chExt cx="1977933" cy="1051572"/>
          </a:xfrm>
        </p:grpSpPr>
        <p:sp>
          <p:nvSpPr>
            <p:cNvPr id="6" name="Freeform 6"/>
            <p:cNvSpPr/>
            <p:nvPr/>
          </p:nvSpPr>
          <p:spPr>
            <a:xfrm>
              <a:off x="0" y="0"/>
              <a:ext cx="1977933" cy="1051572"/>
            </a:xfrm>
            <a:custGeom>
              <a:avLst/>
              <a:gdLst/>
              <a:ahLst/>
              <a:cxnLst/>
              <a:rect l="l" t="t" r="r" b="b"/>
              <a:pathLst>
                <a:path w="1977933" h="1051572">
                  <a:moveTo>
                    <a:pt x="46390" y="0"/>
                  </a:moveTo>
                  <a:lnTo>
                    <a:pt x="1931543" y="0"/>
                  </a:lnTo>
                  <a:cubicBezTo>
                    <a:pt x="1957164" y="0"/>
                    <a:pt x="1977933" y="20769"/>
                    <a:pt x="1977933" y="46390"/>
                  </a:cubicBezTo>
                  <a:lnTo>
                    <a:pt x="1977933" y="1005182"/>
                  </a:lnTo>
                  <a:cubicBezTo>
                    <a:pt x="1977933" y="1017486"/>
                    <a:pt x="1973046" y="1029285"/>
                    <a:pt x="1964346" y="1037985"/>
                  </a:cubicBezTo>
                  <a:cubicBezTo>
                    <a:pt x="1955646" y="1046685"/>
                    <a:pt x="1943847" y="1051572"/>
                    <a:pt x="1931543" y="1051572"/>
                  </a:cubicBezTo>
                  <a:lnTo>
                    <a:pt x="46390" y="1051572"/>
                  </a:lnTo>
                  <a:cubicBezTo>
                    <a:pt x="34087" y="1051572"/>
                    <a:pt x="22287" y="1046685"/>
                    <a:pt x="13587" y="1037985"/>
                  </a:cubicBezTo>
                  <a:cubicBezTo>
                    <a:pt x="4887" y="1029285"/>
                    <a:pt x="0" y="1017486"/>
                    <a:pt x="0" y="1005182"/>
                  </a:cubicBezTo>
                  <a:lnTo>
                    <a:pt x="0" y="46390"/>
                  </a:lnTo>
                  <a:cubicBezTo>
                    <a:pt x="0" y="34087"/>
                    <a:pt x="4887" y="22287"/>
                    <a:pt x="13587" y="13587"/>
                  </a:cubicBezTo>
                  <a:cubicBezTo>
                    <a:pt x="22287" y="4887"/>
                    <a:pt x="34087" y="0"/>
                    <a:pt x="46390" y="0"/>
                  </a:cubicBezTo>
                  <a:close/>
                </a:path>
              </a:pathLst>
            </a:custGeom>
            <a:solidFill>
              <a:srgbClr val="FFFFFF"/>
            </a:solidFill>
          </p:spPr>
        </p:sp>
        <p:sp>
          <p:nvSpPr>
            <p:cNvPr id="7" name="TextBox 7"/>
            <p:cNvSpPr txBox="1"/>
            <p:nvPr/>
          </p:nvSpPr>
          <p:spPr>
            <a:xfrm>
              <a:off x="0" y="-38100"/>
              <a:ext cx="1977933" cy="1089672"/>
            </a:xfrm>
            <a:prstGeom prst="rect">
              <a:avLst/>
            </a:prstGeom>
          </p:spPr>
          <p:txBody>
            <a:bodyPr lIns="50800" tIns="50800" rIns="50800" bIns="50800" rtlCol="0" anchor="ctr"/>
            <a:lstStyle/>
            <a:p>
              <a:pPr algn="ctr">
                <a:lnSpc>
                  <a:spcPts val="2659"/>
                </a:lnSpc>
                <a:spcBef>
                  <a:spcPct val="0"/>
                </a:spcBef>
              </a:pPr>
              <a:endParaRPr/>
            </a:p>
          </p:txBody>
        </p:sp>
      </p:grpSp>
      <p:sp>
        <p:nvSpPr>
          <p:cNvPr id="8" name="Freeform 8"/>
          <p:cNvSpPr/>
          <p:nvPr/>
        </p:nvSpPr>
        <p:spPr>
          <a:xfrm>
            <a:off x="-462592" y="7916199"/>
            <a:ext cx="19213183" cy="6497549"/>
          </a:xfrm>
          <a:custGeom>
            <a:avLst/>
            <a:gdLst/>
            <a:ahLst/>
            <a:cxnLst/>
            <a:rect l="l" t="t" r="r" b="b"/>
            <a:pathLst>
              <a:path w="19213183" h="6497549">
                <a:moveTo>
                  <a:pt x="0" y="0"/>
                </a:moveTo>
                <a:lnTo>
                  <a:pt x="19213184" y="0"/>
                </a:lnTo>
                <a:lnTo>
                  <a:pt x="19213184" y="6497549"/>
                </a:lnTo>
                <a:lnTo>
                  <a:pt x="0" y="649754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9" name="Freeform 9"/>
          <p:cNvSpPr/>
          <p:nvPr/>
        </p:nvSpPr>
        <p:spPr>
          <a:xfrm flipH="1">
            <a:off x="-4891207" y="-1892226"/>
            <a:ext cx="8857230" cy="3784453"/>
          </a:xfrm>
          <a:custGeom>
            <a:avLst/>
            <a:gdLst/>
            <a:ahLst/>
            <a:cxnLst/>
            <a:rect l="l" t="t" r="r" b="b"/>
            <a:pathLst>
              <a:path w="8857230" h="3784453">
                <a:moveTo>
                  <a:pt x="8857231" y="0"/>
                </a:moveTo>
                <a:lnTo>
                  <a:pt x="0" y="0"/>
                </a:lnTo>
                <a:lnTo>
                  <a:pt x="0" y="3784452"/>
                </a:lnTo>
                <a:lnTo>
                  <a:pt x="8857231" y="3784452"/>
                </a:lnTo>
                <a:lnTo>
                  <a:pt x="8857231" y="0"/>
                </a:lnTo>
                <a:close/>
              </a:path>
            </a:pathLst>
          </a:custGeom>
          <a:blipFill>
            <a:blip r:embed="rId4">
              <a:extLst>
                <a:ext uri="{96DAC541-7B7A-43D3-8B79-37D633B846F1}">
                  <asvg:svgBlip xmlns:asvg="http://schemas.microsoft.com/office/drawing/2016/SVG/main" r:embed="rId5"/>
                </a:ext>
              </a:extLst>
            </a:blip>
            <a:stretch>
              <a:fillRect/>
            </a:stretch>
          </a:blipFill>
          <a:ln cap="sq">
            <a:noFill/>
            <a:prstDash val="solid"/>
            <a:miter/>
          </a:ln>
        </p:spPr>
      </p:sp>
      <p:sp>
        <p:nvSpPr>
          <p:cNvPr id="10" name="Freeform 10"/>
          <p:cNvSpPr/>
          <p:nvPr/>
        </p:nvSpPr>
        <p:spPr>
          <a:xfrm>
            <a:off x="14321976" y="-1892226"/>
            <a:ext cx="8857230" cy="3784453"/>
          </a:xfrm>
          <a:custGeom>
            <a:avLst/>
            <a:gdLst/>
            <a:ahLst/>
            <a:cxnLst/>
            <a:rect l="l" t="t" r="r" b="b"/>
            <a:pathLst>
              <a:path w="8857230" h="3784453">
                <a:moveTo>
                  <a:pt x="0" y="0"/>
                </a:moveTo>
                <a:lnTo>
                  <a:pt x="8857231" y="0"/>
                </a:lnTo>
                <a:lnTo>
                  <a:pt x="8857231" y="3784452"/>
                </a:lnTo>
                <a:lnTo>
                  <a:pt x="0" y="3784452"/>
                </a:lnTo>
                <a:lnTo>
                  <a:pt x="0" y="0"/>
                </a:lnTo>
                <a:close/>
              </a:path>
            </a:pathLst>
          </a:custGeom>
          <a:blipFill>
            <a:blip r:embed="rId4">
              <a:extLst>
                <a:ext uri="{96DAC541-7B7A-43D3-8B79-37D633B846F1}">
                  <asvg:svgBlip xmlns:asvg="http://schemas.microsoft.com/office/drawing/2016/SVG/main" r:embed="rId5"/>
                </a:ext>
              </a:extLst>
            </a:blip>
            <a:stretch>
              <a:fillRect/>
            </a:stretch>
          </a:blipFill>
          <a:ln cap="sq">
            <a:noFill/>
            <a:prstDash val="solid"/>
            <a:miter/>
          </a:ln>
        </p:spPr>
      </p:sp>
      <p:sp>
        <p:nvSpPr>
          <p:cNvPr id="11" name="TextBox 11"/>
          <p:cNvSpPr txBox="1"/>
          <p:nvPr/>
        </p:nvSpPr>
        <p:spPr>
          <a:xfrm>
            <a:off x="1499577" y="4487371"/>
            <a:ext cx="7098775" cy="3111897"/>
          </a:xfrm>
          <a:prstGeom prst="rect">
            <a:avLst/>
          </a:prstGeom>
        </p:spPr>
        <p:txBody>
          <a:bodyPr lIns="0" tIns="0" rIns="0" bIns="0" rtlCol="0" anchor="t">
            <a:spAutoFit/>
          </a:bodyPr>
          <a:lstStyle/>
          <a:p>
            <a:pPr algn="just">
              <a:lnSpc>
                <a:spcPts val="3096"/>
              </a:lnSpc>
            </a:pPr>
            <a:r>
              <a:rPr lang="en-US" sz="2580" b="1">
                <a:solidFill>
                  <a:srgbClr val="434F1A"/>
                </a:solidFill>
                <a:latin typeface="DM Sans Bold"/>
                <a:ea typeface="DM Sans Bold"/>
                <a:cs typeface="DM Sans Bold"/>
                <a:sym typeface="DM Sans Bold"/>
              </a:rPr>
              <a:t> #3: Strange sounds coming from the ocean</a:t>
            </a:r>
          </a:p>
          <a:p>
            <a:pPr algn="just">
              <a:lnSpc>
                <a:spcPts val="3096"/>
              </a:lnSpc>
            </a:pPr>
            <a:endParaRPr lang="en-US" sz="2580" b="1">
              <a:solidFill>
                <a:srgbClr val="434F1A"/>
              </a:solidFill>
              <a:latin typeface="DM Sans Bold"/>
              <a:ea typeface="DM Sans Bold"/>
              <a:cs typeface="DM Sans Bold"/>
              <a:sym typeface="DM Sans Bold"/>
            </a:endParaRPr>
          </a:p>
          <a:p>
            <a:pPr algn="just">
              <a:lnSpc>
                <a:spcPts val="3096"/>
              </a:lnSpc>
            </a:pPr>
            <a:r>
              <a:rPr lang="en-US" sz="2580" b="1">
                <a:solidFill>
                  <a:srgbClr val="434F1A"/>
                </a:solidFill>
                <a:latin typeface="DM Sans Bold"/>
                <a:ea typeface="DM Sans Bold"/>
                <a:cs typeface="DM Sans Bold"/>
                <a:sym typeface="DM Sans Bold"/>
              </a:rPr>
              <a:t>Unusual roaring, rumbling, or loud sounds from the ocean can be a sign that a tsunami is approaching. These sounds often happen before the waves reach the shore, so it’s important to move to higher ground immediately if you hear them.</a:t>
            </a:r>
          </a:p>
        </p:txBody>
      </p:sp>
      <p:sp>
        <p:nvSpPr>
          <p:cNvPr id="12" name="TextBox 12"/>
          <p:cNvSpPr txBox="1"/>
          <p:nvPr/>
        </p:nvSpPr>
        <p:spPr>
          <a:xfrm>
            <a:off x="9638103" y="4487371"/>
            <a:ext cx="7127094" cy="3111360"/>
          </a:xfrm>
          <a:prstGeom prst="rect">
            <a:avLst/>
          </a:prstGeom>
        </p:spPr>
        <p:txBody>
          <a:bodyPr lIns="0" tIns="0" rIns="0" bIns="0" rtlCol="0" anchor="t">
            <a:spAutoFit/>
          </a:bodyPr>
          <a:lstStyle/>
          <a:p>
            <a:pPr algn="just">
              <a:lnSpc>
                <a:spcPts val="3096"/>
              </a:lnSpc>
            </a:pPr>
            <a:r>
              <a:rPr lang="en-US" sz="2580" b="1">
                <a:solidFill>
                  <a:srgbClr val="434F1A"/>
                </a:solidFill>
                <a:latin typeface="DM Sans Bold"/>
                <a:ea typeface="DM Sans Bold"/>
                <a:cs typeface="DM Sans Bold"/>
                <a:sym typeface="DM Sans Bold"/>
              </a:rPr>
              <a:t>#4: Animals acting strangely</a:t>
            </a:r>
          </a:p>
          <a:p>
            <a:pPr algn="just">
              <a:lnSpc>
                <a:spcPts val="3096"/>
              </a:lnSpc>
            </a:pPr>
            <a:endParaRPr lang="en-US" sz="2580" b="1">
              <a:solidFill>
                <a:srgbClr val="434F1A"/>
              </a:solidFill>
              <a:latin typeface="DM Sans Bold"/>
              <a:ea typeface="DM Sans Bold"/>
              <a:cs typeface="DM Sans Bold"/>
              <a:sym typeface="DM Sans Bold"/>
            </a:endParaRPr>
          </a:p>
          <a:p>
            <a:pPr algn="just">
              <a:lnSpc>
                <a:spcPts val="3096"/>
              </a:lnSpc>
            </a:pPr>
            <a:r>
              <a:rPr lang="en-US" sz="2580" b="1">
                <a:solidFill>
                  <a:srgbClr val="434F1A"/>
                </a:solidFill>
                <a:latin typeface="DM Sans Bold"/>
                <a:ea typeface="DM Sans Bold"/>
                <a:cs typeface="DM Sans Bold"/>
                <a:sym typeface="DM Sans Bold"/>
              </a:rPr>
              <a:t>Animals often sense danger before humans do. If birds, fish, or other animals suddenly leave the area or behave nervously, it could be a warning that a tsunami or other disaster is coming. People should pay attention and move to a safe place right away.</a:t>
            </a:r>
          </a:p>
        </p:txBody>
      </p:sp>
      <p:sp>
        <p:nvSpPr>
          <p:cNvPr id="13" name="Freeform 13"/>
          <p:cNvSpPr/>
          <p:nvPr/>
        </p:nvSpPr>
        <p:spPr>
          <a:xfrm>
            <a:off x="15988253" y="1738996"/>
            <a:ext cx="2886644" cy="1322608"/>
          </a:xfrm>
          <a:custGeom>
            <a:avLst/>
            <a:gdLst/>
            <a:ahLst/>
            <a:cxnLst/>
            <a:rect l="l" t="t" r="r" b="b"/>
            <a:pathLst>
              <a:path w="2886644" h="1322608">
                <a:moveTo>
                  <a:pt x="0" y="0"/>
                </a:moveTo>
                <a:lnTo>
                  <a:pt x="2886644" y="0"/>
                </a:lnTo>
                <a:lnTo>
                  <a:pt x="2886644" y="1322608"/>
                </a:lnTo>
                <a:lnTo>
                  <a:pt x="0" y="1322608"/>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4" name="Freeform 14"/>
          <p:cNvSpPr/>
          <p:nvPr/>
        </p:nvSpPr>
        <p:spPr>
          <a:xfrm flipH="1">
            <a:off x="-586897" y="1738996"/>
            <a:ext cx="2886644" cy="1322608"/>
          </a:xfrm>
          <a:custGeom>
            <a:avLst/>
            <a:gdLst/>
            <a:ahLst/>
            <a:cxnLst/>
            <a:rect l="l" t="t" r="r" b="b"/>
            <a:pathLst>
              <a:path w="2886644" h="1322608">
                <a:moveTo>
                  <a:pt x="2886644" y="0"/>
                </a:moveTo>
                <a:lnTo>
                  <a:pt x="0" y="0"/>
                </a:lnTo>
                <a:lnTo>
                  <a:pt x="0" y="1322608"/>
                </a:lnTo>
                <a:lnTo>
                  <a:pt x="2886644" y="1322608"/>
                </a:lnTo>
                <a:lnTo>
                  <a:pt x="2886644"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5" name="Freeform 15"/>
          <p:cNvSpPr/>
          <p:nvPr/>
        </p:nvSpPr>
        <p:spPr>
          <a:xfrm>
            <a:off x="8438325" y="8315129"/>
            <a:ext cx="1411350" cy="1411350"/>
          </a:xfrm>
          <a:custGeom>
            <a:avLst/>
            <a:gdLst/>
            <a:ahLst/>
            <a:cxnLst/>
            <a:rect l="l" t="t" r="r" b="b"/>
            <a:pathLst>
              <a:path w="1411350" h="1411350">
                <a:moveTo>
                  <a:pt x="0" y="0"/>
                </a:moveTo>
                <a:lnTo>
                  <a:pt x="1411350" y="0"/>
                </a:lnTo>
                <a:lnTo>
                  <a:pt x="1411350" y="1411350"/>
                </a:lnTo>
                <a:lnTo>
                  <a:pt x="0" y="1411350"/>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16" name="TextBox 16"/>
          <p:cNvSpPr txBox="1"/>
          <p:nvPr/>
        </p:nvSpPr>
        <p:spPr>
          <a:xfrm>
            <a:off x="4687991" y="1310630"/>
            <a:ext cx="8306682" cy="2179341"/>
          </a:xfrm>
          <a:prstGeom prst="rect">
            <a:avLst/>
          </a:prstGeom>
        </p:spPr>
        <p:txBody>
          <a:bodyPr lIns="0" tIns="0" rIns="0" bIns="0" rtlCol="0" anchor="t">
            <a:spAutoFit/>
          </a:bodyPr>
          <a:lstStyle/>
          <a:p>
            <a:pPr algn="l">
              <a:lnSpc>
                <a:spcPts val="8580"/>
              </a:lnSpc>
            </a:pPr>
            <a:r>
              <a:rPr lang="en-US" sz="7150">
                <a:solidFill>
                  <a:srgbClr val="A56C53"/>
                </a:solidFill>
                <a:latin typeface="Anton"/>
                <a:ea typeface="Anton"/>
                <a:cs typeface="Anton"/>
                <a:sym typeface="Anton"/>
              </a:rPr>
              <a:t>⚠ NATURAL SIGNS OF AN </a:t>
            </a:r>
            <a:r>
              <a:rPr lang="en-US" sz="7150">
                <a:solidFill>
                  <a:srgbClr val="434F1A"/>
                </a:solidFill>
                <a:latin typeface="Anton"/>
                <a:ea typeface="Anton"/>
                <a:cs typeface="Anton"/>
                <a:sym typeface="Anton"/>
              </a:rPr>
              <a:t>IMPENDING TSUNAMI</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E6E2CF"/>
        </a:solidFill>
        <a:effectLst/>
      </p:bgPr>
    </p:bg>
    <p:spTree>
      <p:nvGrpSpPr>
        <p:cNvPr id="1" name=""/>
        <p:cNvGrpSpPr/>
        <p:nvPr/>
      </p:nvGrpSpPr>
      <p:grpSpPr>
        <a:xfrm>
          <a:off x="0" y="0"/>
          <a:ext cx="0" cy="0"/>
          <a:chOff x="0" y="0"/>
          <a:chExt cx="0" cy="0"/>
        </a:xfrm>
      </p:grpSpPr>
      <p:sp>
        <p:nvSpPr>
          <p:cNvPr id="2" name="Freeform 2"/>
          <p:cNvSpPr/>
          <p:nvPr/>
        </p:nvSpPr>
        <p:spPr>
          <a:xfrm>
            <a:off x="2871488" y="6984692"/>
            <a:ext cx="898107" cy="898107"/>
          </a:xfrm>
          <a:custGeom>
            <a:avLst/>
            <a:gdLst/>
            <a:ahLst/>
            <a:cxnLst/>
            <a:rect l="l" t="t" r="r" b="b"/>
            <a:pathLst>
              <a:path w="898107" h="898107">
                <a:moveTo>
                  <a:pt x="0" y="0"/>
                </a:moveTo>
                <a:lnTo>
                  <a:pt x="898108" y="0"/>
                </a:lnTo>
                <a:lnTo>
                  <a:pt x="898108" y="898107"/>
                </a:lnTo>
                <a:lnTo>
                  <a:pt x="0" y="89810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14641872" y="6984692"/>
            <a:ext cx="898107" cy="898107"/>
          </a:xfrm>
          <a:custGeom>
            <a:avLst/>
            <a:gdLst/>
            <a:ahLst/>
            <a:cxnLst/>
            <a:rect l="l" t="t" r="r" b="b"/>
            <a:pathLst>
              <a:path w="898107" h="898107">
                <a:moveTo>
                  <a:pt x="0" y="0"/>
                </a:moveTo>
                <a:lnTo>
                  <a:pt x="898108" y="0"/>
                </a:lnTo>
                <a:lnTo>
                  <a:pt x="898108" y="898107"/>
                </a:lnTo>
                <a:lnTo>
                  <a:pt x="0" y="89810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a:off x="5868561" y="3631357"/>
            <a:ext cx="8953225" cy="7102252"/>
          </a:xfrm>
          <a:custGeom>
            <a:avLst/>
            <a:gdLst/>
            <a:ahLst/>
            <a:cxnLst/>
            <a:rect l="l" t="t" r="r" b="b"/>
            <a:pathLst>
              <a:path w="8953225" h="7102252">
                <a:moveTo>
                  <a:pt x="0" y="0"/>
                </a:moveTo>
                <a:lnTo>
                  <a:pt x="8953226" y="0"/>
                </a:lnTo>
                <a:lnTo>
                  <a:pt x="8953226" y="7102252"/>
                </a:lnTo>
                <a:lnTo>
                  <a:pt x="0" y="7102252"/>
                </a:lnTo>
                <a:lnTo>
                  <a:pt x="0" y="0"/>
                </a:lnTo>
                <a:close/>
              </a:path>
            </a:pathLst>
          </a:custGeom>
          <a:blipFill>
            <a:blip r:embed="rId4">
              <a:extLst>
                <a:ext uri="{96DAC541-7B7A-43D3-8B79-37D633B846F1}">
                  <asvg:svgBlip xmlns:asvg="http://schemas.microsoft.com/office/drawing/2016/SVG/main" r:embed="rId5"/>
                </a:ext>
              </a:extLst>
            </a:blip>
            <a:stretch>
              <a:fillRect/>
            </a:stretch>
          </a:blipFill>
          <a:ln cap="sq">
            <a:noFill/>
            <a:prstDash val="solid"/>
            <a:miter/>
          </a:ln>
        </p:spPr>
      </p:sp>
      <p:grpSp>
        <p:nvGrpSpPr>
          <p:cNvPr id="5" name="Group 5"/>
          <p:cNvGrpSpPr/>
          <p:nvPr/>
        </p:nvGrpSpPr>
        <p:grpSpPr>
          <a:xfrm>
            <a:off x="1028700" y="3839988"/>
            <a:ext cx="6736651" cy="6001030"/>
            <a:chOff x="0" y="0"/>
            <a:chExt cx="1774262" cy="1580518"/>
          </a:xfrm>
        </p:grpSpPr>
        <p:sp>
          <p:nvSpPr>
            <p:cNvPr id="6" name="Freeform 6"/>
            <p:cNvSpPr/>
            <p:nvPr/>
          </p:nvSpPr>
          <p:spPr>
            <a:xfrm>
              <a:off x="0" y="0"/>
              <a:ext cx="1774262" cy="1580518"/>
            </a:xfrm>
            <a:custGeom>
              <a:avLst/>
              <a:gdLst/>
              <a:ahLst/>
              <a:cxnLst/>
              <a:rect l="l" t="t" r="r" b="b"/>
              <a:pathLst>
                <a:path w="1774262" h="1580518">
                  <a:moveTo>
                    <a:pt x="51715" y="0"/>
                  </a:moveTo>
                  <a:lnTo>
                    <a:pt x="1722547" y="0"/>
                  </a:lnTo>
                  <a:cubicBezTo>
                    <a:pt x="1736263" y="0"/>
                    <a:pt x="1749417" y="5449"/>
                    <a:pt x="1759115" y="15147"/>
                  </a:cubicBezTo>
                  <a:cubicBezTo>
                    <a:pt x="1768814" y="24845"/>
                    <a:pt x="1774262" y="37999"/>
                    <a:pt x="1774262" y="51715"/>
                  </a:cubicBezTo>
                  <a:lnTo>
                    <a:pt x="1774262" y="1528803"/>
                  </a:lnTo>
                  <a:cubicBezTo>
                    <a:pt x="1774262" y="1542519"/>
                    <a:pt x="1768814" y="1555673"/>
                    <a:pt x="1759115" y="1565371"/>
                  </a:cubicBezTo>
                  <a:cubicBezTo>
                    <a:pt x="1749417" y="1575070"/>
                    <a:pt x="1736263" y="1580518"/>
                    <a:pt x="1722547" y="1580518"/>
                  </a:cubicBezTo>
                  <a:lnTo>
                    <a:pt x="51715" y="1580518"/>
                  </a:lnTo>
                  <a:cubicBezTo>
                    <a:pt x="23154" y="1580518"/>
                    <a:pt x="0" y="1557365"/>
                    <a:pt x="0" y="1528803"/>
                  </a:cubicBezTo>
                  <a:lnTo>
                    <a:pt x="0" y="51715"/>
                  </a:lnTo>
                  <a:cubicBezTo>
                    <a:pt x="0" y="37999"/>
                    <a:pt x="5449" y="24845"/>
                    <a:pt x="15147" y="15147"/>
                  </a:cubicBezTo>
                  <a:cubicBezTo>
                    <a:pt x="24845" y="5449"/>
                    <a:pt x="37999" y="0"/>
                    <a:pt x="51715" y="0"/>
                  </a:cubicBezTo>
                  <a:close/>
                </a:path>
              </a:pathLst>
            </a:custGeom>
            <a:solidFill>
              <a:srgbClr val="FFFFFF"/>
            </a:solidFill>
          </p:spPr>
        </p:sp>
        <p:sp>
          <p:nvSpPr>
            <p:cNvPr id="7" name="TextBox 7"/>
            <p:cNvSpPr txBox="1"/>
            <p:nvPr/>
          </p:nvSpPr>
          <p:spPr>
            <a:xfrm>
              <a:off x="0" y="-38100"/>
              <a:ext cx="1774262" cy="1618618"/>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p:cNvGrpSpPr/>
          <p:nvPr/>
        </p:nvGrpSpPr>
        <p:grpSpPr>
          <a:xfrm>
            <a:off x="10935604" y="3839988"/>
            <a:ext cx="6736651" cy="6001030"/>
            <a:chOff x="0" y="0"/>
            <a:chExt cx="1774262" cy="1580518"/>
          </a:xfrm>
        </p:grpSpPr>
        <p:sp>
          <p:nvSpPr>
            <p:cNvPr id="9" name="Freeform 9"/>
            <p:cNvSpPr/>
            <p:nvPr/>
          </p:nvSpPr>
          <p:spPr>
            <a:xfrm>
              <a:off x="0" y="0"/>
              <a:ext cx="1774262" cy="1580518"/>
            </a:xfrm>
            <a:custGeom>
              <a:avLst/>
              <a:gdLst/>
              <a:ahLst/>
              <a:cxnLst/>
              <a:rect l="l" t="t" r="r" b="b"/>
              <a:pathLst>
                <a:path w="1774262" h="1580518">
                  <a:moveTo>
                    <a:pt x="51715" y="0"/>
                  </a:moveTo>
                  <a:lnTo>
                    <a:pt x="1722547" y="0"/>
                  </a:lnTo>
                  <a:cubicBezTo>
                    <a:pt x="1736263" y="0"/>
                    <a:pt x="1749417" y="5449"/>
                    <a:pt x="1759115" y="15147"/>
                  </a:cubicBezTo>
                  <a:cubicBezTo>
                    <a:pt x="1768814" y="24845"/>
                    <a:pt x="1774262" y="37999"/>
                    <a:pt x="1774262" y="51715"/>
                  </a:cubicBezTo>
                  <a:lnTo>
                    <a:pt x="1774262" y="1528803"/>
                  </a:lnTo>
                  <a:cubicBezTo>
                    <a:pt x="1774262" y="1542519"/>
                    <a:pt x="1768814" y="1555673"/>
                    <a:pt x="1759115" y="1565371"/>
                  </a:cubicBezTo>
                  <a:cubicBezTo>
                    <a:pt x="1749417" y="1575070"/>
                    <a:pt x="1736263" y="1580518"/>
                    <a:pt x="1722547" y="1580518"/>
                  </a:cubicBezTo>
                  <a:lnTo>
                    <a:pt x="51715" y="1580518"/>
                  </a:lnTo>
                  <a:cubicBezTo>
                    <a:pt x="23154" y="1580518"/>
                    <a:pt x="0" y="1557365"/>
                    <a:pt x="0" y="1528803"/>
                  </a:cubicBezTo>
                  <a:lnTo>
                    <a:pt x="0" y="51715"/>
                  </a:lnTo>
                  <a:cubicBezTo>
                    <a:pt x="0" y="37999"/>
                    <a:pt x="5449" y="24845"/>
                    <a:pt x="15147" y="15147"/>
                  </a:cubicBezTo>
                  <a:cubicBezTo>
                    <a:pt x="24845" y="5449"/>
                    <a:pt x="37999" y="0"/>
                    <a:pt x="51715" y="0"/>
                  </a:cubicBezTo>
                  <a:close/>
                </a:path>
              </a:pathLst>
            </a:custGeom>
            <a:solidFill>
              <a:srgbClr val="FFFFFF"/>
            </a:solidFill>
          </p:spPr>
        </p:sp>
        <p:sp>
          <p:nvSpPr>
            <p:cNvPr id="10" name="TextBox 10"/>
            <p:cNvSpPr txBox="1"/>
            <p:nvPr/>
          </p:nvSpPr>
          <p:spPr>
            <a:xfrm>
              <a:off x="0" y="-38100"/>
              <a:ext cx="1774262" cy="1618618"/>
            </a:xfrm>
            <a:prstGeom prst="rect">
              <a:avLst/>
            </a:prstGeom>
          </p:spPr>
          <p:txBody>
            <a:bodyPr lIns="50800" tIns="50800" rIns="50800" bIns="50800" rtlCol="0" anchor="ctr"/>
            <a:lstStyle/>
            <a:p>
              <a:pPr algn="ctr">
                <a:lnSpc>
                  <a:spcPts val="2659"/>
                </a:lnSpc>
                <a:spcBef>
                  <a:spcPct val="0"/>
                </a:spcBef>
              </a:pPr>
              <a:endParaRPr/>
            </a:p>
          </p:txBody>
        </p:sp>
      </p:grpSp>
      <p:sp>
        <p:nvSpPr>
          <p:cNvPr id="11" name="TextBox 11"/>
          <p:cNvSpPr txBox="1"/>
          <p:nvPr/>
        </p:nvSpPr>
        <p:spPr>
          <a:xfrm>
            <a:off x="11441445" y="4270029"/>
            <a:ext cx="5909840" cy="4238625"/>
          </a:xfrm>
          <a:prstGeom prst="rect">
            <a:avLst/>
          </a:prstGeom>
        </p:spPr>
        <p:txBody>
          <a:bodyPr lIns="0" tIns="0" rIns="0" bIns="0" rtlCol="0" anchor="t">
            <a:spAutoFit/>
          </a:bodyPr>
          <a:lstStyle/>
          <a:p>
            <a:pPr algn="ctr">
              <a:lnSpc>
                <a:spcPts val="3620"/>
              </a:lnSpc>
            </a:pPr>
            <a:r>
              <a:rPr lang="en-US" sz="3016" b="1">
                <a:solidFill>
                  <a:srgbClr val="6F842C"/>
                </a:solidFill>
                <a:latin typeface="DM Sans Bold"/>
                <a:ea typeface="DM Sans Bold"/>
                <a:cs typeface="DM Sans Bold"/>
                <a:sym typeface="DM Sans Bold"/>
              </a:rPr>
              <a:t>What Not to Do:</a:t>
            </a:r>
          </a:p>
          <a:p>
            <a:pPr algn="ctr">
              <a:lnSpc>
                <a:spcPts val="2540"/>
              </a:lnSpc>
            </a:pPr>
            <a:endParaRPr lang="en-US" sz="3016" b="1">
              <a:solidFill>
                <a:srgbClr val="6F842C"/>
              </a:solidFill>
              <a:latin typeface="DM Sans Bold"/>
              <a:ea typeface="DM Sans Bold"/>
              <a:cs typeface="DM Sans Bold"/>
              <a:sym typeface="DM Sans Bold"/>
            </a:endParaRPr>
          </a:p>
          <a:p>
            <a:pPr marL="457011" lvl="1" indent="-228505" algn="l">
              <a:lnSpc>
                <a:spcPts val="2540"/>
              </a:lnSpc>
              <a:buFont typeface="Arial"/>
              <a:buChar char="•"/>
            </a:pPr>
            <a:r>
              <a:rPr lang="en-US" sz="2116" b="1">
                <a:solidFill>
                  <a:srgbClr val="6F842C"/>
                </a:solidFill>
                <a:latin typeface="DM Sans Bold"/>
                <a:ea typeface="DM Sans Bold"/>
                <a:cs typeface="DM Sans Bold"/>
                <a:sym typeface="DM Sans Bold"/>
              </a:rPr>
              <a:t>Do not go to the beach to watch the waves.</a:t>
            </a:r>
          </a:p>
          <a:p>
            <a:pPr marL="457011" lvl="1" indent="-228505" algn="l">
              <a:lnSpc>
                <a:spcPts val="2540"/>
              </a:lnSpc>
              <a:buFont typeface="Arial"/>
              <a:buChar char="•"/>
            </a:pPr>
            <a:r>
              <a:rPr lang="en-US" sz="2116" b="1">
                <a:solidFill>
                  <a:srgbClr val="6F842C"/>
                </a:solidFill>
                <a:latin typeface="DM Sans Bold"/>
                <a:ea typeface="DM Sans Bold"/>
                <a:cs typeface="DM Sans Bold"/>
                <a:sym typeface="DM Sans Bold"/>
              </a:rPr>
              <a:t>Do not wait for confirmation tsunamis can arrive quickly.</a:t>
            </a:r>
          </a:p>
          <a:p>
            <a:pPr marL="457011" lvl="1" indent="-228505" algn="l">
              <a:lnSpc>
                <a:spcPts val="2540"/>
              </a:lnSpc>
              <a:buFont typeface="Arial"/>
              <a:buChar char="•"/>
            </a:pPr>
            <a:r>
              <a:rPr lang="en-US" sz="2116" b="1">
                <a:solidFill>
                  <a:srgbClr val="6F842C"/>
                </a:solidFill>
                <a:latin typeface="DM Sans Bold"/>
                <a:ea typeface="DM Sans Bold"/>
                <a:cs typeface="DM Sans Bold"/>
                <a:sym typeface="DM Sans Bold"/>
              </a:rPr>
              <a:t>Do not stay in low-lying areas they are most at risk.</a:t>
            </a:r>
          </a:p>
          <a:p>
            <a:pPr marL="457011" lvl="1" indent="-228505" algn="l">
              <a:lnSpc>
                <a:spcPts val="2540"/>
              </a:lnSpc>
              <a:buFont typeface="Arial"/>
              <a:buChar char="•"/>
            </a:pPr>
            <a:r>
              <a:rPr lang="en-US" sz="2116" b="1">
                <a:solidFill>
                  <a:srgbClr val="6F842C"/>
                </a:solidFill>
                <a:latin typeface="DM Sans Bold"/>
                <a:ea typeface="DM Sans Bold"/>
                <a:cs typeface="DM Sans Bold"/>
                <a:sym typeface="DM Sans Bold"/>
              </a:rPr>
              <a:t>Do not drive into flooded areas roads can be dangerous or washed away.</a:t>
            </a:r>
          </a:p>
          <a:p>
            <a:pPr marL="457011" lvl="1" indent="-228505" algn="l">
              <a:lnSpc>
                <a:spcPts val="2540"/>
              </a:lnSpc>
              <a:buFont typeface="Arial"/>
              <a:buChar char="•"/>
            </a:pPr>
            <a:r>
              <a:rPr lang="en-US" sz="2116" b="1">
                <a:solidFill>
                  <a:srgbClr val="6F842C"/>
                </a:solidFill>
                <a:latin typeface="DM Sans Bold"/>
                <a:ea typeface="DM Sans Bold"/>
                <a:cs typeface="DM Sans Bold"/>
                <a:sym typeface="DM Sans Bold"/>
              </a:rPr>
              <a:t>Do not ignore warning signs acting late can be deadly.</a:t>
            </a:r>
          </a:p>
          <a:p>
            <a:pPr algn="l">
              <a:lnSpc>
                <a:spcPts val="2540"/>
              </a:lnSpc>
            </a:pPr>
            <a:endParaRPr lang="en-US" sz="2116" b="1">
              <a:solidFill>
                <a:srgbClr val="6F842C"/>
              </a:solidFill>
              <a:latin typeface="DM Sans Bold"/>
              <a:ea typeface="DM Sans Bold"/>
              <a:cs typeface="DM Sans Bold"/>
              <a:sym typeface="DM Sans Bold"/>
            </a:endParaRPr>
          </a:p>
        </p:txBody>
      </p:sp>
      <p:sp>
        <p:nvSpPr>
          <p:cNvPr id="12" name="Freeform 12"/>
          <p:cNvSpPr/>
          <p:nvPr/>
        </p:nvSpPr>
        <p:spPr>
          <a:xfrm>
            <a:off x="-13704" y="8895156"/>
            <a:ext cx="19213183" cy="6497549"/>
          </a:xfrm>
          <a:custGeom>
            <a:avLst/>
            <a:gdLst/>
            <a:ahLst/>
            <a:cxnLst/>
            <a:rect l="l" t="t" r="r" b="b"/>
            <a:pathLst>
              <a:path w="19213183" h="6497549">
                <a:moveTo>
                  <a:pt x="0" y="0"/>
                </a:moveTo>
                <a:lnTo>
                  <a:pt x="19213183" y="0"/>
                </a:lnTo>
                <a:lnTo>
                  <a:pt x="19213183" y="6497549"/>
                </a:lnTo>
                <a:lnTo>
                  <a:pt x="0" y="6497549"/>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3" name="TextBox 13"/>
          <p:cNvSpPr txBox="1"/>
          <p:nvPr/>
        </p:nvSpPr>
        <p:spPr>
          <a:xfrm>
            <a:off x="4184075" y="307132"/>
            <a:ext cx="10457798" cy="2933700"/>
          </a:xfrm>
          <a:prstGeom prst="rect">
            <a:avLst/>
          </a:prstGeom>
        </p:spPr>
        <p:txBody>
          <a:bodyPr lIns="0" tIns="0" rIns="0" bIns="0" rtlCol="0" anchor="t">
            <a:spAutoFit/>
          </a:bodyPr>
          <a:lstStyle/>
          <a:p>
            <a:pPr algn="ctr">
              <a:lnSpc>
                <a:spcPts val="9319"/>
              </a:lnSpc>
            </a:pPr>
            <a:r>
              <a:rPr lang="en-US" sz="7766">
                <a:solidFill>
                  <a:srgbClr val="A56C53"/>
                </a:solidFill>
                <a:latin typeface="Anton"/>
                <a:ea typeface="Anton"/>
                <a:cs typeface="Anton"/>
                <a:sym typeface="Anton"/>
              </a:rPr>
              <a:t>WHAT TO DO AND</a:t>
            </a:r>
          </a:p>
          <a:p>
            <a:pPr algn="ctr">
              <a:lnSpc>
                <a:spcPts val="9319"/>
              </a:lnSpc>
            </a:pPr>
            <a:r>
              <a:rPr lang="en-US" sz="7766">
                <a:solidFill>
                  <a:srgbClr val="A56C53"/>
                </a:solidFill>
                <a:latin typeface="Anton"/>
                <a:ea typeface="Anton"/>
                <a:cs typeface="Anton"/>
                <a:sym typeface="Anton"/>
              </a:rPr>
              <a:t> WHAT NOT TO DO</a:t>
            </a:r>
          </a:p>
          <a:p>
            <a:pPr algn="ctr">
              <a:lnSpc>
                <a:spcPts val="4513"/>
              </a:lnSpc>
            </a:pPr>
            <a:r>
              <a:rPr lang="en-US" sz="3761">
                <a:solidFill>
                  <a:srgbClr val="434F1A"/>
                </a:solidFill>
                <a:latin typeface="Anton"/>
                <a:ea typeface="Anton"/>
                <a:cs typeface="Anton"/>
                <a:sym typeface="Anton"/>
              </a:rPr>
              <a:t> IF YOU NOTICE TSUNAMI SIGN </a:t>
            </a:r>
          </a:p>
        </p:txBody>
      </p:sp>
      <p:sp>
        <p:nvSpPr>
          <p:cNvPr id="14" name="Freeform 14"/>
          <p:cNvSpPr/>
          <p:nvPr/>
        </p:nvSpPr>
        <p:spPr>
          <a:xfrm flipH="1">
            <a:off x="615745" y="1458501"/>
            <a:ext cx="2255743" cy="1033541"/>
          </a:xfrm>
          <a:custGeom>
            <a:avLst/>
            <a:gdLst/>
            <a:ahLst/>
            <a:cxnLst/>
            <a:rect l="l" t="t" r="r" b="b"/>
            <a:pathLst>
              <a:path w="2255743" h="1033541">
                <a:moveTo>
                  <a:pt x="2255743" y="0"/>
                </a:moveTo>
                <a:lnTo>
                  <a:pt x="0" y="0"/>
                </a:lnTo>
                <a:lnTo>
                  <a:pt x="0" y="1033540"/>
                </a:lnTo>
                <a:lnTo>
                  <a:pt x="2255743" y="1033540"/>
                </a:lnTo>
                <a:lnTo>
                  <a:pt x="2255743"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15" name="Freeform 15"/>
          <p:cNvSpPr/>
          <p:nvPr/>
        </p:nvSpPr>
        <p:spPr>
          <a:xfrm>
            <a:off x="15416512" y="1458501"/>
            <a:ext cx="2255743" cy="1033541"/>
          </a:xfrm>
          <a:custGeom>
            <a:avLst/>
            <a:gdLst/>
            <a:ahLst/>
            <a:cxnLst/>
            <a:rect l="l" t="t" r="r" b="b"/>
            <a:pathLst>
              <a:path w="2255743" h="1033541">
                <a:moveTo>
                  <a:pt x="0" y="0"/>
                </a:moveTo>
                <a:lnTo>
                  <a:pt x="2255743" y="0"/>
                </a:lnTo>
                <a:lnTo>
                  <a:pt x="2255743" y="1033540"/>
                </a:lnTo>
                <a:lnTo>
                  <a:pt x="0" y="1033540"/>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16" name="TextBox 16"/>
          <p:cNvSpPr txBox="1"/>
          <p:nvPr/>
        </p:nvSpPr>
        <p:spPr>
          <a:xfrm>
            <a:off x="1358665" y="4270029"/>
            <a:ext cx="6010647" cy="4457700"/>
          </a:xfrm>
          <a:prstGeom prst="rect">
            <a:avLst/>
          </a:prstGeom>
        </p:spPr>
        <p:txBody>
          <a:bodyPr lIns="0" tIns="0" rIns="0" bIns="0" rtlCol="0" anchor="t">
            <a:spAutoFit/>
          </a:bodyPr>
          <a:lstStyle/>
          <a:p>
            <a:pPr algn="ctr">
              <a:lnSpc>
                <a:spcPts val="3620"/>
              </a:lnSpc>
            </a:pPr>
            <a:r>
              <a:rPr lang="en-US" sz="3016" b="1">
                <a:solidFill>
                  <a:srgbClr val="6F842C"/>
                </a:solidFill>
                <a:latin typeface="DM Sans Bold"/>
                <a:ea typeface="DM Sans Bold"/>
                <a:cs typeface="DM Sans Bold"/>
                <a:sym typeface="DM Sans Bold"/>
              </a:rPr>
              <a:t>What To Do:</a:t>
            </a:r>
          </a:p>
          <a:p>
            <a:pPr algn="ctr">
              <a:lnSpc>
                <a:spcPts val="2060"/>
              </a:lnSpc>
            </a:pPr>
            <a:endParaRPr lang="en-US" sz="3016" b="1">
              <a:solidFill>
                <a:srgbClr val="6F842C"/>
              </a:solidFill>
              <a:latin typeface="DM Sans Bold"/>
              <a:ea typeface="DM Sans Bold"/>
              <a:cs typeface="DM Sans Bold"/>
              <a:sym typeface="DM Sans Bold"/>
            </a:endParaRPr>
          </a:p>
          <a:p>
            <a:pPr marL="457009" lvl="1" indent="-228505" algn="l">
              <a:lnSpc>
                <a:spcPts val="2540"/>
              </a:lnSpc>
              <a:buFont typeface="Arial"/>
              <a:buChar char="•"/>
            </a:pPr>
            <a:r>
              <a:rPr lang="en-US" sz="2116" b="1">
                <a:solidFill>
                  <a:srgbClr val="6F842C"/>
                </a:solidFill>
                <a:latin typeface="DM Sans Bold"/>
                <a:ea typeface="DM Sans Bold"/>
                <a:cs typeface="DM Sans Bold"/>
                <a:sym typeface="DM Sans Bold"/>
              </a:rPr>
              <a:t>Move to higher ground immediately go as far inland or as high as possible.</a:t>
            </a:r>
          </a:p>
          <a:p>
            <a:pPr marL="457009" lvl="1" indent="-228505" algn="l">
              <a:lnSpc>
                <a:spcPts val="2540"/>
              </a:lnSpc>
              <a:buFont typeface="Arial"/>
              <a:buChar char="•"/>
            </a:pPr>
            <a:r>
              <a:rPr lang="en-US" sz="2116" b="1">
                <a:solidFill>
                  <a:srgbClr val="6F842C"/>
                </a:solidFill>
                <a:latin typeface="DM Sans Bold"/>
                <a:ea typeface="DM Sans Bold"/>
                <a:cs typeface="DM Sans Bold"/>
                <a:sym typeface="DM Sans Bold"/>
              </a:rPr>
              <a:t>Take your emergency kit if there’s time (water, food, flashlight, important documents).</a:t>
            </a:r>
          </a:p>
          <a:p>
            <a:pPr marL="457009" lvl="1" indent="-228505" algn="l">
              <a:lnSpc>
                <a:spcPts val="2540"/>
              </a:lnSpc>
              <a:buFont typeface="Arial"/>
              <a:buChar char="•"/>
            </a:pPr>
            <a:r>
              <a:rPr lang="en-US" sz="2116" b="1">
                <a:solidFill>
                  <a:srgbClr val="6F842C"/>
                </a:solidFill>
                <a:latin typeface="DM Sans Bold"/>
                <a:ea typeface="DM Sans Bold"/>
                <a:cs typeface="DM Sans Bold"/>
                <a:sym typeface="DM Sans Bold"/>
              </a:rPr>
              <a:t>Listen to authorities follow evacuation orders or emergency instructions.</a:t>
            </a:r>
          </a:p>
          <a:p>
            <a:pPr marL="457009" lvl="1" indent="-228505" algn="l">
              <a:lnSpc>
                <a:spcPts val="2540"/>
              </a:lnSpc>
              <a:buFont typeface="Arial"/>
              <a:buChar char="•"/>
            </a:pPr>
            <a:r>
              <a:rPr lang="en-US" sz="2116" b="1">
                <a:solidFill>
                  <a:srgbClr val="6F842C"/>
                </a:solidFill>
                <a:latin typeface="DM Sans Bold"/>
                <a:ea typeface="DM Sans Bold"/>
                <a:cs typeface="DM Sans Bold"/>
                <a:sym typeface="DM Sans Bold"/>
              </a:rPr>
              <a:t>Stay alert keep updated through radio, phone, or official apps.</a:t>
            </a:r>
          </a:p>
          <a:p>
            <a:pPr marL="457009" lvl="1" indent="-228505" algn="l">
              <a:lnSpc>
                <a:spcPts val="2540"/>
              </a:lnSpc>
              <a:buFont typeface="Arial"/>
              <a:buChar char="•"/>
            </a:pPr>
            <a:r>
              <a:rPr lang="en-US" sz="2116" b="1">
                <a:solidFill>
                  <a:srgbClr val="6F842C"/>
                </a:solidFill>
                <a:latin typeface="DM Sans Bold"/>
                <a:ea typeface="DM Sans Bold"/>
                <a:cs typeface="DM Sans Bold"/>
                <a:sym typeface="DM Sans Bold"/>
              </a:rPr>
              <a:t>Help others assist children, elderly, or people with disabilities if you can.</a:t>
            </a:r>
          </a:p>
          <a:p>
            <a:pPr algn="ctr">
              <a:lnSpc>
                <a:spcPts val="2180"/>
              </a:lnSpc>
            </a:pPr>
            <a:endParaRPr lang="en-US" sz="2116" b="1">
              <a:solidFill>
                <a:srgbClr val="6F842C"/>
              </a:solidFill>
              <a:latin typeface="DM Sans Bold"/>
              <a:ea typeface="DM Sans Bold"/>
              <a:cs typeface="DM Sans Bold"/>
              <a:sym typeface="DM Sans Bold"/>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E6E2CF"/>
        </a:solidFill>
        <a:effectLst/>
      </p:bgPr>
    </p:bg>
    <p:spTree>
      <p:nvGrpSpPr>
        <p:cNvPr id="1" name=""/>
        <p:cNvGrpSpPr/>
        <p:nvPr/>
      </p:nvGrpSpPr>
      <p:grpSpPr>
        <a:xfrm>
          <a:off x="0" y="0"/>
          <a:ext cx="0" cy="0"/>
          <a:chOff x="0" y="0"/>
          <a:chExt cx="0" cy="0"/>
        </a:xfrm>
      </p:grpSpPr>
      <p:grpSp>
        <p:nvGrpSpPr>
          <p:cNvPr id="2" name="Group 2"/>
          <p:cNvGrpSpPr/>
          <p:nvPr/>
        </p:nvGrpSpPr>
        <p:grpSpPr>
          <a:xfrm>
            <a:off x="144065" y="1812068"/>
            <a:ext cx="18143935" cy="8607561"/>
            <a:chOff x="0" y="0"/>
            <a:chExt cx="4778650" cy="2267012"/>
          </a:xfrm>
        </p:grpSpPr>
        <p:sp>
          <p:nvSpPr>
            <p:cNvPr id="3" name="Freeform 3"/>
            <p:cNvSpPr/>
            <p:nvPr/>
          </p:nvSpPr>
          <p:spPr>
            <a:xfrm>
              <a:off x="0" y="0"/>
              <a:ext cx="4778649" cy="2267012"/>
            </a:xfrm>
            <a:custGeom>
              <a:avLst/>
              <a:gdLst/>
              <a:ahLst/>
              <a:cxnLst/>
              <a:rect l="l" t="t" r="r" b="b"/>
              <a:pathLst>
                <a:path w="4778649" h="2267012">
                  <a:moveTo>
                    <a:pt x="19201" y="0"/>
                  </a:moveTo>
                  <a:lnTo>
                    <a:pt x="4759448" y="0"/>
                  </a:lnTo>
                  <a:cubicBezTo>
                    <a:pt x="4764541" y="0"/>
                    <a:pt x="4769424" y="2023"/>
                    <a:pt x="4773025" y="5624"/>
                  </a:cubicBezTo>
                  <a:cubicBezTo>
                    <a:pt x="4776626" y="9225"/>
                    <a:pt x="4778649" y="14109"/>
                    <a:pt x="4778649" y="19201"/>
                  </a:cubicBezTo>
                  <a:lnTo>
                    <a:pt x="4778649" y="2247810"/>
                  </a:lnTo>
                  <a:cubicBezTo>
                    <a:pt x="4778649" y="2258415"/>
                    <a:pt x="4770053" y="2267012"/>
                    <a:pt x="4759448" y="2267012"/>
                  </a:cubicBezTo>
                  <a:lnTo>
                    <a:pt x="19201" y="2267012"/>
                  </a:lnTo>
                  <a:cubicBezTo>
                    <a:pt x="8597" y="2267012"/>
                    <a:pt x="0" y="2258415"/>
                    <a:pt x="0" y="2247810"/>
                  </a:cubicBezTo>
                  <a:lnTo>
                    <a:pt x="0" y="19201"/>
                  </a:lnTo>
                  <a:cubicBezTo>
                    <a:pt x="0" y="8597"/>
                    <a:pt x="8597" y="0"/>
                    <a:pt x="19201" y="0"/>
                  </a:cubicBezTo>
                  <a:close/>
                </a:path>
              </a:pathLst>
            </a:custGeom>
            <a:solidFill>
              <a:srgbClr val="FFFFFF"/>
            </a:solidFill>
          </p:spPr>
        </p:sp>
        <p:sp>
          <p:nvSpPr>
            <p:cNvPr id="4" name="TextBox 4"/>
            <p:cNvSpPr txBox="1"/>
            <p:nvPr/>
          </p:nvSpPr>
          <p:spPr>
            <a:xfrm>
              <a:off x="0" y="-38100"/>
              <a:ext cx="4778650" cy="2305112"/>
            </a:xfrm>
            <a:prstGeom prst="rect">
              <a:avLst/>
            </a:prstGeom>
          </p:spPr>
          <p:txBody>
            <a:bodyPr lIns="50800" tIns="50800" rIns="50800" bIns="50800" rtlCol="0" anchor="ctr"/>
            <a:lstStyle/>
            <a:p>
              <a:pPr algn="ctr">
                <a:lnSpc>
                  <a:spcPts val="2659"/>
                </a:lnSpc>
                <a:spcBef>
                  <a:spcPct val="0"/>
                </a:spcBef>
              </a:pPr>
              <a:endParaRPr/>
            </a:p>
          </p:txBody>
        </p:sp>
      </p:grpSp>
      <p:sp>
        <p:nvSpPr>
          <p:cNvPr id="5" name="Freeform 5"/>
          <p:cNvSpPr/>
          <p:nvPr/>
        </p:nvSpPr>
        <p:spPr>
          <a:xfrm>
            <a:off x="-462592" y="8078124"/>
            <a:ext cx="19213183" cy="6497549"/>
          </a:xfrm>
          <a:custGeom>
            <a:avLst/>
            <a:gdLst/>
            <a:ahLst/>
            <a:cxnLst/>
            <a:rect l="l" t="t" r="r" b="b"/>
            <a:pathLst>
              <a:path w="19213183" h="6497549">
                <a:moveTo>
                  <a:pt x="0" y="0"/>
                </a:moveTo>
                <a:lnTo>
                  <a:pt x="19213184" y="0"/>
                </a:lnTo>
                <a:lnTo>
                  <a:pt x="19213184" y="6497549"/>
                </a:lnTo>
                <a:lnTo>
                  <a:pt x="0" y="649754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6" name="Freeform 6"/>
          <p:cNvSpPr/>
          <p:nvPr/>
        </p:nvSpPr>
        <p:spPr>
          <a:xfrm flipH="1">
            <a:off x="1896946" y="2113242"/>
            <a:ext cx="2255743" cy="1033541"/>
          </a:xfrm>
          <a:custGeom>
            <a:avLst/>
            <a:gdLst/>
            <a:ahLst/>
            <a:cxnLst/>
            <a:rect l="l" t="t" r="r" b="b"/>
            <a:pathLst>
              <a:path w="2255743" h="1033541">
                <a:moveTo>
                  <a:pt x="2255744" y="0"/>
                </a:moveTo>
                <a:lnTo>
                  <a:pt x="0" y="0"/>
                </a:lnTo>
                <a:lnTo>
                  <a:pt x="0" y="1033541"/>
                </a:lnTo>
                <a:lnTo>
                  <a:pt x="2255744" y="1033541"/>
                </a:lnTo>
                <a:lnTo>
                  <a:pt x="2255744"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7" name="Freeform 7"/>
          <p:cNvSpPr/>
          <p:nvPr/>
        </p:nvSpPr>
        <p:spPr>
          <a:xfrm>
            <a:off x="14135310" y="2113242"/>
            <a:ext cx="2255743" cy="1033541"/>
          </a:xfrm>
          <a:custGeom>
            <a:avLst/>
            <a:gdLst/>
            <a:ahLst/>
            <a:cxnLst/>
            <a:rect l="l" t="t" r="r" b="b"/>
            <a:pathLst>
              <a:path w="2255743" h="1033541">
                <a:moveTo>
                  <a:pt x="0" y="0"/>
                </a:moveTo>
                <a:lnTo>
                  <a:pt x="2255744" y="0"/>
                </a:lnTo>
                <a:lnTo>
                  <a:pt x="2255744" y="1033541"/>
                </a:lnTo>
                <a:lnTo>
                  <a:pt x="0" y="103354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8" name="Freeform 8"/>
          <p:cNvSpPr/>
          <p:nvPr/>
        </p:nvSpPr>
        <p:spPr>
          <a:xfrm>
            <a:off x="7764493" y="8311346"/>
            <a:ext cx="946954" cy="946954"/>
          </a:xfrm>
          <a:custGeom>
            <a:avLst/>
            <a:gdLst/>
            <a:ahLst/>
            <a:cxnLst/>
            <a:rect l="l" t="t" r="r" b="b"/>
            <a:pathLst>
              <a:path w="946954" h="946954">
                <a:moveTo>
                  <a:pt x="0" y="0"/>
                </a:moveTo>
                <a:lnTo>
                  <a:pt x="946954" y="0"/>
                </a:lnTo>
                <a:lnTo>
                  <a:pt x="946954" y="946954"/>
                </a:lnTo>
                <a:lnTo>
                  <a:pt x="0" y="94695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9" name="Freeform 9"/>
          <p:cNvSpPr/>
          <p:nvPr/>
        </p:nvSpPr>
        <p:spPr>
          <a:xfrm>
            <a:off x="2922421" y="4497868"/>
            <a:ext cx="4842072" cy="3217083"/>
          </a:xfrm>
          <a:custGeom>
            <a:avLst/>
            <a:gdLst/>
            <a:ahLst/>
            <a:cxnLst/>
            <a:rect l="l" t="t" r="r" b="b"/>
            <a:pathLst>
              <a:path w="4842072" h="3217083">
                <a:moveTo>
                  <a:pt x="0" y="0"/>
                </a:moveTo>
                <a:lnTo>
                  <a:pt x="4842072" y="0"/>
                </a:lnTo>
                <a:lnTo>
                  <a:pt x="4842072" y="3217083"/>
                </a:lnTo>
                <a:lnTo>
                  <a:pt x="0" y="3217083"/>
                </a:lnTo>
                <a:lnTo>
                  <a:pt x="0" y="0"/>
                </a:lnTo>
                <a:close/>
              </a:path>
            </a:pathLst>
          </a:custGeom>
          <a:blipFill>
            <a:blip r:embed="rId8"/>
            <a:stretch>
              <a:fillRect/>
            </a:stretch>
          </a:blipFill>
        </p:spPr>
      </p:sp>
      <p:sp>
        <p:nvSpPr>
          <p:cNvPr id="10" name="TextBox 10"/>
          <p:cNvSpPr txBox="1"/>
          <p:nvPr/>
        </p:nvSpPr>
        <p:spPr>
          <a:xfrm>
            <a:off x="4698474" y="364268"/>
            <a:ext cx="8891052" cy="2895600"/>
          </a:xfrm>
          <a:prstGeom prst="rect">
            <a:avLst/>
          </a:prstGeom>
        </p:spPr>
        <p:txBody>
          <a:bodyPr lIns="0" tIns="0" rIns="0" bIns="0" rtlCol="0" anchor="t">
            <a:spAutoFit/>
          </a:bodyPr>
          <a:lstStyle/>
          <a:p>
            <a:pPr algn="ctr">
              <a:lnSpc>
                <a:spcPts val="11400"/>
              </a:lnSpc>
            </a:pPr>
            <a:r>
              <a:rPr lang="en-US" sz="9500">
                <a:solidFill>
                  <a:srgbClr val="A56C53"/>
                </a:solidFill>
                <a:latin typeface="Anton"/>
                <a:ea typeface="Anton"/>
                <a:cs typeface="Anton"/>
                <a:sym typeface="Anton"/>
              </a:rPr>
              <a:t>REAL LIFE </a:t>
            </a:r>
          </a:p>
          <a:p>
            <a:pPr algn="ctr">
              <a:lnSpc>
                <a:spcPts val="11400"/>
              </a:lnSpc>
            </a:pPr>
            <a:r>
              <a:rPr lang="en-US" sz="9500">
                <a:solidFill>
                  <a:srgbClr val="434F1A"/>
                </a:solidFill>
                <a:latin typeface="Anton"/>
                <a:ea typeface="Anton"/>
                <a:cs typeface="Anton"/>
                <a:sym typeface="Anton"/>
              </a:rPr>
              <a:t>EXAMPLE</a:t>
            </a:r>
          </a:p>
        </p:txBody>
      </p:sp>
      <p:sp>
        <p:nvSpPr>
          <p:cNvPr id="11" name="TextBox 11"/>
          <p:cNvSpPr txBox="1"/>
          <p:nvPr/>
        </p:nvSpPr>
        <p:spPr>
          <a:xfrm>
            <a:off x="8670523" y="4820534"/>
            <a:ext cx="7248794" cy="2571750"/>
          </a:xfrm>
          <a:prstGeom prst="rect">
            <a:avLst/>
          </a:prstGeom>
        </p:spPr>
        <p:txBody>
          <a:bodyPr lIns="0" tIns="0" rIns="0" bIns="0" rtlCol="0" anchor="t">
            <a:spAutoFit/>
          </a:bodyPr>
          <a:lstStyle/>
          <a:p>
            <a:pPr algn="just">
              <a:lnSpc>
                <a:spcPts val="3412"/>
              </a:lnSpc>
            </a:pPr>
            <a:r>
              <a:rPr lang="en-US" sz="2843" b="1">
                <a:solidFill>
                  <a:srgbClr val="434F1A"/>
                </a:solidFill>
                <a:latin typeface="DM Sans Bold"/>
                <a:ea typeface="DM Sans Bold"/>
                <a:cs typeface="DM Sans Bold"/>
                <a:sym typeface="DM Sans Bold"/>
              </a:rPr>
              <a:t>One of the deadliest tsunamis in history. A massive undersea earthquake off the coast of Sumatra, Indonesia, caused huge waves that hit Indonesia, Thailand, India, and other countries, killing over 230,000 people.</a:t>
            </a:r>
          </a:p>
        </p:txBody>
      </p:sp>
      <p:sp>
        <p:nvSpPr>
          <p:cNvPr id="12" name="TextBox 12"/>
          <p:cNvSpPr txBox="1"/>
          <p:nvPr/>
        </p:nvSpPr>
        <p:spPr>
          <a:xfrm>
            <a:off x="2922421" y="3970545"/>
            <a:ext cx="5018055" cy="428625"/>
          </a:xfrm>
          <a:prstGeom prst="rect">
            <a:avLst/>
          </a:prstGeom>
        </p:spPr>
        <p:txBody>
          <a:bodyPr lIns="0" tIns="0" rIns="0" bIns="0" rtlCol="0" anchor="t">
            <a:spAutoFit/>
          </a:bodyPr>
          <a:lstStyle/>
          <a:p>
            <a:pPr algn="just">
              <a:lnSpc>
                <a:spcPts val="3412"/>
              </a:lnSpc>
            </a:pPr>
            <a:r>
              <a:rPr lang="en-US" sz="2843" b="1">
                <a:solidFill>
                  <a:srgbClr val="434F1A"/>
                </a:solidFill>
                <a:latin typeface="DM Sans Bold"/>
                <a:ea typeface="DM Sans Bold"/>
                <a:cs typeface="DM Sans Bold"/>
                <a:sym typeface="DM Sans Bold"/>
              </a:rPr>
              <a:t>2004 Indian Ocean Tsunami</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E6E2CF"/>
        </a:solidFill>
        <a:effectLst/>
      </p:bgPr>
    </p:bg>
    <p:spTree>
      <p:nvGrpSpPr>
        <p:cNvPr id="1" name=""/>
        <p:cNvGrpSpPr/>
        <p:nvPr/>
      </p:nvGrpSpPr>
      <p:grpSpPr>
        <a:xfrm>
          <a:off x="0" y="0"/>
          <a:ext cx="0" cy="0"/>
          <a:chOff x="0" y="0"/>
          <a:chExt cx="0" cy="0"/>
        </a:xfrm>
      </p:grpSpPr>
      <p:grpSp>
        <p:nvGrpSpPr>
          <p:cNvPr id="2" name="Group 2"/>
          <p:cNvGrpSpPr/>
          <p:nvPr/>
        </p:nvGrpSpPr>
        <p:grpSpPr>
          <a:xfrm>
            <a:off x="-332747" y="1907826"/>
            <a:ext cx="18953493" cy="6471349"/>
            <a:chOff x="0" y="0"/>
            <a:chExt cx="4991867" cy="1704388"/>
          </a:xfrm>
        </p:grpSpPr>
        <p:sp>
          <p:nvSpPr>
            <p:cNvPr id="3" name="Freeform 3"/>
            <p:cNvSpPr/>
            <p:nvPr/>
          </p:nvSpPr>
          <p:spPr>
            <a:xfrm>
              <a:off x="0" y="0"/>
              <a:ext cx="4991867" cy="1704388"/>
            </a:xfrm>
            <a:custGeom>
              <a:avLst/>
              <a:gdLst/>
              <a:ahLst/>
              <a:cxnLst/>
              <a:rect l="l" t="t" r="r" b="b"/>
              <a:pathLst>
                <a:path w="4991867" h="1704388">
                  <a:moveTo>
                    <a:pt x="18381" y="0"/>
                  </a:moveTo>
                  <a:lnTo>
                    <a:pt x="4973486" y="0"/>
                  </a:lnTo>
                  <a:cubicBezTo>
                    <a:pt x="4983637" y="0"/>
                    <a:pt x="4991867" y="8230"/>
                    <a:pt x="4991867" y="18381"/>
                  </a:cubicBezTo>
                  <a:lnTo>
                    <a:pt x="4991867" y="1686007"/>
                  </a:lnTo>
                  <a:cubicBezTo>
                    <a:pt x="4991867" y="1690882"/>
                    <a:pt x="4989930" y="1695557"/>
                    <a:pt x="4986483" y="1699004"/>
                  </a:cubicBezTo>
                  <a:cubicBezTo>
                    <a:pt x="4983036" y="1702452"/>
                    <a:pt x="4978360" y="1704388"/>
                    <a:pt x="4973486" y="1704388"/>
                  </a:cubicBezTo>
                  <a:lnTo>
                    <a:pt x="18381" y="1704388"/>
                  </a:lnTo>
                  <a:cubicBezTo>
                    <a:pt x="8230" y="1704388"/>
                    <a:pt x="0" y="1696159"/>
                    <a:pt x="0" y="1686007"/>
                  </a:cubicBezTo>
                  <a:lnTo>
                    <a:pt x="0" y="18381"/>
                  </a:lnTo>
                  <a:cubicBezTo>
                    <a:pt x="0" y="8230"/>
                    <a:pt x="8230" y="0"/>
                    <a:pt x="18381" y="0"/>
                  </a:cubicBezTo>
                  <a:close/>
                </a:path>
              </a:pathLst>
            </a:custGeom>
            <a:solidFill>
              <a:srgbClr val="FFFFFF"/>
            </a:solidFill>
          </p:spPr>
        </p:sp>
        <p:sp>
          <p:nvSpPr>
            <p:cNvPr id="4" name="TextBox 4"/>
            <p:cNvSpPr txBox="1"/>
            <p:nvPr/>
          </p:nvSpPr>
          <p:spPr>
            <a:xfrm>
              <a:off x="0" y="-38100"/>
              <a:ext cx="4991867" cy="1742488"/>
            </a:xfrm>
            <a:prstGeom prst="rect">
              <a:avLst/>
            </a:prstGeom>
          </p:spPr>
          <p:txBody>
            <a:bodyPr lIns="50800" tIns="50800" rIns="50800" bIns="50800" rtlCol="0" anchor="ctr"/>
            <a:lstStyle/>
            <a:p>
              <a:pPr algn="ctr">
                <a:lnSpc>
                  <a:spcPts val="2659"/>
                </a:lnSpc>
                <a:spcBef>
                  <a:spcPct val="0"/>
                </a:spcBef>
              </a:pPr>
              <a:endParaRPr/>
            </a:p>
          </p:txBody>
        </p:sp>
      </p:grpSp>
      <p:sp>
        <p:nvSpPr>
          <p:cNvPr id="5" name="Freeform 5"/>
          <p:cNvSpPr/>
          <p:nvPr/>
        </p:nvSpPr>
        <p:spPr>
          <a:xfrm>
            <a:off x="-462592" y="7462084"/>
            <a:ext cx="19213183" cy="6497549"/>
          </a:xfrm>
          <a:custGeom>
            <a:avLst/>
            <a:gdLst/>
            <a:ahLst/>
            <a:cxnLst/>
            <a:rect l="l" t="t" r="r" b="b"/>
            <a:pathLst>
              <a:path w="19213183" h="6497549">
                <a:moveTo>
                  <a:pt x="0" y="0"/>
                </a:moveTo>
                <a:lnTo>
                  <a:pt x="19213184" y="0"/>
                </a:lnTo>
                <a:lnTo>
                  <a:pt x="19213184" y="6497549"/>
                </a:lnTo>
                <a:lnTo>
                  <a:pt x="0" y="649754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6" name="Freeform 6"/>
          <p:cNvSpPr/>
          <p:nvPr/>
        </p:nvSpPr>
        <p:spPr>
          <a:xfrm flipH="1">
            <a:off x="-462592" y="-2021773"/>
            <a:ext cx="8857230" cy="3784453"/>
          </a:xfrm>
          <a:custGeom>
            <a:avLst/>
            <a:gdLst/>
            <a:ahLst/>
            <a:cxnLst/>
            <a:rect l="l" t="t" r="r" b="b"/>
            <a:pathLst>
              <a:path w="8857230" h="3784453">
                <a:moveTo>
                  <a:pt x="8857231" y="0"/>
                </a:moveTo>
                <a:lnTo>
                  <a:pt x="0" y="0"/>
                </a:lnTo>
                <a:lnTo>
                  <a:pt x="0" y="3784453"/>
                </a:lnTo>
                <a:lnTo>
                  <a:pt x="8857231" y="3784453"/>
                </a:lnTo>
                <a:lnTo>
                  <a:pt x="8857231" y="0"/>
                </a:lnTo>
                <a:close/>
              </a:path>
            </a:pathLst>
          </a:custGeom>
          <a:blipFill>
            <a:blip r:embed="rId4">
              <a:extLst>
                <a:ext uri="{96DAC541-7B7A-43D3-8B79-37D633B846F1}">
                  <asvg:svgBlip xmlns:asvg="http://schemas.microsoft.com/office/drawing/2016/SVG/main" r:embed="rId5"/>
                </a:ext>
              </a:extLst>
            </a:blip>
            <a:stretch>
              <a:fillRect/>
            </a:stretch>
          </a:blipFill>
          <a:ln cap="sq">
            <a:noFill/>
            <a:prstDash val="solid"/>
            <a:miter/>
          </a:ln>
        </p:spPr>
      </p:sp>
      <p:sp>
        <p:nvSpPr>
          <p:cNvPr id="7" name="TextBox 7"/>
          <p:cNvSpPr txBox="1"/>
          <p:nvPr/>
        </p:nvSpPr>
        <p:spPr>
          <a:xfrm>
            <a:off x="4155898" y="899680"/>
            <a:ext cx="10249999" cy="2144747"/>
          </a:xfrm>
          <a:prstGeom prst="rect">
            <a:avLst/>
          </a:prstGeom>
        </p:spPr>
        <p:txBody>
          <a:bodyPr lIns="0" tIns="0" rIns="0" bIns="0" rtlCol="0" anchor="t">
            <a:spAutoFit/>
          </a:bodyPr>
          <a:lstStyle/>
          <a:p>
            <a:pPr algn="ctr">
              <a:lnSpc>
                <a:spcPts val="16932"/>
              </a:lnSpc>
            </a:pPr>
            <a:r>
              <a:rPr lang="en-US" sz="14110">
                <a:solidFill>
                  <a:srgbClr val="A56C53"/>
                </a:solidFill>
                <a:latin typeface="Anton"/>
                <a:ea typeface="Anton"/>
                <a:cs typeface="Anton"/>
                <a:sym typeface="Anton"/>
              </a:rPr>
              <a:t> SUMMARY</a:t>
            </a:r>
          </a:p>
        </p:txBody>
      </p:sp>
      <p:sp>
        <p:nvSpPr>
          <p:cNvPr id="8" name="Freeform 8"/>
          <p:cNvSpPr/>
          <p:nvPr/>
        </p:nvSpPr>
        <p:spPr>
          <a:xfrm flipH="1">
            <a:off x="258199" y="2430460"/>
            <a:ext cx="2886644" cy="1322608"/>
          </a:xfrm>
          <a:custGeom>
            <a:avLst/>
            <a:gdLst/>
            <a:ahLst/>
            <a:cxnLst/>
            <a:rect l="l" t="t" r="r" b="b"/>
            <a:pathLst>
              <a:path w="2886644" h="1322608">
                <a:moveTo>
                  <a:pt x="2886644" y="0"/>
                </a:moveTo>
                <a:lnTo>
                  <a:pt x="0" y="0"/>
                </a:lnTo>
                <a:lnTo>
                  <a:pt x="0" y="1322608"/>
                </a:lnTo>
                <a:lnTo>
                  <a:pt x="2886644" y="1322608"/>
                </a:lnTo>
                <a:lnTo>
                  <a:pt x="2886644"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9" name="Freeform 9"/>
          <p:cNvSpPr/>
          <p:nvPr/>
        </p:nvSpPr>
        <p:spPr>
          <a:xfrm>
            <a:off x="15542200" y="5956285"/>
            <a:ext cx="946954" cy="946954"/>
          </a:xfrm>
          <a:custGeom>
            <a:avLst/>
            <a:gdLst/>
            <a:ahLst/>
            <a:cxnLst/>
            <a:rect l="l" t="t" r="r" b="b"/>
            <a:pathLst>
              <a:path w="946954" h="946954">
                <a:moveTo>
                  <a:pt x="0" y="0"/>
                </a:moveTo>
                <a:lnTo>
                  <a:pt x="946954" y="0"/>
                </a:lnTo>
                <a:lnTo>
                  <a:pt x="946954" y="946955"/>
                </a:lnTo>
                <a:lnTo>
                  <a:pt x="0" y="946955"/>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10" name="Freeform 10"/>
          <p:cNvSpPr/>
          <p:nvPr/>
        </p:nvSpPr>
        <p:spPr>
          <a:xfrm>
            <a:off x="1798846" y="5956285"/>
            <a:ext cx="946954" cy="946954"/>
          </a:xfrm>
          <a:custGeom>
            <a:avLst/>
            <a:gdLst/>
            <a:ahLst/>
            <a:cxnLst/>
            <a:rect l="l" t="t" r="r" b="b"/>
            <a:pathLst>
              <a:path w="946954" h="946954">
                <a:moveTo>
                  <a:pt x="0" y="0"/>
                </a:moveTo>
                <a:lnTo>
                  <a:pt x="946954" y="0"/>
                </a:lnTo>
                <a:lnTo>
                  <a:pt x="946954" y="946955"/>
                </a:lnTo>
                <a:lnTo>
                  <a:pt x="0" y="946955"/>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11" name="TextBox 11"/>
          <p:cNvSpPr txBox="1"/>
          <p:nvPr/>
        </p:nvSpPr>
        <p:spPr>
          <a:xfrm>
            <a:off x="3321558" y="3247287"/>
            <a:ext cx="11918679" cy="4355237"/>
          </a:xfrm>
          <a:prstGeom prst="rect">
            <a:avLst/>
          </a:prstGeom>
        </p:spPr>
        <p:txBody>
          <a:bodyPr lIns="0" tIns="0" rIns="0" bIns="0" rtlCol="0" anchor="t">
            <a:spAutoFit/>
          </a:bodyPr>
          <a:lstStyle/>
          <a:p>
            <a:pPr algn="just">
              <a:lnSpc>
                <a:spcPts val="4334"/>
              </a:lnSpc>
            </a:pPr>
            <a:r>
              <a:rPr lang="en-US" sz="3611" b="1">
                <a:solidFill>
                  <a:srgbClr val="434F1A"/>
                </a:solidFill>
                <a:latin typeface="DM Sans Bold"/>
                <a:ea typeface="DM Sans Bold"/>
                <a:cs typeface="DM Sans Bold"/>
                <a:sym typeface="DM Sans Bold"/>
              </a:rPr>
              <a:t>Recognizing natural warning signs is crucial for staying safe during a tsunami. These include strong ground shaking, sudden sea changes, strange ocean sounds, and unusual animal behavior. If noticed, move to higher ground, follow authorities’ instructions, and take emergency supplies if possible. Avoid the beach, low-lying areas, and flooded roads. Acting quickly can save lives.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E6E2CF"/>
        </a:solidFill>
        <a:effectLst/>
      </p:bgPr>
    </p:bg>
    <p:spTree>
      <p:nvGrpSpPr>
        <p:cNvPr id="1" name=""/>
        <p:cNvGrpSpPr/>
        <p:nvPr/>
      </p:nvGrpSpPr>
      <p:grpSpPr>
        <a:xfrm>
          <a:off x="0" y="0"/>
          <a:ext cx="0" cy="0"/>
          <a:chOff x="0" y="0"/>
          <a:chExt cx="0" cy="0"/>
        </a:xfrm>
      </p:grpSpPr>
      <p:grpSp>
        <p:nvGrpSpPr>
          <p:cNvPr id="2" name="Group 2"/>
          <p:cNvGrpSpPr/>
          <p:nvPr/>
        </p:nvGrpSpPr>
        <p:grpSpPr>
          <a:xfrm>
            <a:off x="-332747" y="2174800"/>
            <a:ext cx="18953493" cy="5061100"/>
            <a:chOff x="0" y="0"/>
            <a:chExt cx="4991867" cy="1332965"/>
          </a:xfrm>
        </p:grpSpPr>
        <p:sp>
          <p:nvSpPr>
            <p:cNvPr id="3" name="Freeform 3"/>
            <p:cNvSpPr/>
            <p:nvPr/>
          </p:nvSpPr>
          <p:spPr>
            <a:xfrm>
              <a:off x="0" y="0"/>
              <a:ext cx="4991867" cy="1332965"/>
            </a:xfrm>
            <a:custGeom>
              <a:avLst/>
              <a:gdLst/>
              <a:ahLst/>
              <a:cxnLst/>
              <a:rect l="l" t="t" r="r" b="b"/>
              <a:pathLst>
                <a:path w="4991867" h="1332965">
                  <a:moveTo>
                    <a:pt x="18381" y="0"/>
                  </a:moveTo>
                  <a:lnTo>
                    <a:pt x="4973486" y="0"/>
                  </a:lnTo>
                  <a:cubicBezTo>
                    <a:pt x="4983637" y="0"/>
                    <a:pt x="4991867" y="8230"/>
                    <a:pt x="4991867" y="18381"/>
                  </a:cubicBezTo>
                  <a:lnTo>
                    <a:pt x="4991867" y="1314584"/>
                  </a:lnTo>
                  <a:cubicBezTo>
                    <a:pt x="4991867" y="1319459"/>
                    <a:pt x="4989930" y="1324134"/>
                    <a:pt x="4986483" y="1327581"/>
                  </a:cubicBezTo>
                  <a:cubicBezTo>
                    <a:pt x="4983036" y="1331028"/>
                    <a:pt x="4978360" y="1332965"/>
                    <a:pt x="4973486" y="1332965"/>
                  </a:cubicBezTo>
                  <a:lnTo>
                    <a:pt x="18381" y="1332965"/>
                  </a:lnTo>
                  <a:cubicBezTo>
                    <a:pt x="8230" y="1332965"/>
                    <a:pt x="0" y="1324735"/>
                    <a:pt x="0" y="1314584"/>
                  </a:cubicBezTo>
                  <a:lnTo>
                    <a:pt x="0" y="18381"/>
                  </a:lnTo>
                  <a:cubicBezTo>
                    <a:pt x="0" y="8230"/>
                    <a:pt x="8230" y="0"/>
                    <a:pt x="18381" y="0"/>
                  </a:cubicBezTo>
                  <a:close/>
                </a:path>
              </a:pathLst>
            </a:custGeom>
            <a:solidFill>
              <a:srgbClr val="FFFFFF"/>
            </a:solidFill>
          </p:spPr>
        </p:sp>
        <p:sp>
          <p:nvSpPr>
            <p:cNvPr id="4" name="TextBox 4"/>
            <p:cNvSpPr txBox="1"/>
            <p:nvPr/>
          </p:nvSpPr>
          <p:spPr>
            <a:xfrm>
              <a:off x="0" y="-38100"/>
              <a:ext cx="4991867" cy="1371065"/>
            </a:xfrm>
            <a:prstGeom prst="rect">
              <a:avLst/>
            </a:prstGeom>
          </p:spPr>
          <p:txBody>
            <a:bodyPr lIns="50800" tIns="50800" rIns="50800" bIns="50800" rtlCol="0" anchor="ctr"/>
            <a:lstStyle/>
            <a:p>
              <a:pPr algn="ctr">
                <a:lnSpc>
                  <a:spcPts val="2659"/>
                </a:lnSpc>
                <a:spcBef>
                  <a:spcPct val="0"/>
                </a:spcBef>
              </a:pPr>
              <a:endParaRPr/>
            </a:p>
          </p:txBody>
        </p:sp>
      </p:grpSp>
      <p:sp>
        <p:nvSpPr>
          <p:cNvPr id="5" name="Freeform 5"/>
          <p:cNvSpPr/>
          <p:nvPr/>
        </p:nvSpPr>
        <p:spPr>
          <a:xfrm>
            <a:off x="-462592" y="7462084"/>
            <a:ext cx="19213183" cy="6497549"/>
          </a:xfrm>
          <a:custGeom>
            <a:avLst/>
            <a:gdLst/>
            <a:ahLst/>
            <a:cxnLst/>
            <a:rect l="l" t="t" r="r" b="b"/>
            <a:pathLst>
              <a:path w="19213183" h="6497549">
                <a:moveTo>
                  <a:pt x="0" y="0"/>
                </a:moveTo>
                <a:lnTo>
                  <a:pt x="19213184" y="0"/>
                </a:lnTo>
                <a:lnTo>
                  <a:pt x="19213184" y="6497549"/>
                </a:lnTo>
                <a:lnTo>
                  <a:pt x="0" y="649754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6" name="TextBox 6"/>
          <p:cNvSpPr txBox="1"/>
          <p:nvPr/>
        </p:nvSpPr>
        <p:spPr>
          <a:xfrm>
            <a:off x="1801946" y="2838450"/>
            <a:ext cx="14684108" cy="3743325"/>
          </a:xfrm>
          <a:prstGeom prst="rect">
            <a:avLst/>
          </a:prstGeom>
        </p:spPr>
        <p:txBody>
          <a:bodyPr lIns="0" tIns="0" rIns="0" bIns="0" rtlCol="0" anchor="t">
            <a:spAutoFit/>
          </a:bodyPr>
          <a:lstStyle/>
          <a:p>
            <a:pPr algn="ctr">
              <a:lnSpc>
                <a:spcPts val="29576"/>
              </a:lnSpc>
            </a:pPr>
            <a:r>
              <a:rPr lang="en-US" sz="24647">
                <a:solidFill>
                  <a:srgbClr val="434F1A"/>
                </a:solidFill>
                <a:latin typeface="Anton"/>
                <a:ea typeface="Anton"/>
                <a:cs typeface="Anton"/>
                <a:sym typeface="Anton"/>
              </a:rPr>
              <a:t>THANK </a:t>
            </a:r>
            <a:r>
              <a:rPr lang="en-US" sz="24647">
                <a:solidFill>
                  <a:srgbClr val="A56C53"/>
                </a:solidFill>
                <a:latin typeface="Anton"/>
                <a:ea typeface="Anton"/>
                <a:cs typeface="Anton"/>
                <a:sym typeface="Anton"/>
              </a:rPr>
              <a:t>YOU</a:t>
            </a:r>
          </a:p>
        </p:txBody>
      </p:sp>
      <p:sp>
        <p:nvSpPr>
          <p:cNvPr id="7" name="Freeform 7"/>
          <p:cNvSpPr/>
          <p:nvPr/>
        </p:nvSpPr>
        <p:spPr>
          <a:xfrm flipH="1">
            <a:off x="-3254878" y="-1714702"/>
            <a:ext cx="8857230" cy="3784453"/>
          </a:xfrm>
          <a:custGeom>
            <a:avLst/>
            <a:gdLst/>
            <a:ahLst/>
            <a:cxnLst/>
            <a:rect l="l" t="t" r="r" b="b"/>
            <a:pathLst>
              <a:path w="8857230" h="3784453">
                <a:moveTo>
                  <a:pt x="8857231" y="0"/>
                </a:moveTo>
                <a:lnTo>
                  <a:pt x="0" y="0"/>
                </a:lnTo>
                <a:lnTo>
                  <a:pt x="0" y="3784453"/>
                </a:lnTo>
                <a:lnTo>
                  <a:pt x="8857231" y="3784453"/>
                </a:lnTo>
                <a:lnTo>
                  <a:pt x="8857231" y="0"/>
                </a:lnTo>
                <a:close/>
              </a:path>
            </a:pathLst>
          </a:custGeom>
          <a:blipFill>
            <a:blip r:embed="rId4">
              <a:extLst>
                <a:ext uri="{96DAC541-7B7A-43D3-8B79-37D633B846F1}">
                  <asvg:svgBlip xmlns:asvg="http://schemas.microsoft.com/office/drawing/2016/SVG/main" r:embed="rId5"/>
                </a:ext>
              </a:extLst>
            </a:blip>
            <a:stretch>
              <a:fillRect/>
            </a:stretch>
          </a:blipFill>
          <a:ln cap="sq">
            <a:noFill/>
            <a:prstDash val="solid"/>
            <a:miter/>
          </a:ln>
        </p:spPr>
      </p:sp>
      <p:sp>
        <p:nvSpPr>
          <p:cNvPr id="8" name="Freeform 8"/>
          <p:cNvSpPr/>
          <p:nvPr/>
        </p:nvSpPr>
        <p:spPr>
          <a:xfrm>
            <a:off x="12685647" y="-1714702"/>
            <a:ext cx="8857230" cy="3784453"/>
          </a:xfrm>
          <a:custGeom>
            <a:avLst/>
            <a:gdLst/>
            <a:ahLst/>
            <a:cxnLst/>
            <a:rect l="l" t="t" r="r" b="b"/>
            <a:pathLst>
              <a:path w="8857230" h="3784453">
                <a:moveTo>
                  <a:pt x="0" y="0"/>
                </a:moveTo>
                <a:lnTo>
                  <a:pt x="8857231" y="0"/>
                </a:lnTo>
                <a:lnTo>
                  <a:pt x="8857231" y="3784453"/>
                </a:lnTo>
                <a:lnTo>
                  <a:pt x="0" y="3784453"/>
                </a:lnTo>
                <a:lnTo>
                  <a:pt x="0" y="0"/>
                </a:lnTo>
                <a:close/>
              </a:path>
            </a:pathLst>
          </a:custGeom>
          <a:blipFill>
            <a:blip r:embed="rId4">
              <a:extLst>
                <a:ext uri="{96DAC541-7B7A-43D3-8B79-37D633B846F1}">
                  <asvg:svgBlip xmlns:asvg="http://schemas.microsoft.com/office/drawing/2016/SVG/main" r:embed="rId5"/>
                </a:ext>
              </a:extLst>
            </a:blip>
            <a:stretch>
              <a:fillRect/>
            </a:stretch>
          </a:blipFill>
          <a:ln cap="sq">
            <a:noFill/>
            <a:prstDash val="solid"/>
            <a:miter/>
          </a:ln>
        </p:spPr>
      </p:sp>
      <p:sp>
        <p:nvSpPr>
          <p:cNvPr id="9" name="Freeform 9"/>
          <p:cNvSpPr/>
          <p:nvPr/>
        </p:nvSpPr>
        <p:spPr>
          <a:xfrm>
            <a:off x="16108799" y="4044046"/>
            <a:ext cx="2886644" cy="1322608"/>
          </a:xfrm>
          <a:custGeom>
            <a:avLst/>
            <a:gdLst/>
            <a:ahLst/>
            <a:cxnLst/>
            <a:rect l="l" t="t" r="r" b="b"/>
            <a:pathLst>
              <a:path w="2886644" h="1322608">
                <a:moveTo>
                  <a:pt x="0" y="0"/>
                </a:moveTo>
                <a:lnTo>
                  <a:pt x="2886644" y="0"/>
                </a:lnTo>
                <a:lnTo>
                  <a:pt x="2886644" y="1322608"/>
                </a:lnTo>
                <a:lnTo>
                  <a:pt x="0" y="1322608"/>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0" name="Freeform 10"/>
          <p:cNvSpPr/>
          <p:nvPr/>
        </p:nvSpPr>
        <p:spPr>
          <a:xfrm flipH="1">
            <a:off x="-707443" y="4044046"/>
            <a:ext cx="2886644" cy="1322608"/>
          </a:xfrm>
          <a:custGeom>
            <a:avLst/>
            <a:gdLst/>
            <a:ahLst/>
            <a:cxnLst/>
            <a:rect l="l" t="t" r="r" b="b"/>
            <a:pathLst>
              <a:path w="2886644" h="1322608">
                <a:moveTo>
                  <a:pt x="2886644" y="0"/>
                </a:moveTo>
                <a:lnTo>
                  <a:pt x="0" y="0"/>
                </a:lnTo>
                <a:lnTo>
                  <a:pt x="0" y="1322608"/>
                </a:lnTo>
                <a:lnTo>
                  <a:pt x="2886644" y="1322608"/>
                </a:lnTo>
                <a:lnTo>
                  <a:pt x="2886644"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1" name="Freeform 11"/>
          <p:cNvSpPr/>
          <p:nvPr/>
        </p:nvSpPr>
        <p:spPr>
          <a:xfrm>
            <a:off x="8670523" y="7474905"/>
            <a:ext cx="946954" cy="946954"/>
          </a:xfrm>
          <a:custGeom>
            <a:avLst/>
            <a:gdLst/>
            <a:ahLst/>
            <a:cxnLst/>
            <a:rect l="l" t="t" r="r" b="b"/>
            <a:pathLst>
              <a:path w="946954" h="946954">
                <a:moveTo>
                  <a:pt x="0" y="0"/>
                </a:moveTo>
                <a:lnTo>
                  <a:pt x="946954" y="0"/>
                </a:lnTo>
                <a:lnTo>
                  <a:pt x="946954" y="946954"/>
                </a:lnTo>
                <a:lnTo>
                  <a:pt x="0" y="946954"/>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TotalTime>
  <Words>645</Words>
  <Application>Microsoft Office PowerPoint</Application>
  <PresentationFormat>Custom</PresentationFormat>
  <Paragraphs>48</Paragraphs>
  <Slides>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Calibri</vt:lpstr>
      <vt:lpstr>DM Sans Bold</vt:lpstr>
      <vt:lpstr>Arial</vt:lpstr>
      <vt:lpstr>Anton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Green and Brown Illustration Climate Change Presentation</dc:title>
  <cp:lastModifiedBy>Kim Baricog</cp:lastModifiedBy>
  <cp:revision>2</cp:revision>
  <dcterms:created xsi:type="dcterms:W3CDTF">2006-08-16T00:00:00Z</dcterms:created>
  <dcterms:modified xsi:type="dcterms:W3CDTF">2025-11-26T02:30:53Z</dcterms:modified>
  <dc:identifier>DAG489b7f9w</dc:identifier>
</cp:coreProperties>
</file>