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Hertical Rough" charset="1" panose="00000000000000000000"/>
      <p:regular r:id="rId16"/>
    </p:embeddedFont>
    <p:embeddedFont>
      <p:font typeface="TT Phobos" charset="1" panose="02000503050000020004"/>
      <p:regular r:id="rId17"/>
    </p:embeddedFont>
    <p:embeddedFont>
      <p:font typeface="TT Phobos Bold" charset="1" panose="0200080306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CDDD4"/>
        </a:solidFill>
      </p:bgPr>
    </p:bg>
    <p:spTree>
      <p:nvGrpSpPr>
        <p:cNvPr id="1" name=""/>
        <p:cNvGrpSpPr/>
        <p:nvPr/>
      </p:nvGrpSpPr>
      <p:grpSpPr>
        <a:xfrm>
          <a:off x="0" y="0"/>
          <a:ext cx="0" cy="0"/>
          <a:chOff x="0" y="0"/>
          <a:chExt cx="0" cy="0"/>
        </a:xfrm>
      </p:grpSpPr>
      <p:grpSp>
        <p:nvGrpSpPr>
          <p:cNvPr name="Group 2" id="2"/>
          <p:cNvGrpSpPr/>
          <p:nvPr/>
        </p:nvGrpSpPr>
        <p:grpSpPr>
          <a:xfrm rot="0">
            <a:off x="506196" y="701683"/>
            <a:ext cx="17275609" cy="8883633"/>
            <a:chOff x="0" y="0"/>
            <a:chExt cx="4549955" cy="2339722"/>
          </a:xfrm>
        </p:grpSpPr>
        <p:sp>
          <p:nvSpPr>
            <p:cNvPr name="Freeform 3" id="3"/>
            <p:cNvSpPr/>
            <p:nvPr/>
          </p:nvSpPr>
          <p:spPr>
            <a:xfrm flipH="false" flipV="false" rot="0">
              <a:off x="0" y="0"/>
              <a:ext cx="4549954" cy="2339722"/>
            </a:xfrm>
            <a:custGeom>
              <a:avLst/>
              <a:gdLst/>
              <a:ahLst/>
              <a:cxnLst/>
              <a:rect r="r" b="b" t="t" l="l"/>
              <a:pathLst>
                <a:path h="2339722" w="4549954">
                  <a:moveTo>
                    <a:pt x="22855" y="0"/>
                  </a:moveTo>
                  <a:lnTo>
                    <a:pt x="4527099" y="0"/>
                  </a:lnTo>
                  <a:cubicBezTo>
                    <a:pt x="4539722" y="0"/>
                    <a:pt x="4549954" y="10233"/>
                    <a:pt x="4549954" y="22855"/>
                  </a:cubicBezTo>
                  <a:lnTo>
                    <a:pt x="4549954" y="2316867"/>
                  </a:lnTo>
                  <a:cubicBezTo>
                    <a:pt x="4549954" y="2329490"/>
                    <a:pt x="4539722" y="2339722"/>
                    <a:pt x="4527099" y="2339722"/>
                  </a:cubicBezTo>
                  <a:lnTo>
                    <a:pt x="22855" y="2339722"/>
                  </a:lnTo>
                  <a:cubicBezTo>
                    <a:pt x="10233" y="2339722"/>
                    <a:pt x="0" y="2329490"/>
                    <a:pt x="0" y="2316867"/>
                  </a:cubicBezTo>
                  <a:lnTo>
                    <a:pt x="0" y="22855"/>
                  </a:lnTo>
                  <a:cubicBezTo>
                    <a:pt x="0" y="10233"/>
                    <a:pt x="10233" y="0"/>
                    <a:pt x="22855" y="0"/>
                  </a:cubicBezTo>
                  <a:close/>
                </a:path>
              </a:pathLst>
            </a:custGeom>
            <a:solidFill>
              <a:srgbClr val="EDF0F4"/>
            </a:solidFill>
            <a:ln w="28575" cap="rnd">
              <a:solidFill>
                <a:srgbClr val="000000"/>
              </a:solidFill>
              <a:prstDash val="solid"/>
              <a:round/>
            </a:ln>
          </p:spPr>
        </p:sp>
        <p:sp>
          <p:nvSpPr>
            <p:cNvPr name="TextBox 4" id="4"/>
            <p:cNvSpPr txBox="true"/>
            <p:nvPr/>
          </p:nvSpPr>
          <p:spPr>
            <a:xfrm>
              <a:off x="0" y="-38100"/>
              <a:ext cx="4549955" cy="237782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5481211"/>
            <a:ext cx="12075986" cy="3777089"/>
            <a:chOff x="0" y="0"/>
            <a:chExt cx="3180507" cy="994789"/>
          </a:xfrm>
        </p:grpSpPr>
        <p:sp>
          <p:nvSpPr>
            <p:cNvPr name="Freeform 6" id="6"/>
            <p:cNvSpPr/>
            <p:nvPr/>
          </p:nvSpPr>
          <p:spPr>
            <a:xfrm flipH="false" flipV="false" rot="0">
              <a:off x="0" y="0"/>
              <a:ext cx="3180507" cy="994789"/>
            </a:xfrm>
            <a:custGeom>
              <a:avLst/>
              <a:gdLst/>
              <a:ahLst/>
              <a:cxnLst/>
              <a:rect r="r" b="b" t="t" l="l"/>
              <a:pathLst>
                <a:path h="994789" w="3180507">
                  <a:moveTo>
                    <a:pt x="0" y="0"/>
                  </a:moveTo>
                  <a:lnTo>
                    <a:pt x="3180507" y="0"/>
                  </a:lnTo>
                  <a:lnTo>
                    <a:pt x="3180507" y="994789"/>
                  </a:lnTo>
                  <a:lnTo>
                    <a:pt x="0" y="994789"/>
                  </a:lnTo>
                  <a:close/>
                </a:path>
              </a:pathLst>
            </a:custGeom>
            <a:solidFill>
              <a:srgbClr val="BCDDD4"/>
            </a:solidFill>
            <a:ln w="28575" cap="sq">
              <a:solidFill>
                <a:srgbClr val="231F20"/>
              </a:solidFill>
              <a:prstDash val="solid"/>
              <a:miter/>
            </a:ln>
          </p:spPr>
        </p:sp>
        <p:sp>
          <p:nvSpPr>
            <p:cNvPr name="TextBox 7" id="7"/>
            <p:cNvSpPr txBox="true"/>
            <p:nvPr/>
          </p:nvSpPr>
          <p:spPr>
            <a:xfrm>
              <a:off x="0" y="-38100"/>
              <a:ext cx="3180507" cy="103288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28700" y="1218479"/>
            <a:ext cx="3777089" cy="3777089"/>
            <a:chOff x="0" y="0"/>
            <a:chExt cx="994789" cy="994789"/>
          </a:xfrm>
        </p:grpSpPr>
        <p:sp>
          <p:nvSpPr>
            <p:cNvPr name="Freeform 9" id="9"/>
            <p:cNvSpPr/>
            <p:nvPr/>
          </p:nvSpPr>
          <p:spPr>
            <a:xfrm flipH="false" flipV="false" rot="0">
              <a:off x="0" y="0"/>
              <a:ext cx="994789" cy="994789"/>
            </a:xfrm>
            <a:custGeom>
              <a:avLst/>
              <a:gdLst/>
              <a:ahLst/>
              <a:cxnLst/>
              <a:rect r="r" b="b" t="t" l="l"/>
              <a:pathLst>
                <a:path h="994789" w="994789">
                  <a:moveTo>
                    <a:pt x="0" y="0"/>
                  </a:moveTo>
                  <a:lnTo>
                    <a:pt x="994789" y="0"/>
                  </a:lnTo>
                  <a:lnTo>
                    <a:pt x="994789" y="994789"/>
                  </a:lnTo>
                  <a:lnTo>
                    <a:pt x="0" y="994789"/>
                  </a:lnTo>
                  <a:close/>
                </a:path>
              </a:pathLst>
            </a:custGeom>
            <a:solidFill>
              <a:srgbClr val="FFFFFF"/>
            </a:solidFill>
            <a:ln w="19050" cap="sq">
              <a:solidFill>
                <a:srgbClr val="000000"/>
              </a:solidFill>
              <a:prstDash val="solid"/>
              <a:miter/>
            </a:ln>
          </p:spPr>
        </p:sp>
        <p:sp>
          <p:nvSpPr>
            <p:cNvPr name="TextBox 10" id="10"/>
            <p:cNvSpPr txBox="true"/>
            <p:nvPr/>
          </p:nvSpPr>
          <p:spPr>
            <a:xfrm>
              <a:off x="0" y="-38100"/>
              <a:ext cx="994789" cy="1032889"/>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322920" y="5675696"/>
            <a:ext cx="10070870" cy="1370438"/>
          </a:xfrm>
          <a:prstGeom prst="rect">
            <a:avLst/>
          </a:prstGeom>
        </p:spPr>
        <p:txBody>
          <a:bodyPr anchor="t" rtlCol="false" tIns="0" lIns="0" bIns="0" rIns="0">
            <a:spAutoFit/>
          </a:bodyPr>
          <a:lstStyle/>
          <a:p>
            <a:pPr algn="l">
              <a:lnSpc>
                <a:spcPts val="4750"/>
              </a:lnSpc>
            </a:pPr>
            <a:r>
              <a:rPr lang="en-US" sz="4750">
                <a:solidFill>
                  <a:srgbClr val="000000"/>
                </a:solidFill>
                <a:latin typeface="Hertical Rough"/>
                <a:ea typeface="Hertical Rough"/>
                <a:cs typeface="Hertical Rough"/>
                <a:sym typeface="Hertical Rough"/>
              </a:rPr>
              <a:t>Recognize the Signs of an Impending Volcanic Eruption</a:t>
            </a:r>
          </a:p>
        </p:txBody>
      </p:sp>
      <p:grpSp>
        <p:nvGrpSpPr>
          <p:cNvPr name="Group 12" id="12"/>
          <p:cNvGrpSpPr/>
          <p:nvPr/>
        </p:nvGrpSpPr>
        <p:grpSpPr>
          <a:xfrm rot="0">
            <a:off x="13477875" y="5295900"/>
            <a:ext cx="3777089" cy="3777089"/>
            <a:chOff x="0" y="0"/>
            <a:chExt cx="994789" cy="994789"/>
          </a:xfrm>
        </p:grpSpPr>
        <p:sp>
          <p:nvSpPr>
            <p:cNvPr name="Freeform 13" id="13"/>
            <p:cNvSpPr/>
            <p:nvPr/>
          </p:nvSpPr>
          <p:spPr>
            <a:xfrm flipH="false" flipV="false" rot="0">
              <a:off x="0" y="0"/>
              <a:ext cx="994789" cy="994789"/>
            </a:xfrm>
            <a:custGeom>
              <a:avLst/>
              <a:gdLst/>
              <a:ahLst/>
              <a:cxnLst/>
              <a:rect r="r" b="b" t="t" l="l"/>
              <a:pathLst>
                <a:path h="994789" w="994789">
                  <a:moveTo>
                    <a:pt x="0" y="0"/>
                  </a:moveTo>
                  <a:lnTo>
                    <a:pt x="994789" y="0"/>
                  </a:lnTo>
                  <a:lnTo>
                    <a:pt x="994789" y="994789"/>
                  </a:lnTo>
                  <a:lnTo>
                    <a:pt x="0" y="994789"/>
                  </a:lnTo>
                  <a:close/>
                </a:path>
              </a:pathLst>
            </a:custGeom>
            <a:solidFill>
              <a:srgbClr val="FFFFFF"/>
            </a:solidFill>
            <a:ln w="19050" cap="sq">
              <a:solidFill>
                <a:srgbClr val="000000"/>
              </a:solidFill>
              <a:prstDash val="solid"/>
              <a:miter/>
            </a:ln>
          </p:spPr>
        </p:sp>
        <p:sp>
          <p:nvSpPr>
            <p:cNvPr name="TextBox 14" id="14"/>
            <p:cNvSpPr txBox="true"/>
            <p:nvPr/>
          </p:nvSpPr>
          <p:spPr>
            <a:xfrm>
              <a:off x="0" y="-38100"/>
              <a:ext cx="994789" cy="1032889"/>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9327597" y="1218479"/>
            <a:ext cx="3777089" cy="3777089"/>
            <a:chOff x="0" y="0"/>
            <a:chExt cx="994789" cy="994789"/>
          </a:xfrm>
        </p:grpSpPr>
        <p:sp>
          <p:nvSpPr>
            <p:cNvPr name="Freeform 16" id="16"/>
            <p:cNvSpPr/>
            <p:nvPr/>
          </p:nvSpPr>
          <p:spPr>
            <a:xfrm flipH="false" flipV="false" rot="0">
              <a:off x="0" y="0"/>
              <a:ext cx="994789" cy="994789"/>
            </a:xfrm>
            <a:custGeom>
              <a:avLst/>
              <a:gdLst/>
              <a:ahLst/>
              <a:cxnLst/>
              <a:rect r="r" b="b" t="t" l="l"/>
              <a:pathLst>
                <a:path h="994789" w="994789">
                  <a:moveTo>
                    <a:pt x="0" y="0"/>
                  </a:moveTo>
                  <a:lnTo>
                    <a:pt x="994789" y="0"/>
                  </a:lnTo>
                  <a:lnTo>
                    <a:pt x="994789" y="994789"/>
                  </a:lnTo>
                  <a:lnTo>
                    <a:pt x="0" y="994789"/>
                  </a:lnTo>
                  <a:close/>
                </a:path>
              </a:pathLst>
            </a:custGeom>
            <a:solidFill>
              <a:srgbClr val="FFFFFF"/>
            </a:solidFill>
            <a:ln w="19050" cap="sq">
              <a:solidFill>
                <a:srgbClr val="000000"/>
              </a:solidFill>
              <a:prstDash val="solid"/>
              <a:miter/>
            </a:ln>
          </p:spPr>
        </p:sp>
        <p:sp>
          <p:nvSpPr>
            <p:cNvPr name="TextBox 17" id="17"/>
            <p:cNvSpPr txBox="true"/>
            <p:nvPr/>
          </p:nvSpPr>
          <p:spPr>
            <a:xfrm>
              <a:off x="0" y="-38100"/>
              <a:ext cx="994789" cy="1032889"/>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526794" y="8040423"/>
            <a:ext cx="4822236" cy="948708"/>
          </a:xfrm>
          <a:prstGeom prst="rect">
            <a:avLst/>
          </a:prstGeom>
        </p:spPr>
        <p:txBody>
          <a:bodyPr anchor="t" rtlCol="false" tIns="0" lIns="0" bIns="0" rIns="0">
            <a:spAutoFit/>
          </a:bodyPr>
          <a:lstStyle/>
          <a:p>
            <a:pPr algn="ctr">
              <a:lnSpc>
                <a:spcPts val="7763"/>
              </a:lnSpc>
              <a:spcBef>
                <a:spcPct val="0"/>
              </a:spcBef>
            </a:pPr>
            <a:r>
              <a:rPr lang="en-US" sz="5545">
                <a:solidFill>
                  <a:srgbClr val="000000"/>
                </a:solidFill>
                <a:latin typeface="TT Phobos"/>
                <a:ea typeface="TT Phobos"/>
                <a:cs typeface="TT Phobos"/>
                <a:sym typeface="TT Phobos"/>
              </a:rPr>
              <a:t>a presentation</a:t>
            </a:r>
          </a:p>
        </p:txBody>
      </p:sp>
      <p:sp>
        <p:nvSpPr>
          <p:cNvPr name="Freeform 19" id="19"/>
          <p:cNvSpPr/>
          <p:nvPr/>
        </p:nvSpPr>
        <p:spPr>
          <a:xfrm flipH="false" flipV="false" rot="0">
            <a:off x="5116144" y="1627558"/>
            <a:ext cx="3771588" cy="2996698"/>
          </a:xfrm>
          <a:custGeom>
            <a:avLst/>
            <a:gdLst/>
            <a:ahLst/>
            <a:cxnLst/>
            <a:rect r="r" b="b" t="t" l="l"/>
            <a:pathLst>
              <a:path h="2996698" w="3771588">
                <a:moveTo>
                  <a:pt x="0" y="0"/>
                </a:moveTo>
                <a:lnTo>
                  <a:pt x="3771588" y="0"/>
                </a:lnTo>
                <a:lnTo>
                  <a:pt x="3771588" y="2996698"/>
                </a:lnTo>
                <a:lnTo>
                  <a:pt x="0" y="2996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9390151" y="1475953"/>
            <a:ext cx="3651981" cy="3034465"/>
          </a:xfrm>
          <a:custGeom>
            <a:avLst/>
            <a:gdLst/>
            <a:ahLst/>
            <a:cxnLst/>
            <a:rect r="r" b="b" t="t" l="l"/>
            <a:pathLst>
              <a:path h="3034465" w="3651981">
                <a:moveTo>
                  <a:pt x="0" y="0"/>
                </a:moveTo>
                <a:lnTo>
                  <a:pt x="3651981" y="0"/>
                </a:lnTo>
                <a:lnTo>
                  <a:pt x="3651981" y="3034465"/>
                </a:lnTo>
                <a:lnTo>
                  <a:pt x="0" y="30344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092597" y="1961451"/>
            <a:ext cx="3649294" cy="2328913"/>
          </a:xfrm>
          <a:custGeom>
            <a:avLst/>
            <a:gdLst/>
            <a:ahLst/>
            <a:cxnLst/>
            <a:rect r="r" b="b" t="t" l="l"/>
            <a:pathLst>
              <a:path h="2328913" w="3649294">
                <a:moveTo>
                  <a:pt x="0" y="0"/>
                </a:moveTo>
                <a:lnTo>
                  <a:pt x="3649295" y="0"/>
                </a:lnTo>
                <a:lnTo>
                  <a:pt x="3649295" y="2328913"/>
                </a:lnTo>
                <a:lnTo>
                  <a:pt x="0" y="23289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3542836" y="1901878"/>
            <a:ext cx="3803479" cy="2448057"/>
          </a:xfrm>
          <a:custGeom>
            <a:avLst/>
            <a:gdLst/>
            <a:ahLst/>
            <a:cxnLst/>
            <a:rect r="r" b="b" t="t" l="l"/>
            <a:pathLst>
              <a:path h="2448057" w="3803479">
                <a:moveTo>
                  <a:pt x="0" y="0"/>
                </a:moveTo>
                <a:lnTo>
                  <a:pt x="3803479" y="0"/>
                </a:lnTo>
                <a:lnTo>
                  <a:pt x="3803479" y="2448058"/>
                </a:lnTo>
                <a:lnTo>
                  <a:pt x="0" y="244805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13477875" y="5919727"/>
            <a:ext cx="3746645" cy="2488746"/>
          </a:xfrm>
          <a:custGeom>
            <a:avLst/>
            <a:gdLst/>
            <a:ahLst/>
            <a:cxnLst/>
            <a:rect r="r" b="b" t="t" l="l"/>
            <a:pathLst>
              <a:path h="2488746" w="3746645">
                <a:moveTo>
                  <a:pt x="0" y="0"/>
                </a:moveTo>
                <a:lnTo>
                  <a:pt x="3746645" y="0"/>
                </a:lnTo>
                <a:lnTo>
                  <a:pt x="3746645" y="2488746"/>
                </a:lnTo>
                <a:lnTo>
                  <a:pt x="0" y="248874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4B2B9"/>
        </a:solidFill>
      </p:bgPr>
    </p:bg>
    <p:spTree>
      <p:nvGrpSpPr>
        <p:cNvPr id="1" name=""/>
        <p:cNvGrpSpPr/>
        <p:nvPr/>
      </p:nvGrpSpPr>
      <p:grpSpPr>
        <a:xfrm>
          <a:off x="0" y="0"/>
          <a:ext cx="0" cy="0"/>
          <a:chOff x="0" y="0"/>
          <a:chExt cx="0" cy="0"/>
        </a:xfrm>
      </p:grpSpPr>
      <p:grpSp>
        <p:nvGrpSpPr>
          <p:cNvPr name="Group 2" id="2"/>
          <p:cNvGrpSpPr/>
          <p:nvPr/>
        </p:nvGrpSpPr>
        <p:grpSpPr>
          <a:xfrm rot="0">
            <a:off x="192194" y="512708"/>
            <a:ext cx="17988135" cy="9774292"/>
            <a:chOff x="0" y="0"/>
            <a:chExt cx="4737616" cy="2574299"/>
          </a:xfrm>
        </p:grpSpPr>
        <p:sp>
          <p:nvSpPr>
            <p:cNvPr name="Freeform 3" id="3"/>
            <p:cNvSpPr/>
            <p:nvPr/>
          </p:nvSpPr>
          <p:spPr>
            <a:xfrm flipH="false" flipV="false" rot="0">
              <a:off x="0" y="0"/>
              <a:ext cx="4737616" cy="2574299"/>
            </a:xfrm>
            <a:custGeom>
              <a:avLst/>
              <a:gdLst/>
              <a:ahLst/>
              <a:cxnLst/>
              <a:rect r="r" b="b" t="t" l="l"/>
              <a:pathLst>
                <a:path h="2574299" w="4737616">
                  <a:moveTo>
                    <a:pt x="21950" y="0"/>
                  </a:moveTo>
                  <a:lnTo>
                    <a:pt x="4715666" y="0"/>
                  </a:lnTo>
                  <a:cubicBezTo>
                    <a:pt x="4727789" y="0"/>
                    <a:pt x="4737616" y="9827"/>
                    <a:pt x="4737616" y="21950"/>
                  </a:cubicBezTo>
                  <a:lnTo>
                    <a:pt x="4737616" y="2552349"/>
                  </a:lnTo>
                  <a:cubicBezTo>
                    <a:pt x="4737616" y="2564472"/>
                    <a:pt x="4727789" y="2574299"/>
                    <a:pt x="4715666" y="2574299"/>
                  </a:cubicBezTo>
                  <a:lnTo>
                    <a:pt x="21950" y="2574299"/>
                  </a:lnTo>
                  <a:cubicBezTo>
                    <a:pt x="9827" y="2574299"/>
                    <a:pt x="0" y="2564472"/>
                    <a:pt x="0" y="2552349"/>
                  </a:cubicBezTo>
                  <a:lnTo>
                    <a:pt x="0" y="21950"/>
                  </a:lnTo>
                  <a:cubicBezTo>
                    <a:pt x="0" y="9827"/>
                    <a:pt x="9827" y="0"/>
                    <a:pt x="21950" y="0"/>
                  </a:cubicBezTo>
                  <a:close/>
                </a:path>
              </a:pathLst>
            </a:custGeom>
            <a:solidFill>
              <a:srgbClr val="EDF0F4"/>
            </a:solidFill>
            <a:ln w="28575" cap="rnd">
              <a:solidFill>
                <a:srgbClr val="000000"/>
              </a:solidFill>
              <a:prstDash val="solid"/>
              <a:round/>
            </a:ln>
          </p:spPr>
        </p:sp>
        <p:sp>
          <p:nvSpPr>
            <p:cNvPr name="TextBox 4" id="4"/>
            <p:cNvSpPr txBox="true"/>
            <p:nvPr/>
          </p:nvSpPr>
          <p:spPr>
            <a:xfrm>
              <a:off x="0" y="-38100"/>
              <a:ext cx="4737616" cy="26123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102375" y="768682"/>
            <a:ext cx="11655667" cy="2240704"/>
            <a:chOff x="0" y="0"/>
            <a:chExt cx="3069805" cy="590144"/>
          </a:xfrm>
        </p:grpSpPr>
        <p:sp>
          <p:nvSpPr>
            <p:cNvPr name="Freeform 6" id="6"/>
            <p:cNvSpPr/>
            <p:nvPr/>
          </p:nvSpPr>
          <p:spPr>
            <a:xfrm flipH="false" flipV="false" rot="0">
              <a:off x="0" y="0"/>
              <a:ext cx="3069805" cy="590144"/>
            </a:xfrm>
            <a:custGeom>
              <a:avLst/>
              <a:gdLst/>
              <a:ahLst/>
              <a:cxnLst/>
              <a:rect r="r" b="b" t="t" l="l"/>
              <a:pathLst>
                <a:path h="590144" w="3069805">
                  <a:moveTo>
                    <a:pt x="0" y="0"/>
                  </a:moveTo>
                  <a:lnTo>
                    <a:pt x="3069805" y="0"/>
                  </a:lnTo>
                  <a:lnTo>
                    <a:pt x="3069805" y="590144"/>
                  </a:lnTo>
                  <a:lnTo>
                    <a:pt x="0" y="590144"/>
                  </a:lnTo>
                  <a:close/>
                </a:path>
              </a:pathLst>
            </a:custGeom>
            <a:solidFill>
              <a:srgbClr val="E4B2B9"/>
            </a:solidFill>
            <a:ln w="28575" cap="sq">
              <a:solidFill>
                <a:srgbClr val="231F20"/>
              </a:solidFill>
              <a:prstDash val="solid"/>
              <a:miter/>
            </a:ln>
          </p:spPr>
        </p:sp>
        <p:sp>
          <p:nvSpPr>
            <p:cNvPr name="TextBox 7" id="7"/>
            <p:cNvSpPr txBox="true"/>
            <p:nvPr/>
          </p:nvSpPr>
          <p:spPr>
            <a:xfrm>
              <a:off x="0" y="-38100"/>
              <a:ext cx="3069805" cy="6282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851138" y="3435109"/>
            <a:ext cx="6154919" cy="3183659"/>
            <a:chOff x="0" y="0"/>
            <a:chExt cx="1621049" cy="838494"/>
          </a:xfrm>
        </p:grpSpPr>
        <p:sp>
          <p:nvSpPr>
            <p:cNvPr name="Freeform 9" id="9"/>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0" id="10"/>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438707" y="989475"/>
            <a:ext cx="11319336" cy="1660526"/>
          </a:xfrm>
          <a:prstGeom prst="rect">
            <a:avLst/>
          </a:prstGeom>
        </p:spPr>
        <p:txBody>
          <a:bodyPr anchor="t" rtlCol="false" tIns="0" lIns="0" bIns="0" rIns="0">
            <a:spAutoFit/>
          </a:bodyPr>
          <a:lstStyle/>
          <a:p>
            <a:pPr algn="ctr">
              <a:lnSpc>
                <a:spcPts val="5750"/>
              </a:lnSpc>
            </a:pPr>
            <a:r>
              <a:rPr lang="en-US" sz="5750">
                <a:solidFill>
                  <a:srgbClr val="000000"/>
                </a:solidFill>
                <a:latin typeface="Hertical Rough"/>
                <a:ea typeface="Hertical Rough"/>
                <a:cs typeface="Hertical Rough"/>
                <a:sym typeface="Hertical Rough"/>
              </a:rPr>
              <a:t>What Is a Volcanic Eruption?</a:t>
            </a:r>
          </a:p>
        </p:txBody>
      </p:sp>
      <p:sp>
        <p:nvSpPr>
          <p:cNvPr name="TextBox 12" id="12"/>
          <p:cNvSpPr txBox="true"/>
          <p:nvPr/>
        </p:nvSpPr>
        <p:spPr>
          <a:xfrm rot="0">
            <a:off x="1679517" y="3971390"/>
            <a:ext cx="5738347" cy="2647378"/>
          </a:xfrm>
          <a:prstGeom prst="rect">
            <a:avLst/>
          </a:prstGeom>
        </p:spPr>
        <p:txBody>
          <a:bodyPr anchor="t" rtlCol="false" tIns="0" lIns="0" bIns="0" rIns="0">
            <a:spAutoFit/>
          </a:bodyPr>
          <a:lstStyle/>
          <a:p>
            <a:pPr algn="l" marL="652561" indent="-326280" lvl="1">
              <a:lnSpc>
                <a:spcPts val="4231"/>
              </a:lnSpc>
              <a:buFont typeface="Arial"/>
              <a:buChar char="•"/>
            </a:pPr>
            <a:r>
              <a:rPr lang="en-US" sz="3022">
                <a:solidFill>
                  <a:srgbClr val="000000"/>
                </a:solidFill>
                <a:latin typeface="TT Phobos"/>
                <a:ea typeface="TT Phobos"/>
                <a:cs typeface="TT Phobos"/>
                <a:sym typeface="TT Phobos"/>
              </a:rPr>
              <a:t>A volcanic eruption happens when magma, ash, and gases escape from a volcano</a:t>
            </a:r>
          </a:p>
          <a:p>
            <a:pPr algn="l">
              <a:lnSpc>
                <a:spcPts val="4231"/>
              </a:lnSpc>
            </a:pPr>
          </a:p>
        </p:txBody>
      </p:sp>
      <p:grpSp>
        <p:nvGrpSpPr>
          <p:cNvPr name="Group 13" id="13"/>
          <p:cNvGrpSpPr/>
          <p:nvPr/>
        </p:nvGrpSpPr>
        <p:grpSpPr>
          <a:xfrm rot="0">
            <a:off x="10115047" y="3435109"/>
            <a:ext cx="6154919" cy="3183659"/>
            <a:chOff x="0" y="0"/>
            <a:chExt cx="1621049" cy="838494"/>
          </a:xfrm>
        </p:grpSpPr>
        <p:sp>
          <p:nvSpPr>
            <p:cNvPr name="Freeform 14" id="14"/>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5" id="15"/>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9943426" y="3971390"/>
            <a:ext cx="5738347" cy="1580578"/>
          </a:xfrm>
          <a:prstGeom prst="rect">
            <a:avLst/>
          </a:prstGeom>
        </p:spPr>
        <p:txBody>
          <a:bodyPr anchor="t" rtlCol="false" tIns="0" lIns="0" bIns="0" rIns="0">
            <a:spAutoFit/>
          </a:bodyPr>
          <a:lstStyle/>
          <a:p>
            <a:pPr algn="l" marL="652561" indent="-326280" lvl="1">
              <a:lnSpc>
                <a:spcPts val="4231"/>
              </a:lnSpc>
              <a:buFont typeface="Arial"/>
              <a:buChar char="•"/>
            </a:pPr>
            <a:r>
              <a:rPr lang="en-US" sz="3022">
                <a:solidFill>
                  <a:srgbClr val="000000"/>
                </a:solidFill>
                <a:latin typeface="TT Phobos"/>
                <a:ea typeface="TT Phobos"/>
                <a:cs typeface="TT Phobos"/>
                <a:sym typeface="TT Phobos"/>
              </a:rPr>
              <a:t>Pressure builds up beneath the Earth’s surface</a:t>
            </a:r>
          </a:p>
          <a:p>
            <a:pPr algn="l">
              <a:lnSpc>
                <a:spcPts val="4231"/>
              </a:lnSpc>
            </a:pPr>
          </a:p>
        </p:txBody>
      </p:sp>
      <p:grpSp>
        <p:nvGrpSpPr>
          <p:cNvPr name="Group 17" id="17"/>
          <p:cNvGrpSpPr/>
          <p:nvPr/>
        </p:nvGrpSpPr>
        <p:grpSpPr>
          <a:xfrm rot="0">
            <a:off x="5938560" y="6771613"/>
            <a:ext cx="6154919" cy="3183659"/>
            <a:chOff x="0" y="0"/>
            <a:chExt cx="1621049" cy="838494"/>
          </a:xfrm>
        </p:grpSpPr>
        <p:sp>
          <p:nvSpPr>
            <p:cNvPr name="Freeform 18" id="18"/>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9" id="19"/>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5766939" y="7307894"/>
            <a:ext cx="5738347" cy="2113978"/>
          </a:xfrm>
          <a:prstGeom prst="rect">
            <a:avLst/>
          </a:prstGeom>
        </p:spPr>
        <p:txBody>
          <a:bodyPr anchor="t" rtlCol="false" tIns="0" lIns="0" bIns="0" rIns="0">
            <a:spAutoFit/>
          </a:bodyPr>
          <a:lstStyle/>
          <a:p>
            <a:pPr algn="l" marL="652561" indent="-326280" lvl="1">
              <a:lnSpc>
                <a:spcPts val="4231"/>
              </a:lnSpc>
              <a:buFont typeface="Arial"/>
              <a:buChar char="•"/>
            </a:pPr>
            <a:r>
              <a:rPr lang="en-US" sz="3022">
                <a:solidFill>
                  <a:srgbClr val="000000"/>
                </a:solidFill>
                <a:latin typeface="TT Phobos"/>
                <a:ea typeface="TT Phobos"/>
                <a:cs typeface="TT Phobos"/>
                <a:sym typeface="TT Phobos"/>
              </a:rPr>
              <a:t>When pressure becomes too strong, an eruption occurs</a:t>
            </a:r>
          </a:p>
          <a:p>
            <a:pPr algn="l">
              <a:lnSpc>
                <a:spcPts val="4231"/>
              </a:lnSpc>
            </a:pPr>
          </a:p>
        </p:txBody>
      </p:sp>
      <p:sp>
        <p:nvSpPr>
          <p:cNvPr name="Freeform 21" id="21"/>
          <p:cNvSpPr/>
          <p:nvPr/>
        </p:nvSpPr>
        <p:spPr>
          <a:xfrm flipH="false" flipV="false" rot="0">
            <a:off x="14758042" y="8092340"/>
            <a:ext cx="3571193" cy="2194660"/>
          </a:xfrm>
          <a:custGeom>
            <a:avLst/>
            <a:gdLst/>
            <a:ahLst/>
            <a:cxnLst/>
            <a:rect r="r" b="b" t="t" l="l"/>
            <a:pathLst>
              <a:path h="2194660" w="3571193">
                <a:moveTo>
                  <a:pt x="0" y="0"/>
                </a:moveTo>
                <a:lnTo>
                  <a:pt x="3571193" y="0"/>
                </a:lnTo>
                <a:lnTo>
                  <a:pt x="3571193" y="2194660"/>
                </a:lnTo>
                <a:lnTo>
                  <a:pt x="0" y="21946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0">
            <a:off x="-213275" y="7365044"/>
            <a:ext cx="3651981" cy="3034465"/>
          </a:xfrm>
          <a:custGeom>
            <a:avLst/>
            <a:gdLst/>
            <a:ahLst/>
            <a:cxnLst/>
            <a:rect r="r" b="b" t="t" l="l"/>
            <a:pathLst>
              <a:path h="3034465" w="3651981">
                <a:moveTo>
                  <a:pt x="0" y="0"/>
                </a:moveTo>
                <a:lnTo>
                  <a:pt x="3651982" y="0"/>
                </a:lnTo>
                <a:lnTo>
                  <a:pt x="3651982" y="3034464"/>
                </a:lnTo>
                <a:lnTo>
                  <a:pt x="0" y="30344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4B2B9"/>
        </a:solidFill>
      </p:bgPr>
    </p:bg>
    <p:spTree>
      <p:nvGrpSpPr>
        <p:cNvPr id="1" name=""/>
        <p:cNvGrpSpPr/>
        <p:nvPr/>
      </p:nvGrpSpPr>
      <p:grpSpPr>
        <a:xfrm>
          <a:off x="0" y="0"/>
          <a:ext cx="0" cy="0"/>
          <a:chOff x="0" y="0"/>
          <a:chExt cx="0" cy="0"/>
        </a:xfrm>
      </p:grpSpPr>
      <p:grpSp>
        <p:nvGrpSpPr>
          <p:cNvPr name="Group 2" id="2"/>
          <p:cNvGrpSpPr/>
          <p:nvPr/>
        </p:nvGrpSpPr>
        <p:grpSpPr>
          <a:xfrm rot="0">
            <a:off x="104307" y="512708"/>
            <a:ext cx="17988135" cy="9774292"/>
            <a:chOff x="0" y="0"/>
            <a:chExt cx="4737616" cy="2574299"/>
          </a:xfrm>
        </p:grpSpPr>
        <p:sp>
          <p:nvSpPr>
            <p:cNvPr name="Freeform 3" id="3"/>
            <p:cNvSpPr/>
            <p:nvPr/>
          </p:nvSpPr>
          <p:spPr>
            <a:xfrm flipH="false" flipV="false" rot="0">
              <a:off x="0" y="0"/>
              <a:ext cx="4737616" cy="2574299"/>
            </a:xfrm>
            <a:custGeom>
              <a:avLst/>
              <a:gdLst/>
              <a:ahLst/>
              <a:cxnLst/>
              <a:rect r="r" b="b" t="t" l="l"/>
              <a:pathLst>
                <a:path h="2574299" w="4737616">
                  <a:moveTo>
                    <a:pt x="21950" y="0"/>
                  </a:moveTo>
                  <a:lnTo>
                    <a:pt x="4715666" y="0"/>
                  </a:lnTo>
                  <a:cubicBezTo>
                    <a:pt x="4727789" y="0"/>
                    <a:pt x="4737616" y="9827"/>
                    <a:pt x="4737616" y="21950"/>
                  </a:cubicBezTo>
                  <a:lnTo>
                    <a:pt x="4737616" y="2552349"/>
                  </a:lnTo>
                  <a:cubicBezTo>
                    <a:pt x="4737616" y="2564472"/>
                    <a:pt x="4727789" y="2574299"/>
                    <a:pt x="4715666" y="2574299"/>
                  </a:cubicBezTo>
                  <a:lnTo>
                    <a:pt x="21950" y="2574299"/>
                  </a:lnTo>
                  <a:cubicBezTo>
                    <a:pt x="9827" y="2574299"/>
                    <a:pt x="0" y="2564472"/>
                    <a:pt x="0" y="2552349"/>
                  </a:cubicBezTo>
                  <a:lnTo>
                    <a:pt x="0" y="21950"/>
                  </a:lnTo>
                  <a:cubicBezTo>
                    <a:pt x="0" y="9827"/>
                    <a:pt x="9827" y="0"/>
                    <a:pt x="21950" y="0"/>
                  </a:cubicBezTo>
                  <a:close/>
                </a:path>
              </a:pathLst>
            </a:custGeom>
            <a:solidFill>
              <a:srgbClr val="CADBEA"/>
            </a:solidFill>
            <a:ln w="28575" cap="rnd">
              <a:solidFill>
                <a:srgbClr val="000000"/>
              </a:solidFill>
              <a:prstDash val="solid"/>
              <a:round/>
            </a:ln>
          </p:spPr>
        </p:sp>
        <p:sp>
          <p:nvSpPr>
            <p:cNvPr name="TextBox 4" id="4"/>
            <p:cNvSpPr txBox="true"/>
            <p:nvPr/>
          </p:nvSpPr>
          <p:spPr>
            <a:xfrm>
              <a:off x="0" y="-38100"/>
              <a:ext cx="4737616" cy="26123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102375" y="768682"/>
            <a:ext cx="11655667" cy="2240704"/>
            <a:chOff x="0" y="0"/>
            <a:chExt cx="3069805" cy="590144"/>
          </a:xfrm>
        </p:grpSpPr>
        <p:sp>
          <p:nvSpPr>
            <p:cNvPr name="Freeform 6" id="6"/>
            <p:cNvSpPr/>
            <p:nvPr/>
          </p:nvSpPr>
          <p:spPr>
            <a:xfrm flipH="false" flipV="false" rot="0">
              <a:off x="0" y="0"/>
              <a:ext cx="3069805" cy="590144"/>
            </a:xfrm>
            <a:custGeom>
              <a:avLst/>
              <a:gdLst/>
              <a:ahLst/>
              <a:cxnLst/>
              <a:rect r="r" b="b" t="t" l="l"/>
              <a:pathLst>
                <a:path h="590144" w="3069805">
                  <a:moveTo>
                    <a:pt x="0" y="0"/>
                  </a:moveTo>
                  <a:lnTo>
                    <a:pt x="3069805" y="0"/>
                  </a:lnTo>
                  <a:lnTo>
                    <a:pt x="3069805" y="590144"/>
                  </a:lnTo>
                  <a:lnTo>
                    <a:pt x="0" y="590144"/>
                  </a:lnTo>
                  <a:close/>
                </a:path>
              </a:pathLst>
            </a:custGeom>
            <a:solidFill>
              <a:srgbClr val="E4B2B9"/>
            </a:solidFill>
            <a:ln w="28575" cap="sq">
              <a:solidFill>
                <a:srgbClr val="231F20"/>
              </a:solidFill>
              <a:prstDash val="solid"/>
              <a:miter/>
            </a:ln>
          </p:spPr>
        </p:sp>
        <p:sp>
          <p:nvSpPr>
            <p:cNvPr name="TextBox 7" id="7"/>
            <p:cNvSpPr txBox="true"/>
            <p:nvPr/>
          </p:nvSpPr>
          <p:spPr>
            <a:xfrm>
              <a:off x="0" y="-38100"/>
              <a:ext cx="3069805" cy="6282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543360" y="3190178"/>
            <a:ext cx="6154919" cy="3183659"/>
            <a:chOff x="0" y="0"/>
            <a:chExt cx="1621049" cy="838494"/>
          </a:xfrm>
        </p:grpSpPr>
        <p:sp>
          <p:nvSpPr>
            <p:cNvPr name="Freeform 9" id="9"/>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0" id="10"/>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438707" y="989475"/>
            <a:ext cx="11319336" cy="1660526"/>
          </a:xfrm>
          <a:prstGeom prst="rect">
            <a:avLst/>
          </a:prstGeom>
        </p:spPr>
        <p:txBody>
          <a:bodyPr anchor="t" rtlCol="false" tIns="0" lIns="0" bIns="0" rIns="0">
            <a:spAutoFit/>
          </a:bodyPr>
          <a:lstStyle/>
          <a:p>
            <a:pPr algn="ctr">
              <a:lnSpc>
                <a:spcPts val="5750"/>
              </a:lnSpc>
            </a:pPr>
            <a:r>
              <a:rPr lang="en-US" sz="5750">
                <a:solidFill>
                  <a:srgbClr val="000000"/>
                </a:solidFill>
                <a:latin typeface="Hertical Rough"/>
                <a:ea typeface="Hertical Rough"/>
                <a:cs typeface="Hertical Rough"/>
                <a:sym typeface="Hertical Rough"/>
              </a:rPr>
              <a:t>Why Recognizing Warning Signs Is Important?</a:t>
            </a:r>
          </a:p>
        </p:txBody>
      </p:sp>
      <p:grpSp>
        <p:nvGrpSpPr>
          <p:cNvPr name="Group 12" id="12"/>
          <p:cNvGrpSpPr/>
          <p:nvPr/>
        </p:nvGrpSpPr>
        <p:grpSpPr>
          <a:xfrm rot="0">
            <a:off x="9821027" y="3190178"/>
            <a:ext cx="6154919" cy="3183659"/>
            <a:chOff x="0" y="0"/>
            <a:chExt cx="1621049" cy="838494"/>
          </a:xfrm>
        </p:grpSpPr>
        <p:sp>
          <p:nvSpPr>
            <p:cNvPr name="Freeform 13" id="13"/>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4" id="14"/>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2543360" y="6554812"/>
            <a:ext cx="6154919" cy="3183659"/>
            <a:chOff x="0" y="0"/>
            <a:chExt cx="1621049" cy="838494"/>
          </a:xfrm>
        </p:grpSpPr>
        <p:sp>
          <p:nvSpPr>
            <p:cNvPr name="Freeform 16" id="16"/>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7" id="17"/>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413673" y="7672438"/>
            <a:ext cx="3651981" cy="3034465"/>
          </a:xfrm>
          <a:custGeom>
            <a:avLst/>
            <a:gdLst/>
            <a:ahLst/>
            <a:cxnLst/>
            <a:rect r="r" b="b" t="t" l="l"/>
            <a:pathLst>
              <a:path h="3034465" w="3651981">
                <a:moveTo>
                  <a:pt x="0" y="0"/>
                </a:moveTo>
                <a:lnTo>
                  <a:pt x="3651981" y="0"/>
                </a:lnTo>
                <a:lnTo>
                  <a:pt x="3651981" y="3034464"/>
                </a:lnTo>
                <a:lnTo>
                  <a:pt x="0" y="3034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9" id="19"/>
          <p:cNvGrpSpPr/>
          <p:nvPr/>
        </p:nvGrpSpPr>
        <p:grpSpPr>
          <a:xfrm rot="0">
            <a:off x="9821027" y="6554812"/>
            <a:ext cx="6154919" cy="3183659"/>
            <a:chOff x="0" y="0"/>
            <a:chExt cx="1621049" cy="838494"/>
          </a:xfrm>
        </p:grpSpPr>
        <p:sp>
          <p:nvSpPr>
            <p:cNvPr name="Freeform 20" id="20"/>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21" id="21"/>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Freeform 22" id="22"/>
          <p:cNvSpPr/>
          <p:nvPr/>
        </p:nvSpPr>
        <p:spPr>
          <a:xfrm flipH="false" flipV="false" rot="0">
            <a:off x="15747428" y="8363453"/>
            <a:ext cx="3571193" cy="2194660"/>
          </a:xfrm>
          <a:custGeom>
            <a:avLst/>
            <a:gdLst/>
            <a:ahLst/>
            <a:cxnLst/>
            <a:rect r="r" b="b" t="t" l="l"/>
            <a:pathLst>
              <a:path h="2194660" w="3571193">
                <a:moveTo>
                  <a:pt x="0" y="0"/>
                </a:moveTo>
                <a:lnTo>
                  <a:pt x="3571193" y="0"/>
                </a:lnTo>
                <a:lnTo>
                  <a:pt x="3571193" y="2194660"/>
                </a:lnTo>
                <a:lnTo>
                  <a:pt x="0" y="21946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3102375" y="3340769"/>
            <a:ext cx="4951017" cy="536728"/>
          </a:xfrm>
          <a:prstGeom prst="rect">
            <a:avLst/>
          </a:prstGeom>
        </p:spPr>
        <p:txBody>
          <a:bodyPr anchor="t" rtlCol="false" tIns="0" lIns="0" bIns="0" rIns="0">
            <a:spAutoFit/>
          </a:bodyPr>
          <a:lstStyle/>
          <a:p>
            <a:pPr algn="l">
              <a:lnSpc>
                <a:spcPts val="4444"/>
              </a:lnSpc>
            </a:pPr>
            <a:r>
              <a:rPr lang="en-US" b="true" sz="3174">
                <a:solidFill>
                  <a:srgbClr val="000000"/>
                </a:solidFill>
                <a:latin typeface="TT Phobos Bold"/>
                <a:ea typeface="TT Phobos Bold"/>
                <a:cs typeface="TT Phobos Bold"/>
                <a:sym typeface="TT Phobos Bold"/>
              </a:rPr>
              <a:t>Helps reduce loss of life</a:t>
            </a:r>
          </a:p>
        </p:txBody>
      </p:sp>
      <p:sp>
        <p:nvSpPr>
          <p:cNvPr name="TextBox 24" id="24"/>
          <p:cNvSpPr txBox="true"/>
          <p:nvPr/>
        </p:nvSpPr>
        <p:spPr>
          <a:xfrm rot="0">
            <a:off x="2771878" y="4330007"/>
            <a:ext cx="5697883" cy="1569836"/>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Early alerts give people time to move to safety before the disaster strikes.</a:t>
            </a:r>
          </a:p>
        </p:txBody>
      </p:sp>
      <p:sp>
        <p:nvSpPr>
          <p:cNvPr name="TextBox 25" id="25"/>
          <p:cNvSpPr txBox="true"/>
          <p:nvPr/>
        </p:nvSpPr>
        <p:spPr>
          <a:xfrm rot="0">
            <a:off x="10380042" y="3340769"/>
            <a:ext cx="4951017" cy="538495"/>
          </a:xfrm>
          <a:prstGeom prst="rect">
            <a:avLst/>
          </a:prstGeom>
        </p:spPr>
        <p:txBody>
          <a:bodyPr anchor="t" rtlCol="false" tIns="0" lIns="0" bIns="0" rIns="0">
            <a:spAutoFit/>
          </a:bodyPr>
          <a:lstStyle/>
          <a:p>
            <a:pPr algn="l">
              <a:lnSpc>
                <a:spcPts val="4444"/>
              </a:lnSpc>
            </a:pPr>
            <a:r>
              <a:rPr lang="en-US" b="true" sz="3174">
                <a:solidFill>
                  <a:srgbClr val="000000"/>
                </a:solidFill>
                <a:latin typeface="TT Phobos Bold"/>
                <a:ea typeface="TT Phobos Bold"/>
                <a:cs typeface="TT Phobos Bold"/>
                <a:sym typeface="TT Phobos Bold"/>
              </a:rPr>
              <a:t>Allows early evacuation</a:t>
            </a:r>
          </a:p>
        </p:txBody>
      </p:sp>
      <p:sp>
        <p:nvSpPr>
          <p:cNvPr name="TextBox 26" id="26"/>
          <p:cNvSpPr txBox="true"/>
          <p:nvPr/>
        </p:nvSpPr>
        <p:spPr>
          <a:xfrm rot="0">
            <a:off x="10049545" y="4212638"/>
            <a:ext cx="5697883" cy="1581120"/>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Communities can evacuate dangerous areas in advance, avoiding panic and congestion.</a:t>
            </a:r>
          </a:p>
        </p:txBody>
      </p:sp>
      <p:sp>
        <p:nvSpPr>
          <p:cNvPr name="TextBox 27" id="27"/>
          <p:cNvSpPr txBox="true"/>
          <p:nvPr/>
        </p:nvSpPr>
        <p:spPr>
          <a:xfrm rot="0">
            <a:off x="3376090" y="6664975"/>
            <a:ext cx="4393464" cy="1481666"/>
          </a:xfrm>
          <a:prstGeom prst="rect">
            <a:avLst/>
          </a:prstGeom>
        </p:spPr>
        <p:txBody>
          <a:bodyPr anchor="t" rtlCol="false" tIns="0" lIns="0" bIns="0" rIns="0">
            <a:spAutoFit/>
          </a:bodyPr>
          <a:lstStyle/>
          <a:p>
            <a:pPr algn="ctr">
              <a:lnSpc>
                <a:spcPts val="3943"/>
              </a:lnSpc>
            </a:pPr>
            <a:r>
              <a:rPr lang="en-US" sz="2816" b="true">
                <a:solidFill>
                  <a:srgbClr val="000000"/>
                </a:solidFill>
                <a:latin typeface="TT Phobos Bold"/>
                <a:ea typeface="TT Phobos Bold"/>
                <a:cs typeface="TT Phobos Bold"/>
                <a:sym typeface="TT Phobos Bold"/>
              </a:rPr>
              <a:t>Gives authorities time to issue warnings</a:t>
            </a:r>
          </a:p>
          <a:p>
            <a:pPr algn="l">
              <a:lnSpc>
                <a:spcPts val="3943"/>
              </a:lnSpc>
            </a:pPr>
          </a:p>
        </p:txBody>
      </p:sp>
      <p:sp>
        <p:nvSpPr>
          <p:cNvPr name="TextBox 28" id="28"/>
          <p:cNvSpPr txBox="true"/>
          <p:nvPr/>
        </p:nvSpPr>
        <p:spPr>
          <a:xfrm rot="0">
            <a:off x="2723880" y="7889175"/>
            <a:ext cx="5697883" cy="1569836"/>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Officials can quickly inform the public and coordinate emergency responses.</a:t>
            </a:r>
          </a:p>
        </p:txBody>
      </p:sp>
      <p:sp>
        <p:nvSpPr>
          <p:cNvPr name="TextBox 29" id="29"/>
          <p:cNvSpPr txBox="true"/>
          <p:nvPr/>
        </p:nvSpPr>
        <p:spPr>
          <a:xfrm rot="0">
            <a:off x="10663075" y="6599947"/>
            <a:ext cx="4393464" cy="1471500"/>
          </a:xfrm>
          <a:prstGeom prst="rect">
            <a:avLst/>
          </a:prstGeom>
        </p:spPr>
        <p:txBody>
          <a:bodyPr anchor="t" rtlCol="false" tIns="0" lIns="0" bIns="0" rIns="0">
            <a:spAutoFit/>
          </a:bodyPr>
          <a:lstStyle/>
          <a:p>
            <a:pPr algn="ctr">
              <a:lnSpc>
                <a:spcPts val="3943"/>
              </a:lnSpc>
            </a:pPr>
            <a:r>
              <a:rPr lang="en-US" sz="2816" b="true">
                <a:solidFill>
                  <a:srgbClr val="000000"/>
                </a:solidFill>
                <a:latin typeface="TT Phobos Bold"/>
                <a:ea typeface="TT Phobos Bold"/>
                <a:cs typeface="TT Phobos Bold"/>
                <a:sym typeface="TT Phobos Bold"/>
              </a:rPr>
              <a:t>Improves disaster preparedness</a:t>
            </a:r>
          </a:p>
          <a:p>
            <a:pPr algn="ctr">
              <a:lnSpc>
                <a:spcPts val="3943"/>
              </a:lnSpc>
            </a:pPr>
          </a:p>
        </p:txBody>
      </p:sp>
      <p:sp>
        <p:nvSpPr>
          <p:cNvPr name="TextBox 30" id="30"/>
          <p:cNvSpPr txBox="true"/>
          <p:nvPr/>
        </p:nvSpPr>
        <p:spPr>
          <a:xfrm rot="0">
            <a:off x="10122198" y="7534684"/>
            <a:ext cx="5697883" cy="2099475"/>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People and organizations can plan, practice, and respond more effectively to emergencies.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4B2B9"/>
        </a:solidFill>
      </p:bgPr>
    </p:bg>
    <p:spTree>
      <p:nvGrpSpPr>
        <p:cNvPr id="1" name=""/>
        <p:cNvGrpSpPr/>
        <p:nvPr/>
      </p:nvGrpSpPr>
      <p:grpSpPr>
        <a:xfrm>
          <a:off x="0" y="0"/>
          <a:ext cx="0" cy="0"/>
          <a:chOff x="0" y="0"/>
          <a:chExt cx="0" cy="0"/>
        </a:xfrm>
      </p:grpSpPr>
      <p:grpSp>
        <p:nvGrpSpPr>
          <p:cNvPr name="Group 2" id="2"/>
          <p:cNvGrpSpPr/>
          <p:nvPr/>
        </p:nvGrpSpPr>
        <p:grpSpPr>
          <a:xfrm rot="0">
            <a:off x="104307" y="512708"/>
            <a:ext cx="17988135" cy="9774292"/>
            <a:chOff x="0" y="0"/>
            <a:chExt cx="4737616" cy="2574299"/>
          </a:xfrm>
        </p:grpSpPr>
        <p:sp>
          <p:nvSpPr>
            <p:cNvPr name="Freeform 3" id="3"/>
            <p:cNvSpPr/>
            <p:nvPr/>
          </p:nvSpPr>
          <p:spPr>
            <a:xfrm flipH="false" flipV="false" rot="0">
              <a:off x="0" y="0"/>
              <a:ext cx="4737616" cy="2574299"/>
            </a:xfrm>
            <a:custGeom>
              <a:avLst/>
              <a:gdLst/>
              <a:ahLst/>
              <a:cxnLst/>
              <a:rect r="r" b="b" t="t" l="l"/>
              <a:pathLst>
                <a:path h="2574299" w="4737616">
                  <a:moveTo>
                    <a:pt x="21950" y="0"/>
                  </a:moveTo>
                  <a:lnTo>
                    <a:pt x="4715666" y="0"/>
                  </a:lnTo>
                  <a:cubicBezTo>
                    <a:pt x="4727789" y="0"/>
                    <a:pt x="4737616" y="9827"/>
                    <a:pt x="4737616" y="21950"/>
                  </a:cubicBezTo>
                  <a:lnTo>
                    <a:pt x="4737616" y="2552349"/>
                  </a:lnTo>
                  <a:cubicBezTo>
                    <a:pt x="4737616" y="2564472"/>
                    <a:pt x="4727789" y="2574299"/>
                    <a:pt x="4715666" y="2574299"/>
                  </a:cubicBezTo>
                  <a:lnTo>
                    <a:pt x="21950" y="2574299"/>
                  </a:lnTo>
                  <a:cubicBezTo>
                    <a:pt x="9827" y="2574299"/>
                    <a:pt x="0" y="2564472"/>
                    <a:pt x="0" y="2552349"/>
                  </a:cubicBezTo>
                  <a:lnTo>
                    <a:pt x="0" y="21950"/>
                  </a:lnTo>
                  <a:cubicBezTo>
                    <a:pt x="0" y="9827"/>
                    <a:pt x="9827" y="0"/>
                    <a:pt x="21950" y="0"/>
                  </a:cubicBezTo>
                  <a:close/>
                </a:path>
              </a:pathLst>
            </a:custGeom>
            <a:solidFill>
              <a:srgbClr val="F3AE88"/>
            </a:solidFill>
            <a:ln w="28575" cap="rnd">
              <a:solidFill>
                <a:srgbClr val="000000"/>
              </a:solidFill>
              <a:prstDash val="solid"/>
              <a:round/>
            </a:ln>
          </p:spPr>
        </p:sp>
        <p:sp>
          <p:nvSpPr>
            <p:cNvPr name="TextBox 4" id="4"/>
            <p:cNvSpPr txBox="true"/>
            <p:nvPr/>
          </p:nvSpPr>
          <p:spPr>
            <a:xfrm>
              <a:off x="0" y="-38100"/>
              <a:ext cx="4737616" cy="26123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102375" y="768682"/>
            <a:ext cx="11655667" cy="2240704"/>
            <a:chOff x="0" y="0"/>
            <a:chExt cx="3069805" cy="590144"/>
          </a:xfrm>
        </p:grpSpPr>
        <p:sp>
          <p:nvSpPr>
            <p:cNvPr name="Freeform 6" id="6"/>
            <p:cNvSpPr/>
            <p:nvPr/>
          </p:nvSpPr>
          <p:spPr>
            <a:xfrm flipH="false" flipV="false" rot="0">
              <a:off x="0" y="0"/>
              <a:ext cx="3069805" cy="590144"/>
            </a:xfrm>
            <a:custGeom>
              <a:avLst/>
              <a:gdLst/>
              <a:ahLst/>
              <a:cxnLst/>
              <a:rect r="r" b="b" t="t" l="l"/>
              <a:pathLst>
                <a:path h="590144" w="3069805">
                  <a:moveTo>
                    <a:pt x="0" y="0"/>
                  </a:moveTo>
                  <a:lnTo>
                    <a:pt x="3069805" y="0"/>
                  </a:lnTo>
                  <a:lnTo>
                    <a:pt x="3069805" y="590144"/>
                  </a:lnTo>
                  <a:lnTo>
                    <a:pt x="0" y="590144"/>
                  </a:lnTo>
                  <a:close/>
                </a:path>
              </a:pathLst>
            </a:custGeom>
            <a:solidFill>
              <a:srgbClr val="E4B2B9"/>
            </a:solidFill>
            <a:ln w="28575" cap="sq">
              <a:solidFill>
                <a:srgbClr val="231F20"/>
              </a:solidFill>
              <a:prstDash val="solid"/>
              <a:miter/>
            </a:ln>
          </p:spPr>
        </p:sp>
        <p:sp>
          <p:nvSpPr>
            <p:cNvPr name="TextBox 7" id="7"/>
            <p:cNvSpPr txBox="true"/>
            <p:nvPr/>
          </p:nvSpPr>
          <p:spPr>
            <a:xfrm>
              <a:off x="0" y="-38100"/>
              <a:ext cx="3069805" cy="6282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543360" y="3190178"/>
            <a:ext cx="6154919" cy="3183659"/>
            <a:chOff x="0" y="0"/>
            <a:chExt cx="1621049" cy="838494"/>
          </a:xfrm>
        </p:grpSpPr>
        <p:sp>
          <p:nvSpPr>
            <p:cNvPr name="Freeform 9" id="9"/>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0" id="10"/>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438707" y="989475"/>
            <a:ext cx="11319336" cy="1660526"/>
          </a:xfrm>
          <a:prstGeom prst="rect">
            <a:avLst/>
          </a:prstGeom>
        </p:spPr>
        <p:txBody>
          <a:bodyPr anchor="t" rtlCol="false" tIns="0" lIns="0" bIns="0" rIns="0">
            <a:spAutoFit/>
          </a:bodyPr>
          <a:lstStyle/>
          <a:p>
            <a:pPr algn="ctr">
              <a:lnSpc>
                <a:spcPts val="5750"/>
              </a:lnSpc>
            </a:pPr>
            <a:r>
              <a:rPr lang="en-US" sz="5750">
                <a:solidFill>
                  <a:srgbClr val="000000"/>
                </a:solidFill>
                <a:latin typeface="Hertical Rough"/>
                <a:ea typeface="Hertical Rough"/>
                <a:cs typeface="Hertical Rough"/>
                <a:sym typeface="Hertical Rough"/>
              </a:rPr>
              <a:t>Sign 1: Increased Volcanic Earthquakes</a:t>
            </a:r>
          </a:p>
        </p:txBody>
      </p:sp>
      <p:grpSp>
        <p:nvGrpSpPr>
          <p:cNvPr name="Group 12" id="12"/>
          <p:cNvGrpSpPr/>
          <p:nvPr/>
        </p:nvGrpSpPr>
        <p:grpSpPr>
          <a:xfrm rot="0">
            <a:off x="9821027" y="3190178"/>
            <a:ext cx="6154919" cy="3183659"/>
            <a:chOff x="0" y="0"/>
            <a:chExt cx="1621049" cy="838494"/>
          </a:xfrm>
        </p:grpSpPr>
        <p:sp>
          <p:nvSpPr>
            <p:cNvPr name="Freeform 13" id="13"/>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4" id="14"/>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6066541" y="6669112"/>
            <a:ext cx="6154919" cy="3183659"/>
            <a:chOff x="0" y="0"/>
            <a:chExt cx="1621049" cy="838494"/>
          </a:xfrm>
        </p:grpSpPr>
        <p:sp>
          <p:nvSpPr>
            <p:cNvPr name="Freeform 16" id="16"/>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7" id="17"/>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413673" y="7672438"/>
            <a:ext cx="3651981" cy="3034465"/>
          </a:xfrm>
          <a:custGeom>
            <a:avLst/>
            <a:gdLst/>
            <a:ahLst/>
            <a:cxnLst/>
            <a:rect r="r" b="b" t="t" l="l"/>
            <a:pathLst>
              <a:path h="3034465" w="3651981">
                <a:moveTo>
                  <a:pt x="0" y="0"/>
                </a:moveTo>
                <a:lnTo>
                  <a:pt x="3651981" y="0"/>
                </a:lnTo>
                <a:lnTo>
                  <a:pt x="3651981" y="3034464"/>
                </a:lnTo>
                <a:lnTo>
                  <a:pt x="0" y="3034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5747428" y="8363453"/>
            <a:ext cx="3571193" cy="2194660"/>
          </a:xfrm>
          <a:custGeom>
            <a:avLst/>
            <a:gdLst/>
            <a:ahLst/>
            <a:cxnLst/>
            <a:rect r="r" b="b" t="t" l="l"/>
            <a:pathLst>
              <a:path h="2194660" w="3571193">
                <a:moveTo>
                  <a:pt x="0" y="0"/>
                </a:moveTo>
                <a:lnTo>
                  <a:pt x="3571193" y="0"/>
                </a:lnTo>
                <a:lnTo>
                  <a:pt x="3571193" y="2194660"/>
                </a:lnTo>
                <a:lnTo>
                  <a:pt x="0" y="21946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2612513" y="3251703"/>
            <a:ext cx="6041625" cy="1662445"/>
          </a:xfrm>
          <a:prstGeom prst="rect">
            <a:avLst/>
          </a:prstGeom>
        </p:spPr>
        <p:txBody>
          <a:bodyPr anchor="t" rtlCol="false" tIns="0" lIns="0" bIns="0" rIns="0">
            <a:spAutoFit/>
          </a:bodyPr>
          <a:lstStyle/>
          <a:p>
            <a:pPr algn="ctr">
              <a:lnSpc>
                <a:spcPts val="4444"/>
              </a:lnSpc>
            </a:pPr>
            <a:r>
              <a:rPr lang="en-US" sz="3174" b="true">
                <a:solidFill>
                  <a:srgbClr val="000000"/>
                </a:solidFill>
                <a:latin typeface="TT Phobos Bold"/>
                <a:ea typeface="TT Phobos Bold"/>
                <a:cs typeface="TT Phobos Bold"/>
                <a:sym typeface="TT Phobos Bold"/>
              </a:rPr>
              <a:t>Frequent small earthquakes near the volcano</a:t>
            </a:r>
          </a:p>
          <a:p>
            <a:pPr algn="ctr">
              <a:lnSpc>
                <a:spcPts val="4444"/>
              </a:lnSpc>
            </a:pPr>
          </a:p>
        </p:txBody>
      </p:sp>
      <p:sp>
        <p:nvSpPr>
          <p:cNvPr name="TextBox 21" id="21"/>
          <p:cNvSpPr txBox="true"/>
          <p:nvPr/>
        </p:nvSpPr>
        <p:spPr>
          <a:xfrm rot="0">
            <a:off x="2771878" y="4675427"/>
            <a:ext cx="5697883" cy="1040197"/>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These occur as rocks crack and shift beneath the volcano.</a:t>
            </a:r>
          </a:p>
        </p:txBody>
      </p:sp>
      <p:sp>
        <p:nvSpPr>
          <p:cNvPr name="TextBox 22" id="22"/>
          <p:cNvSpPr txBox="true"/>
          <p:nvPr/>
        </p:nvSpPr>
        <p:spPr>
          <a:xfrm rot="0">
            <a:off x="10134271" y="3199828"/>
            <a:ext cx="5752610" cy="1662445"/>
          </a:xfrm>
          <a:prstGeom prst="rect">
            <a:avLst/>
          </a:prstGeom>
        </p:spPr>
        <p:txBody>
          <a:bodyPr anchor="t" rtlCol="false" tIns="0" lIns="0" bIns="0" rIns="0">
            <a:spAutoFit/>
          </a:bodyPr>
          <a:lstStyle/>
          <a:p>
            <a:pPr algn="ctr">
              <a:lnSpc>
                <a:spcPts val="4444"/>
              </a:lnSpc>
            </a:pPr>
            <a:r>
              <a:rPr lang="en-US" sz="3174" b="true">
                <a:solidFill>
                  <a:srgbClr val="000000"/>
                </a:solidFill>
                <a:latin typeface="TT Phobos Bold"/>
                <a:ea typeface="TT Phobos Bold"/>
                <a:cs typeface="TT Phobos Bold"/>
                <a:sym typeface="TT Phobos Bold"/>
              </a:rPr>
              <a:t>Caused by magma moving underground</a:t>
            </a:r>
          </a:p>
          <a:p>
            <a:pPr algn="l">
              <a:lnSpc>
                <a:spcPts val="4444"/>
              </a:lnSpc>
            </a:pPr>
          </a:p>
        </p:txBody>
      </p:sp>
      <p:sp>
        <p:nvSpPr>
          <p:cNvPr name="TextBox 23" id="23"/>
          <p:cNvSpPr txBox="true"/>
          <p:nvPr/>
        </p:nvSpPr>
        <p:spPr>
          <a:xfrm rot="0">
            <a:off x="10005012" y="4479836"/>
            <a:ext cx="5697883" cy="1581120"/>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Rising magma forces its way through the Earth’s crust, creating vibrations.</a:t>
            </a:r>
          </a:p>
        </p:txBody>
      </p:sp>
      <p:sp>
        <p:nvSpPr>
          <p:cNvPr name="TextBox 24" id="24"/>
          <p:cNvSpPr txBox="true"/>
          <p:nvPr/>
        </p:nvSpPr>
        <p:spPr>
          <a:xfrm rot="0">
            <a:off x="6209010" y="6699734"/>
            <a:ext cx="5943319" cy="1389601"/>
          </a:xfrm>
          <a:prstGeom prst="rect">
            <a:avLst/>
          </a:prstGeom>
        </p:spPr>
        <p:txBody>
          <a:bodyPr anchor="t" rtlCol="false" tIns="0" lIns="0" bIns="0" rIns="0">
            <a:spAutoFit/>
          </a:bodyPr>
          <a:lstStyle/>
          <a:p>
            <a:pPr algn="ctr">
              <a:lnSpc>
                <a:spcPts val="3741"/>
              </a:lnSpc>
            </a:pPr>
            <a:r>
              <a:rPr lang="en-US" sz="2672" b="true">
                <a:solidFill>
                  <a:srgbClr val="000000"/>
                </a:solidFill>
                <a:latin typeface="TT Phobos Bold"/>
                <a:ea typeface="TT Phobos Bold"/>
                <a:cs typeface="TT Phobos Bold"/>
                <a:sym typeface="TT Phobos Bold"/>
              </a:rPr>
              <a:t>Earthquake activity increases as eruption nears</a:t>
            </a:r>
          </a:p>
          <a:p>
            <a:pPr algn="ctr">
              <a:lnSpc>
                <a:spcPts val="3741"/>
              </a:lnSpc>
            </a:pPr>
          </a:p>
        </p:txBody>
      </p:sp>
      <p:sp>
        <p:nvSpPr>
          <p:cNvPr name="TextBox 25" id="25"/>
          <p:cNvSpPr txBox="true"/>
          <p:nvPr/>
        </p:nvSpPr>
        <p:spPr>
          <a:xfrm rot="0">
            <a:off x="6698872" y="7787339"/>
            <a:ext cx="5263313" cy="1915642"/>
          </a:xfrm>
          <a:prstGeom prst="rect">
            <a:avLst/>
          </a:prstGeom>
        </p:spPr>
        <p:txBody>
          <a:bodyPr anchor="t" rtlCol="false" tIns="0" lIns="0" bIns="0" rIns="0">
            <a:spAutoFit/>
          </a:bodyPr>
          <a:lstStyle/>
          <a:p>
            <a:pPr algn="ctr">
              <a:lnSpc>
                <a:spcPts val="3823"/>
              </a:lnSpc>
            </a:pPr>
            <a:r>
              <a:rPr lang="en-US" sz="2731">
                <a:solidFill>
                  <a:srgbClr val="000000"/>
                </a:solidFill>
                <a:latin typeface="TT Phobos"/>
                <a:ea typeface="TT Phobos"/>
                <a:cs typeface="TT Phobos"/>
                <a:sym typeface="TT Phobos"/>
              </a:rPr>
              <a:t>As pressure builds and magma moves closer to the surface, earthquakes become more frequent and stronger.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4B2B9"/>
        </a:solidFill>
      </p:bgPr>
    </p:bg>
    <p:spTree>
      <p:nvGrpSpPr>
        <p:cNvPr id="1" name=""/>
        <p:cNvGrpSpPr/>
        <p:nvPr/>
      </p:nvGrpSpPr>
      <p:grpSpPr>
        <a:xfrm>
          <a:off x="0" y="0"/>
          <a:ext cx="0" cy="0"/>
          <a:chOff x="0" y="0"/>
          <a:chExt cx="0" cy="0"/>
        </a:xfrm>
      </p:grpSpPr>
      <p:grpSp>
        <p:nvGrpSpPr>
          <p:cNvPr name="Group 2" id="2"/>
          <p:cNvGrpSpPr/>
          <p:nvPr/>
        </p:nvGrpSpPr>
        <p:grpSpPr>
          <a:xfrm rot="0">
            <a:off x="104307" y="512708"/>
            <a:ext cx="17988135" cy="9774292"/>
            <a:chOff x="0" y="0"/>
            <a:chExt cx="4737616" cy="2574299"/>
          </a:xfrm>
        </p:grpSpPr>
        <p:sp>
          <p:nvSpPr>
            <p:cNvPr name="Freeform 3" id="3"/>
            <p:cNvSpPr/>
            <p:nvPr/>
          </p:nvSpPr>
          <p:spPr>
            <a:xfrm flipH="false" flipV="false" rot="0">
              <a:off x="0" y="0"/>
              <a:ext cx="4737616" cy="2574299"/>
            </a:xfrm>
            <a:custGeom>
              <a:avLst/>
              <a:gdLst/>
              <a:ahLst/>
              <a:cxnLst/>
              <a:rect r="r" b="b" t="t" l="l"/>
              <a:pathLst>
                <a:path h="2574299" w="4737616">
                  <a:moveTo>
                    <a:pt x="21950" y="0"/>
                  </a:moveTo>
                  <a:lnTo>
                    <a:pt x="4715666" y="0"/>
                  </a:lnTo>
                  <a:cubicBezTo>
                    <a:pt x="4727789" y="0"/>
                    <a:pt x="4737616" y="9827"/>
                    <a:pt x="4737616" y="21950"/>
                  </a:cubicBezTo>
                  <a:lnTo>
                    <a:pt x="4737616" y="2552349"/>
                  </a:lnTo>
                  <a:cubicBezTo>
                    <a:pt x="4737616" y="2564472"/>
                    <a:pt x="4727789" y="2574299"/>
                    <a:pt x="4715666" y="2574299"/>
                  </a:cubicBezTo>
                  <a:lnTo>
                    <a:pt x="21950" y="2574299"/>
                  </a:lnTo>
                  <a:cubicBezTo>
                    <a:pt x="9827" y="2574299"/>
                    <a:pt x="0" y="2564472"/>
                    <a:pt x="0" y="2552349"/>
                  </a:cubicBezTo>
                  <a:lnTo>
                    <a:pt x="0" y="21950"/>
                  </a:lnTo>
                  <a:cubicBezTo>
                    <a:pt x="0" y="9827"/>
                    <a:pt x="9827" y="0"/>
                    <a:pt x="21950" y="0"/>
                  </a:cubicBezTo>
                  <a:close/>
                </a:path>
              </a:pathLst>
            </a:custGeom>
            <a:solidFill>
              <a:srgbClr val="5FB6BE"/>
            </a:solidFill>
            <a:ln w="28575" cap="rnd">
              <a:solidFill>
                <a:srgbClr val="000000"/>
              </a:solidFill>
              <a:prstDash val="solid"/>
              <a:round/>
            </a:ln>
          </p:spPr>
        </p:sp>
        <p:sp>
          <p:nvSpPr>
            <p:cNvPr name="TextBox 4" id="4"/>
            <p:cNvSpPr txBox="true"/>
            <p:nvPr/>
          </p:nvSpPr>
          <p:spPr>
            <a:xfrm>
              <a:off x="0" y="-38100"/>
              <a:ext cx="4737616" cy="26123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102375" y="768682"/>
            <a:ext cx="11655667" cy="2240704"/>
            <a:chOff x="0" y="0"/>
            <a:chExt cx="3069805" cy="590144"/>
          </a:xfrm>
        </p:grpSpPr>
        <p:sp>
          <p:nvSpPr>
            <p:cNvPr name="Freeform 6" id="6"/>
            <p:cNvSpPr/>
            <p:nvPr/>
          </p:nvSpPr>
          <p:spPr>
            <a:xfrm flipH="false" flipV="false" rot="0">
              <a:off x="0" y="0"/>
              <a:ext cx="3069805" cy="590144"/>
            </a:xfrm>
            <a:custGeom>
              <a:avLst/>
              <a:gdLst/>
              <a:ahLst/>
              <a:cxnLst/>
              <a:rect r="r" b="b" t="t" l="l"/>
              <a:pathLst>
                <a:path h="590144" w="3069805">
                  <a:moveTo>
                    <a:pt x="0" y="0"/>
                  </a:moveTo>
                  <a:lnTo>
                    <a:pt x="3069805" y="0"/>
                  </a:lnTo>
                  <a:lnTo>
                    <a:pt x="3069805" y="590144"/>
                  </a:lnTo>
                  <a:lnTo>
                    <a:pt x="0" y="590144"/>
                  </a:lnTo>
                  <a:close/>
                </a:path>
              </a:pathLst>
            </a:custGeom>
            <a:solidFill>
              <a:srgbClr val="E4B2B9"/>
            </a:solidFill>
            <a:ln w="28575" cap="sq">
              <a:solidFill>
                <a:srgbClr val="231F20"/>
              </a:solidFill>
              <a:prstDash val="solid"/>
              <a:miter/>
            </a:ln>
          </p:spPr>
        </p:sp>
        <p:sp>
          <p:nvSpPr>
            <p:cNvPr name="TextBox 7" id="7"/>
            <p:cNvSpPr txBox="true"/>
            <p:nvPr/>
          </p:nvSpPr>
          <p:spPr>
            <a:xfrm>
              <a:off x="0" y="-38100"/>
              <a:ext cx="3069805" cy="6282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543360" y="3190178"/>
            <a:ext cx="6154919" cy="3183659"/>
            <a:chOff x="0" y="0"/>
            <a:chExt cx="1621049" cy="838494"/>
          </a:xfrm>
        </p:grpSpPr>
        <p:sp>
          <p:nvSpPr>
            <p:cNvPr name="Freeform 9" id="9"/>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0" id="10"/>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581794" y="962025"/>
            <a:ext cx="11319336" cy="1660526"/>
          </a:xfrm>
          <a:prstGeom prst="rect">
            <a:avLst/>
          </a:prstGeom>
        </p:spPr>
        <p:txBody>
          <a:bodyPr anchor="t" rtlCol="false" tIns="0" lIns="0" bIns="0" rIns="0">
            <a:spAutoFit/>
          </a:bodyPr>
          <a:lstStyle/>
          <a:p>
            <a:pPr algn="ctr">
              <a:lnSpc>
                <a:spcPts val="5750"/>
              </a:lnSpc>
            </a:pPr>
            <a:r>
              <a:rPr lang="en-US" sz="5750">
                <a:solidFill>
                  <a:srgbClr val="000000"/>
                </a:solidFill>
                <a:latin typeface="Hertical Rough"/>
                <a:ea typeface="Hertical Rough"/>
                <a:cs typeface="Hertical Rough"/>
                <a:sym typeface="Hertical Rough"/>
              </a:rPr>
              <a:t>Sign 2: Ground Deformation</a:t>
            </a:r>
          </a:p>
        </p:txBody>
      </p:sp>
      <p:grpSp>
        <p:nvGrpSpPr>
          <p:cNvPr name="Group 12" id="12"/>
          <p:cNvGrpSpPr/>
          <p:nvPr/>
        </p:nvGrpSpPr>
        <p:grpSpPr>
          <a:xfrm rot="0">
            <a:off x="9821027" y="3190178"/>
            <a:ext cx="6154919" cy="3183659"/>
            <a:chOff x="0" y="0"/>
            <a:chExt cx="1621049" cy="838494"/>
          </a:xfrm>
        </p:grpSpPr>
        <p:sp>
          <p:nvSpPr>
            <p:cNvPr name="Freeform 13" id="13"/>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4" id="14"/>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6066541" y="6669112"/>
            <a:ext cx="6154919" cy="3183659"/>
            <a:chOff x="0" y="0"/>
            <a:chExt cx="1621049" cy="838494"/>
          </a:xfrm>
        </p:grpSpPr>
        <p:sp>
          <p:nvSpPr>
            <p:cNvPr name="Freeform 16" id="16"/>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7" id="17"/>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413673" y="7672438"/>
            <a:ext cx="3651981" cy="3034465"/>
          </a:xfrm>
          <a:custGeom>
            <a:avLst/>
            <a:gdLst/>
            <a:ahLst/>
            <a:cxnLst/>
            <a:rect r="r" b="b" t="t" l="l"/>
            <a:pathLst>
              <a:path h="3034465" w="3651981">
                <a:moveTo>
                  <a:pt x="0" y="0"/>
                </a:moveTo>
                <a:lnTo>
                  <a:pt x="3651981" y="0"/>
                </a:lnTo>
                <a:lnTo>
                  <a:pt x="3651981" y="3034464"/>
                </a:lnTo>
                <a:lnTo>
                  <a:pt x="0" y="3034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5747428" y="8363453"/>
            <a:ext cx="3571193" cy="2194660"/>
          </a:xfrm>
          <a:custGeom>
            <a:avLst/>
            <a:gdLst/>
            <a:ahLst/>
            <a:cxnLst/>
            <a:rect r="r" b="b" t="t" l="l"/>
            <a:pathLst>
              <a:path h="2194660" w="3571193">
                <a:moveTo>
                  <a:pt x="0" y="0"/>
                </a:moveTo>
                <a:lnTo>
                  <a:pt x="3571193" y="0"/>
                </a:lnTo>
                <a:lnTo>
                  <a:pt x="3571193" y="2194660"/>
                </a:lnTo>
                <a:lnTo>
                  <a:pt x="0" y="21946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2612513" y="3251703"/>
            <a:ext cx="6041625" cy="1662445"/>
          </a:xfrm>
          <a:prstGeom prst="rect">
            <a:avLst/>
          </a:prstGeom>
        </p:spPr>
        <p:txBody>
          <a:bodyPr anchor="t" rtlCol="false" tIns="0" lIns="0" bIns="0" rIns="0">
            <a:spAutoFit/>
          </a:bodyPr>
          <a:lstStyle/>
          <a:p>
            <a:pPr algn="ctr">
              <a:lnSpc>
                <a:spcPts val="4444"/>
              </a:lnSpc>
            </a:pPr>
            <a:r>
              <a:rPr lang="en-US" sz="3174" b="true">
                <a:solidFill>
                  <a:srgbClr val="000000"/>
                </a:solidFill>
                <a:latin typeface="TT Phobos Bold"/>
                <a:ea typeface="TT Phobos Bold"/>
                <a:cs typeface="TT Phobos Bold"/>
                <a:sym typeface="TT Phobos Bold"/>
              </a:rPr>
              <a:t>•Swelling or bulging of the volcano’s surface</a:t>
            </a:r>
          </a:p>
          <a:p>
            <a:pPr algn="ctr">
              <a:lnSpc>
                <a:spcPts val="4444"/>
              </a:lnSpc>
            </a:pPr>
          </a:p>
        </p:txBody>
      </p:sp>
      <p:sp>
        <p:nvSpPr>
          <p:cNvPr name="TextBox 21" id="21"/>
          <p:cNvSpPr txBox="true"/>
          <p:nvPr/>
        </p:nvSpPr>
        <p:spPr>
          <a:xfrm rot="0">
            <a:off x="2771878" y="4675427"/>
            <a:ext cx="5697883" cy="1569836"/>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The ground expands as magma accumulates beneath the volcano.</a:t>
            </a:r>
          </a:p>
        </p:txBody>
      </p:sp>
      <p:sp>
        <p:nvSpPr>
          <p:cNvPr name="TextBox 22" id="22"/>
          <p:cNvSpPr txBox="true"/>
          <p:nvPr/>
        </p:nvSpPr>
        <p:spPr>
          <a:xfrm rot="0">
            <a:off x="10134271" y="3199828"/>
            <a:ext cx="5752610" cy="1662445"/>
          </a:xfrm>
          <a:prstGeom prst="rect">
            <a:avLst/>
          </a:prstGeom>
        </p:spPr>
        <p:txBody>
          <a:bodyPr anchor="t" rtlCol="false" tIns="0" lIns="0" bIns="0" rIns="0">
            <a:spAutoFit/>
          </a:bodyPr>
          <a:lstStyle/>
          <a:p>
            <a:pPr algn="ctr">
              <a:lnSpc>
                <a:spcPts val="4444"/>
              </a:lnSpc>
            </a:pPr>
            <a:r>
              <a:rPr lang="en-US" sz="3174" b="true">
                <a:solidFill>
                  <a:srgbClr val="000000"/>
                </a:solidFill>
                <a:latin typeface="TT Phobos Bold"/>
                <a:ea typeface="TT Phobos Bold"/>
                <a:cs typeface="TT Phobos Bold"/>
                <a:sym typeface="TT Phobos Bold"/>
              </a:rPr>
              <a:t>•Cracks may appear on the ground</a:t>
            </a:r>
          </a:p>
          <a:p>
            <a:pPr algn="ctr">
              <a:lnSpc>
                <a:spcPts val="4444"/>
              </a:lnSpc>
            </a:pPr>
          </a:p>
        </p:txBody>
      </p:sp>
      <p:sp>
        <p:nvSpPr>
          <p:cNvPr name="TextBox 23" id="23"/>
          <p:cNvSpPr txBox="true"/>
          <p:nvPr/>
        </p:nvSpPr>
        <p:spPr>
          <a:xfrm rot="0">
            <a:off x="10005012" y="4479836"/>
            <a:ext cx="5697883" cy="1581120"/>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Pressure from rising magma causes the surface rocks to split.</a:t>
            </a:r>
          </a:p>
        </p:txBody>
      </p:sp>
      <p:sp>
        <p:nvSpPr>
          <p:cNvPr name="TextBox 24" id="24"/>
          <p:cNvSpPr txBox="true"/>
          <p:nvPr/>
        </p:nvSpPr>
        <p:spPr>
          <a:xfrm rot="0">
            <a:off x="6209010" y="6699734"/>
            <a:ext cx="5943319" cy="1389601"/>
          </a:xfrm>
          <a:prstGeom prst="rect">
            <a:avLst/>
          </a:prstGeom>
        </p:spPr>
        <p:txBody>
          <a:bodyPr anchor="t" rtlCol="false" tIns="0" lIns="0" bIns="0" rIns="0">
            <a:spAutoFit/>
          </a:bodyPr>
          <a:lstStyle/>
          <a:p>
            <a:pPr algn="ctr">
              <a:lnSpc>
                <a:spcPts val="3741"/>
              </a:lnSpc>
            </a:pPr>
            <a:r>
              <a:rPr lang="en-US" sz="2672" b="true">
                <a:solidFill>
                  <a:srgbClr val="000000"/>
                </a:solidFill>
                <a:latin typeface="TT Phobos Bold"/>
                <a:ea typeface="TT Phobos Bold"/>
                <a:cs typeface="TT Phobos Bold"/>
                <a:sym typeface="TT Phobos Bold"/>
              </a:rPr>
              <a:t>•Indicates magma rising below the surface</a:t>
            </a:r>
          </a:p>
          <a:p>
            <a:pPr algn="ctr">
              <a:lnSpc>
                <a:spcPts val="3741"/>
              </a:lnSpc>
            </a:pPr>
          </a:p>
        </p:txBody>
      </p:sp>
      <p:sp>
        <p:nvSpPr>
          <p:cNvPr name="TextBox 25" id="25"/>
          <p:cNvSpPr txBox="true"/>
          <p:nvPr/>
        </p:nvSpPr>
        <p:spPr>
          <a:xfrm rot="0">
            <a:off x="6609806" y="7720539"/>
            <a:ext cx="5263313" cy="2879573"/>
          </a:xfrm>
          <a:prstGeom prst="rect">
            <a:avLst/>
          </a:prstGeom>
        </p:spPr>
        <p:txBody>
          <a:bodyPr anchor="t" rtlCol="false" tIns="0" lIns="0" bIns="0" rIns="0">
            <a:spAutoFit/>
          </a:bodyPr>
          <a:lstStyle/>
          <a:p>
            <a:pPr algn="ctr">
              <a:lnSpc>
                <a:spcPts val="3823"/>
              </a:lnSpc>
            </a:pPr>
            <a:r>
              <a:rPr lang="en-US" sz="2731">
                <a:solidFill>
                  <a:srgbClr val="000000"/>
                </a:solidFill>
                <a:latin typeface="TT Phobos"/>
                <a:ea typeface="TT Phobos"/>
                <a:cs typeface="TT Phobos"/>
                <a:sym typeface="TT Phobos"/>
              </a:rPr>
              <a:t>These changes show that molten rock is moving upward toward an eruption.</a:t>
            </a:r>
          </a:p>
          <a:p>
            <a:pPr algn="ctr">
              <a:lnSpc>
                <a:spcPts val="3823"/>
              </a:lnSpc>
            </a:pPr>
          </a:p>
          <a:p>
            <a:pPr algn="ctr">
              <a:lnSpc>
                <a:spcPts val="3823"/>
              </a:lnSpc>
            </a:pPr>
          </a:p>
          <a:p>
            <a:pPr algn="ctr">
              <a:lnSpc>
                <a:spcPts val="3823"/>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4B2B9"/>
        </a:solidFill>
      </p:bgPr>
    </p:bg>
    <p:spTree>
      <p:nvGrpSpPr>
        <p:cNvPr id="1" name=""/>
        <p:cNvGrpSpPr/>
        <p:nvPr/>
      </p:nvGrpSpPr>
      <p:grpSpPr>
        <a:xfrm>
          <a:off x="0" y="0"/>
          <a:ext cx="0" cy="0"/>
          <a:chOff x="0" y="0"/>
          <a:chExt cx="0" cy="0"/>
        </a:xfrm>
      </p:grpSpPr>
      <p:grpSp>
        <p:nvGrpSpPr>
          <p:cNvPr name="Group 2" id="2"/>
          <p:cNvGrpSpPr/>
          <p:nvPr/>
        </p:nvGrpSpPr>
        <p:grpSpPr>
          <a:xfrm rot="0">
            <a:off x="104307" y="512708"/>
            <a:ext cx="17988135" cy="9774292"/>
            <a:chOff x="0" y="0"/>
            <a:chExt cx="4737616" cy="2574299"/>
          </a:xfrm>
        </p:grpSpPr>
        <p:sp>
          <p:nvSpPr>
            <p:cNvPr name="Freeform 3" id="3"/>
            <p:cNvSpPr/>
            <p:nvPr/>
          </p:nvSpPr>
          <p:spPr>
            <a:xfrm flipH="false" flipV="false" rot="0">
              <a:off x="0" y="0"/>
              <a:ext cx="4737616" cy="2574299"/>
            </a:xfrm>
            <a:custGeom>
              <a:avLst/>
              <a:gdLst/>
              <a:ahLst/>
              <a:cxnLst/>
              <a:rect r="r" b="b" t="t" l="l"/>
              <a:pathLst>
                <a:path h="2574299" w="4737616">
                  <a:moveTo>
                    <a:pt x="21950" y="0"/>
                  </a:moveTo>
                  <a:lnTo>
                    <a:pt x="4715666" y="0"/>
                  </a:lnTo>
                  <a:cubicBezTo>
                    <a:pt x="4727789" y="0"/>
                    <a:pt x="4737616" y="9827"/>
                    <a:pt x="4737616" y="21950"/>
                  </a:cubicBezTo>
                  <a:lnTo>
                    <a:pt x="4737616" y="2552349"/>
                  </a:lnTo>
                  <a:cubicBezTo>
                    <a:pt x="4737616" y="2564472"/>
                    <a:pt x="4727789" y="2574299"/>
                    <a:pt x="4715666" y="2574299"/>
                  </a:cubicBezTo>
                  <a:lnTo>
                    <a:pt x="21950" y="2574299"/>
                  </a:lnTo>
                  <a:cubicBezTo>
                    <a:pt x="9827" y="2574299"/>
                    <a:pt x="0" y="2564472"/>
                    <a:pt x="0" y="2552349"/>
                  </a:cubicBezTo>
                  <a:lnTo>
                    <a:pt x="0" y="21950"/>
                  </a:lnTo>
                  <a:cubicBezTo>
                    <a:pt x="0" y="9827"/>
                    <a:pt x="9827" y="0"/>
                    <a:pt x="21950" y="0"/>
                  </a:cubicBezTo>
                  <a:close/>
                </a:path>
              </a:pathLst>
            </a:custGeom>
            <a:solidFill>
              <a:srgbClr val="D14256"/>
            </a:solidFill>
            <a:ln w="28575" cap="rnd">
              <a:solidFill>
                <a:srgbClr val="000000"/>
              </a:solidFill>
              <a:prstDash val="solid"/>
              <a:round/>
            </a:ln>
          </p:spPr>
        </p:sp>
        <p:sp>
          <p:nvSpPr>
            <p:cNvPr name="TextBox 4" id="4"/>
            <p:cNvSpPr txBox="true"/>
            <p:nvPr/>
          </p:nvSpPr>
          <p:spPr>
            <a:xfrm>
              <a:off x="0" y="-38100"/>
              <a:ext cx="4737616" cy="26123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102375" y="768682"/>
            <a:ext cx="11655667" cy="2240704"/>
            <a:chOff x="0" y="0"/>
            <a:chExt cx="3069805" cy="590144"/>
          </a:xfrm>
        </p:grpSpPr>
        <p:sp>
          <p:nvSpPr>
            <p:cNvPr name="Freeform 6" id="6"/>
            <p:cNvSpPr/>
            <p:nvPr/>
          </p:nvSpPr>
          <p:spPr>
            <a:xfrm flipH="false" flipV="false" rot="0">
              <a:off x="0" y="0"/>
              <a:ext cx="3069805" cy="590144"/>
            </a:xfrm>
            <a:custGeom>
              <a:avLst/>
              <a:gdLst/>
              <a:ahLst/>
              <a:cxnLst/>
              <a:rect r="r" b="b" t="t" l="l"/>
              <a:pathLst>
                <a:path h="590144" w="3069805">
                  <a:moveTo>
                    <a:pt x="0" y="0"/>
                  </a:moveTo>
                  <a:lnTo>
                    <a:pt x="3069805" y="0"/>
                  </a:lnTo>
                  <a:lnTo>
                    <a:pt x="3069805" y="590144"/>
                  </a:lnTo>
                  <a:lnTo>
                    <a:pt x="0" y="590144"/>
                  </a:lnTo>
                  <a:close/>
                </a:path>
              </a:pathLst>
            </a:custGeom>
            <a:solidFill>
              <a:srgbClr val="E4B2B9"/>
            </a:solidFill>
            <a:ln w="28575" cap="sq">
              <a:solidFill>
                <a:srgbClr val="231F20"/>
              </a:solidFill>
              <a:prstDash val="solid"/>
              <a:miter/>
            </a:ln>
          </p:spPr>
        </p:sp>
        <p:sp>
          <p:nvSpPr>
            <p:cNvPr name="TextBox 7" id="7"/>
            <p:cNvSpPr txBox="true"/>
            <p:nvPr/>
          </p:nvSpPr>
          <p:spPr>
            <a:xfrm>
              <a:off x="0" y="-38100"/>
              <a:ext cx="3069805" cy="6282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543360" y="3190178"/>
            <a:ext cx="6154919" cy="3183659"/>
            <a:chOff x="0" y="0"/>
            <a:chExt cx="1621049" cy="838494"/>
          </a:xfrm>
        </p:grpSpPr>
        <p:sp>
          <p:nvSpPr>
            <p:cNvPr name="Freeform 9" id="9"/>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0" id="10"/>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581794" y="962025"/>
            <a:ext cx="11319336" cy="1660526"/>
          </a:xfrm>
          <a:prstGeom prst="rect">
            <a:avLst/>
          </a:prstGeom>
        </p:spPr>
        <p:txBody>
          <a:bodyPr anchor="t" rtlCol="false" tIns="0" lIns="0" bIns="0" rIns="0">
            <a:spAutoFit/>
          </a:bodyPr>
          <a:lstStyle/>
          <a:p>
            <a:pPr algn="ctr">
              <a:lnSpc>
                <a:spcPts val="5750"/>
              </a:lnSpc>
            </a:pPr>
            <a:r>
              <a:rPr lang="en-US" sz="5750">
                <a:solidFill>
                  <a:srgbClr val="000000"/>
                </a:solidFill>
                <a:latin typeface="Hertical Rough"/>
                <a:ea typeface="Hertical Rough"/>
                <a:cs typeface="Hertical Rough"/>
                <a:sym typeface="Hertical Rough"/>
              </a:rPr>
              <a:t>Sign 3: Increased Gas Emissions</a:t>
            </a:r>
          </a:p>
        </p:txBody>
      </p:sp>
      <p:grpSp>
        <p:nvGrpSpPr>
          <p:cNvPr name="Group 12" id="12"/>
          <p:cNvGrpSpPr/>
          <p:nvPr/>
        </p:nvGrpSpPr>
        <p:grpSpPr>
          <a:xfrm rot="0">
            <a:off x="9821027" y="3190178"/>
            <a:ext cx="6154919" cy="3183659"/>
            <a:chOff x="0" y="0"/>
            <a:chExt cx="1621049" cy="838494"/>
          </a:xfrm>
        </p:grpSpPr>
        <p:sp>
          <p:nvSpPr>
            <p:cNvPr name="Freeform 13" id="13"/>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4" id="14"/>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6066541" y="6669112"/>
            <a:ext cx="6154919" cy="3183659"/>
            <a:chOff x="0" y="0"/>
            <a:chExt cx="1621049" cy="838494"/>
          </a:xfrm>
        </p:grpSpPr>
        <p:sp>
          <p:nvSpPr>
            <p:cNvPr name="Freeform 16" id="16"/>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7" id="17"/>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413673" y="7672438"/>
            <a:ext cx="3651981" cy="3034465"/>
          </a:xfrm>
          <a:custGeom>
            <a:avLst/>
            <a:gdLst/>
            <a:ahLst/>
            <a:cxnLst/>
            <a:rect r="r" b="b" t="t" l="l"/>
            <a:pathLst>
              <a:path h="3034465" w="3651981">
                <a:moveTo>
                  <a:pt x="0" y="0"/>
                </a:moveTo>
                <a:lnTo>
                  <a:pt x="3651981" y="0"/>
                </a:lnTo>
                <a:lnTo>
                  <a:pt x="3651981" y="3034464"/>
                </a:lnTo>
                <a:lnTo>
                  <a:pt x="0" y="3034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5747428" y="8363453"/>
            <a:ext cx="3571193" cy="2194660"/>
          </a:xfrm>
          <a:custGeom>
            <a:avLst/>
            <a:gdLst/>
            <a:ahLst/>
            <a:cxnLst/>
            <a:rect r="r" b="b" t="t" l="l"/>
            <a:pathLst>
              <a:path h="2194660" w="3571193">
                <a:moveTo>
                  <a:pt x="0" y="0"/>
                </a:moveTo>
                <a:lnTo>
                  <a:pt x="3571193" y="0"/>
                </a:lnTo>
                <a:lnTo>
                  <a:pt x="3571193" y="2194660"/>
                </a:lnTo>
                <a:lnTo>
                  <a:pt x="0" y="21946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2612513" y="3251703"/>
            <a:ext cx="6041625" cy="1662445"/>
          </a:xfrm>
          <a:prstGeom prst="rect">
            <a:avLst/>
          </a:prstGeom>
        </p:spPr>
        <p:txBody>
          <a:bodyPr anchor="t" rtlCol="false" tIns="0" lIns="0" bIns="0" rIns="0">
            <a:spAutoFit/>
          </a:bodyPr>
          <a:lstStyle/>
          <a:p>
            <a:pPr algn="ctr">
              <a:lnSpc>
                <a:spcPts val="4444"/>
              </a:lnSpc>
            </a:pPr>
            <a:r>
              <a:rPr lang="en-US" sz="3174" b="true">
                <a:solidFill>
                  <a:srgbClr val="000000"/>
                </a:solidFill>
                <a:latin typeface="TT Phobos Bold"/>
                <a:ea typeface="TT Phobos Bold"/>
                <a:cs typeface="TT Phobos Bold"/>
                <a:sym typeface="TT Phobos Bold"/>
              </a:rPr>
              <a:t>•Strong smell of sulfur or rotten eggs</a:t>
            </a:r>
          </a:p>
          <a:p>
            <a:pPr algn="ctr">
              <a:lnSpc>
                <a:spcPts val="4444"/>
              </a:lnSpc>
            </a:pPr>
          </a:p>
        </p:txBody>
      </p:sp>
      <p:sp>
        <p:nvSpPr>
          <p:cNvPr name="TextBox 21" id="21"/>
          <p:cNvSpPr txBox="true"/>
          <p:nvPr/>
        </p:nvSpPr>
        <p:spPr>
          <a:xfrm rot="0">
            <a:off x="2771878" y="4675427"/>
            <a:ext cx="5697883" cy="1569836"/>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This smell comes from sulfur gases released by magma underground.</a:t>
            </a:r>
          </a:p>
        </p:txBody>
      </p:sp>
      <p:sp>
        <p:nvSpPr>
          <p:cNvPr name="TextBox 22" id="22"/>
          <p:cNvSpPr txBox="true"/>
          <p:nvPr/>
        </p:nvSpPr>
        <p:spPr>
          <a:xfrm rot="0">
            <a:off x="10134271" y="3199828"/>
            <a:ext cx="5752610" cy="1662445"/>
          </a:xfrm>
          <a:prstGeom prst="rect">
            <a:avLst/>
          </a:prstGeom>
        </p:spPr>
        <p:txBody>
          <a:bodyPr anchor="t" rtlCol="false" tIns="0" lIns="0" bIns="0" rIns="0">
            <a:spAutoFit/>
          </a:bodyPr>
          <a:lstStyle/>
          <a:p>
            <a:pPr algn="ctr">
              <a:lnSpc>
                <a:spcPts val="4444"/>
              </a:lnSpc>
            </a:pPr>
            <a:r>
              <a:rPr lang="en-US" sz="3174" b="true">
                <a:solidFill>
                  <a:srgbClr val="000000"/>
                </a:solidFill>
                <a:latin typeface="TT Phobos Bold"/>
                <a:ea typeface="TT Phobos Bold"/>
                <a:cs typeface="TT Phobos Bold"/>
                <a:sym typeface="TT Phobos Bold"/>
              </a:rPr>
              <a:t>•Increase in steam, smoke, or gas release</a:t>
            </a:r>
          </a:p>
          <a:p>
            <a:pPr algn="ctr">
              <a:lnSpc>
                <a:spcPts val="4444"/>
              </a:lnSpc>
            </a:pPr>
          </a:p>
        </p:txBody>
      </p:sp>
      <p:sp>
        <p:nvSpPr>
          <p:cNvPr name="TextBox 23" id="23"/>
          <p:cNvSpPr txBox="true"/>
          <p:nvPr/>
        </p:nvSpPr>
        <p:spPr>
          <a:xfrm rot="0">
            <a:off x="10005012" y="4479836"/>
            <a:ext cx="5697883" cy="1581120"/>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More heat and pressure cause gases and steam to escape from vents.</a:t>
            </a:r>
          </a:p>
        </p:txBody>
      </p:sp>
      <p:sp>
        <p:nvSpPr>
          <p:cNvPr name="TextBox 24" id="24"/>
          <p:cNvSpPr txBox="true"/>
          <p:nvPr/>
        </p:nvSpPr>
        <p:spPr>
          <a:xfrm rot="0">
            <a:off x="6209010" y="6699734"/>
            <a:ext cx="5943319" cy="1389601"/>
          </a:xfrm>
          <a:prstGeom prst="rect">
            <a:avLst/>
          </a:prstGeom>
        </p:spPr>
        <p:txBody>
          <a:bodyPr anchor="t" rtlCol="false" tIns="0" lIns="0" bIns="0" rIns="0">
            <a:spAutoFit/>
          </a:bodyPr>
          <a:lstStyle/>
          <a:p>
            <a:pPr algn="ctr">
              <a:lnSpc>
                <a:spcPts val="3741"/>
              </a:lnSpc>
            </a:pPr>
            <a:r>
              <a:rPr lang="en-US" sz="2672" b="true">
                <a:solidFill>
                  <a:srgbClr val="000000"/>
                </a:solidFill>
                <a:latin typeface="TT Phobos Bold"/>
                <a:ea typeface="TT Phobos Bold"/>
                <a:cs typeface="TT Phobos Bold"/>
                <a:sym typeface="TT Phobos Bold"/>
              </a:rPr>
              <a:t>•Change in gas composition is a major warning sign</a:t>
            </a:r>
          </a:p>
          <a:p>
            <a:pPr algn="ctr">
              <a:lnSpc>
                <a:spcPts val="3741"/>
              </a:lnSpc>
            </a:pPr>
          </a:p>
        </p:txBody>
      </p:sp>
      <p:sp>
        <p:nvSpPr>
          <p:cNvPr name="TextBox 25" id="25"/>
          <p:cNvSpPr txBox="true"/>
          <p:nvPr/>
        </p:nvSpPr>
        <p:spPr>
          <a:xfrm rot="0">
            <a:off x="6609806" y="7720539"/>
            <a:ext cx="5263313" cy="3361538"/>
          </a:xfrm>
          <a:prstGeom prst="rect">
            <a:avLst/>
          </a:prstGeom>
        </p:spPr>
        <p:txBody>
          <a:bodyPr anchor="t" rtlCol="false" tIns="0" lIns="0" bIns="0" rIns="0">
            <a:spAutoFit/>
          </a:bodyPr>
          <a:lstStyle/>
          <a:p>
            <a:pPr algn="ctr">
              <a:lnSpc>
                <a:spcPts val="3823"/>
              </a:lnSpc>
            </a:pPr>
            <a:r>
              <a:rPr lang="en-US" sz="2731">
                <a:solidFill>
                  <a:srgbClr val="000000"/>
                </a:solidFill>
                <a:latin typeface="TT Phobos"/>
                <a:ea typeface="TT Phobos"/>
                <a:cs typeface="TT Phobos"/>
                <a:sym typeface="TT Phobos"/>
              </a:rPr>
              <a:t>Different gas levels can indicate magma is rising closer to the surface and an eruption may be near.</a:t>
            </a:r>
          </a:p>
          <a:p>
            <a:pPr algn="ctr">
              <a:lnSpc>
                <a:spcPts val="3823"/>
              </a:lnSpc>
            </a:pPr>
          </a:p>
          <a:p>
            <a:pPr algn="ctr">
              <a:lnSpc>
                <a:spcPts val="3823"/>
              </a:lnSpc>
            </a:pPr>
          </a:p>
          <a:p>
            <a:pPr algn="ctr">
              <a:lnSpc>
                <a:spcPts val="3823"/>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4B2B9"/>
        </a:solidFill>
      </p:bgPr>
    </p:bg>
    <p:spTree>
      <p:nvGrpSpPr>
        <p:cNvPr id="1" name=""/>
        <p:cNvGrpSpPr/>
        <p:nvPr/>
      </p:nvGrpSpPr>
      <p:grpSpPr>
        <a:xfrm>
          <a:off x="0" y="0"/>
          <a:ext cx="0" cy="0"/>
          <a:chOff x="0" y="0"/>
          <a:chExt cx="0" cy="0"/>
        </a:xfrm>
      </p:grpSpPr>
      <p:grpSp>
        <p:nvGrpSpPr>
          <p:cNvPr name="Group 2" id="2"/>
          <p:cNvGrpSpPr/>
          <p:nvPr/>
        </p:nvGrpSpPr>
        <p:grpSpPr>
          <a:xfrm rot="0">
            <a:off x="104307" y="512708"/>
            <a:ext cx="17988135" cy="9774292"/>
            <a:chOff x="0" y="0"/>
            <a:chExt cx="4737616" cy="2574299"/>
          </a:xfrm>
        </p:grpSpPr>
        <p:sp>
          <p:nvSpPr>
            <p:cNvPr name="Freeform 3" id="3"/>
            <p:cNvSpPr/>
            <p:nvPr/>
          </p:nvSpPr>
          <p:spPr>
            <a:xfrm flipH="false" flipV="false" rot="0">
              <a:off x="0" y="0"/>
              <a:ext cx="4737616" cy="2574299"/>
            </a:xfrm>
            <a:custGeom>
              <a:avLst/>
              <a:gdLst/>
              <a:ahLst/>
              <a:cxnLst/>
              <a:rect r="r" b="b" t="t" l="l"/>
              <a:pathLst>
                <a:path h="2574299" w="4737616">
                  <a:moveTo>
                    <a:pt x="21950" y="0"/>
                  </a:moveTo>
                  <a:lnTo>
                    <a:pt x="4715666" y="0"/>
                  </a:lnTo>
                  <a:cubicBezTo>
                    <a:pt x="4727789" y="0"/>
                    <a:pt x="4737616" y="9827"/>
                    <a:pt x="4737616" y="21950"/>
                  </a:cubicBezTo>
                  <a:lnTo>
                    <a:pt x="4737616" y="2552349"/>
                  </a:lnTo>
                  <a:cubicBezTo>
                    <a:pt x="4737616" y="2564472"/>
                    <a:pt x="4727789" y="2574299"/>
                    <a:pt x="4715666" y="2574299"/>
                  </a:cubicBezTo>
                  <a:lnTo>
                    <a:pt x="21950" y="2574299"/>
                  </a:lnTo>
                  <a:cubicBezTo>
                    <a:pt x="9827" y="2574299"/>
                    <a:pt x="0" y="2564472"/>
                    <a:pt x="0" y="2552349"/>
                  </a:cubicBezTo>
                  <a:lnTo>
                    <a:pt x="0" y="21950"/>
                  </a:lnTo>
                  <a:cubicBezTo>
                    <a:pt x="0" y="9827"/>
                    <a:pt x="9827" y="0"/>
                    <a:pt x="21950" y="0"/>
                  </a:cubicBezTo>
                  <a:close/>
                </a:path>
              </a:pathLst>
            </a:custGeom>
            <a:solidFill>
              <a:srgbClr val="3A9980"/>
            </a:solidFill>
            <a:ln w="28575" cap="rnd">
              <a:solidFill>
                <a:srgbClr val="000000"/>
              </a:solidFill>
              <a:prstDash val="solid"/>
              <a:round/>
            </a:ln>
          </p:spPr>
        </p:sp>
        <p:sp>
          <p:nvSpPr>
            <p:cNvPr name="TextBox 4" id="4"/>
            <p:cNvSpPr txBox="true"/>
            <p:nvPr/>
          </p:nvSpPr>
          <p:spPr>
            <a:xfrm>
              <a:off x="0" y="-38100"/>
              <a:ext cx="4737616" cy="26123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102375" y="768682"/>
            <a:ext cx="11655667" cy="2240704"/>
            <a:chOff x="0" y="0"/>
            <a:chExt cx="3069805" cy="590144"/>
          </a:xfrm>
        </p:grpSpPr>
        <p:sp>
          <p:nvSpPr>
            <p:cNvPr name="Freeform 6" id="6"/>
            <p:cNvSpPr/>
            <p:nvPr/>
          </p:nvSpPr>
          <p:spPr>
            <a:xfrm flipH="false" flipV="false" rot="0">
              <a:off x="0" y="0"/>
              <a:ext cx="3069805" cy="590144"/>
            </a:xfrm>
            <a:custGeom>
              <a:avLst/>
              <a:gdLst/>
              <a:ahLst/>
              <a:cxnLst/>
              <a:rect r="r" b="b" t="t" l="l"/>
              <a:pathLst>
                <a:path h="590144" w="3069805">
                  <a:moveTo>
                    <a:pt x="0" y="0"/>
                  </a:moveTo>
                  <a:lnTo>
                    <a:pt x="3069805" y="0"/>
                  </a:lnTo>
                  <a:lnTo>
                    <a:pt x="3069805" y="590144"/>
                  </a:lnTo>
                  <a:lnTo>
                    <a:pt x="0" y="590144"/>
                  </a:lnTo>
                  <a:close/>
                </a:path>
              </a:pathLst>
            </a:custGeom>
            <a:solidFill>
              <a:srgbClr val="E4B2B9"/>
            </a:solidFill>
            <a:ln w="28575" cap="sq">
              <a:solidFill>
                <a:srgbClr val="231F20"/>
              </a:solidFill>
              <a:prstDash val="solid"/>
              <a:miter/>
            </a:ln>
          </p:spPr>
        </p:sp>
        <p:sp>
          <p:nvSpPr>
            <p:cNvPr name="TextBox 7" id="7"/>
            <p:cNvSpPr txBox="true"/>
            <p:nvPr/>
          </p:nvSpPr>
          <p:spPr>
            <a:xfrm>
              <a:off x="0" y="-38100"/>
              <a:ext cx="3069805" cy="6282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543360" y="3190178"/>
            <a:ext cx="6154919" cy="3183659"/>
            <a:chOff x="0" y="0"/>
            <a:chExt cx="1621049" cy="838494"/>
          </a:xfrm>
        </p:grpSpPr>
        <p:sp>
          <p:nvSpPr>
            <p:cNvPr name="Freeform 9" id="9"/>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0" id="10"/>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581794" y="962025"/>
            <a:ext cx="11319336" cy="936626"/>
          </a:xfrm>
          <a:prstGeom prst="rect">
            <a:avLst/>
          </a:prstGeom>
        </p:spPr>
        <p:txBody>
          <a:bodyPr anchor="t" rtlCol="false" tIns="0" lIns="0" bIns="0" rIns="0">
            <a:spAutoFit/>
          </a:bodyPr>
          <a:lstStyle/>
          <a:p>
            <a:pPr algn="ctr">
              <a:lnSpc>
                <a:spcPts val="5750"/>
              </a:lnSpc>
            </a:pPr>
            <a:r>
              <a:rPr lang="en-US" sz="5750">
                <a:solidFill>
                  <a:srgbClr val="000000"/>
                </a:solidFill>
                <a:latin typeface="Hertical Rough"/>
                <a:ea typeface="Hertical Rough"/>
                <a:cs typeface="Hertical Rough"/>
                <a:sym typeface="Hertical Rough"/>
              </a:rPr>
              <a:t>Sign 4: Rising Temperature</a:t>
            </a:r>
          </a:p>
        </p:txBody>
      </p:sp>
      <p:grpSp>
        <p:nvGrpSpPr>
          <p:cNvPr name="Group 12" id="12"/>
          <p:cNvGrpSpPr/>
          <p:nvPr/>
        </p:nvGrpSpPr>
        <p:grpSpPr>
          <a:xfrm rot="0">
            <a:off x="9821027" y="3190178"/>
            <a:ext cx="6154919" cy="3183659"/>
            <a:chOff x="0" y="0"/>
            <a:chExt cx="1621049" cy="838494"/>
          </a:xfrm>
        </p:grpSpPr>
        <p:sp>
          <p:nvSpPr>
            <p:cNvPr name="Freeform 13" id="13"/>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4" id="14"/>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6066541" y="6669112"/>
            <a:ext cx="6154919" cy="3183659"/>
            <a:chOff x="0" y="0"/>
            <a:chExt cx="1621049" cy="838494"/>
          </a:xfrm>
        </p:grpSpPr>
        <p:sp>
          <p:nvSpPr>
            <p:cNvPr name="Freeform 16" id="16"/>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7" id="17"/>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413673" y="7672438"/>
            <a:ext cx="3651981" cy="3034465"/>
          </a:xfrm>
          <a:custGeom>
            <a:avLst/>
            <a:gdLst/>
            <a:ahLst/>
            <a:cxnLst/>
            <a:rect r="r" b="b" t="t" l="l"/>
            <a:pathLst>
              <a:path h="3034465" w="3651981">
                <a:moveTo>
                  <a:pt x="0" y="0"/>
                </a:moveTo>
                <a:lnTo>
                  <a:pt x="3651981" y="0"/>
                </a:lnTo>
                <a:lnTo>
                  <a:pt x="3651981" y="3034464"/>
                </a:lnTo>
                <a:lnTo>
                  <a:pt x="0" y="3034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5747428" y="8363453"/>
            <a:ext cx="3571193" cy="2194660"/>
          </a:xfrm>
          <a:custGeom>
            <a:avLst/>
            <a:gdLst/>
            <a:ahLst/>
            <a:cxnLst/>
            <a:rect r="r" b="b" t="t" l="l"/>
            <a:pathLst>
              <a:path h="2194660" w="3571193">
                <a:moveTo>
                  <a:pt x="0" y="0"/>
                </a:moveTo>
                <a:lnTo>
                  <a:pt x="3571193" y="0"/>
                </a:lnTo>
                <a:lnTo>
                  <a:pt x="3571193" y="2194660"/>
                </a:lnTo>
                <a:lnTo>
                  <a:pt x="0" y="21946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2612513" y="3251703"/>
            <a:ext cx="6041625" cy="1662445"/>
          </a:xfrm>
          <a:prstGeom prst="rect">
            <a:avLst/>
          </a:prstGeom>
        </p:spPr>
        <p:txBody>
          <a:bodyPr anchor="t" rtlCol="false" tIns="0" lIns="0" bIns="0" rIns="0">
            <a:spAutoFit/>
          </a:bodyPr>
          <a:lstStyle/>
          <a:p>
            <a:pPr algn="ctr">
              <a:lnSpc>
                <a:spcPts val="4444"/>
              </a:lnSpc>
            </a:pPr>
            <a:r>
              <a:rPr lang="en-US" sz="3174" b="true">
                <a:solidFill>
                  <a:srgbClr val="000000"/>
                </a:solidFill>
                <a:latin typeface="TT Phobos Bold"/>
                <a:ea typeface="TT Phobos Bold"/>
                <a:cs typeface="TT Phobos Bold"/>
                <a:sym typeface="TT Phobos Bold"/>
              </a:rPr>
              <a:t>•Hotter ground, water, or steam vents</a:t>
            </a:r>
          </a:p>
          <a:p>
            <a:pPr algn="ctr">
              <a:lnSpc>
                <a:spcPts val="4444"/>
              </a:lnSpc>
            </a:pPr>
          </a:p>
        </p:txBody>
      </p:sp>
      <p:sp>
        <p:nvSpPr>
          <p:cNvPr name="TextBox 21" id="21"/>
          <p:cNvSpPr txBox="true"/>
          <p:nvPr/>
        </p:nvSpPr>
        <p:spPr>
          <a:xfrm rot="0">
            <a:off x="2771878" y="4675427"/>
            <a:ext cx="5697883" cy="1569836"/>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Rising magma increases heat at the surface and in underground water systems.</a:t>
            </a:r>
          </a:p>
        </p:txBody>
      </p:sp>
      <p:sp>
        <p:nvSpPr>
          <p:cNvPr name="TextBox 22" id="22"/>
          <p:cNvSpPr txBox="true"/>
          <p:nvPr/>
        </p:nvSpPr>
        <p:spPr>
          <a:xfrm rot="0">
            <a:off x="10134271" y="3199828"/>
            <a:ext cx="5752610" cy="1662445"/>
          </a:xfrm>
          <a:prstGeom prst="rect">
            <a:avLst/>
          </a:prstGeom>
        </p:spPr>
        <p:txBody>
          <a:bodyPr anchor="t" rtlCol="false" tIns="0" lIns="0" bIns="0" rIns="0">
            <a:spAutoFit/>
          </a:bodyPr>
          <a:lstStyle/>
          <a:p>
            <a:pPr algn="ctr">
              <a:lnSpc>
                <a:spcPts val="4444"/>
              </a:lnSpc>
            </a:pPr>
            <a:r>
              <a:rPr lang="en-US" sz="3174" b="true">
                <a:solidFill>
                  <a:srgbClr val="000000"/>
                </a:solidFill>
                <a:latin typeface="TT Phobos Bold"/>
                <a:ea typeface="TT Phobos Bold"/>
                <a:cs typeface="TT Phobos Bold"/>
                <a:sym typeface="TT Phobos Bold"/>
              </a:rPr>
              <a:t>•Water in nearby rivers or lakes may heat up</a:t>
            </a:r>
          </a:p>
          <a:p>
            <a:pPr algn="ctr">
              <a:lnSpc>
                <a:spcPts val="4444"/>
              </a:lnSpc>
            </a:pPr>
          </a:p>
        </p:txBody>
      </p:sp>
      <p:sp>
        <p:nvSpPr>
          <p:cNvPr name="TextBox 23" id="23"/>
          <p:cNvSpPr txBox="true"/>
          <p:nvPr/>
        </p:nvSpPr>
        <p:spPr>
          <a:xfrm rot="0">
            <a:off x="10005012" y="4479836"/>
            <a:ext cx="5697883" cy="1047720"/>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Heat from magma transfers to surrounding water sources.</a:t>
            </a:r>
          </a:p>
        </p:txBody>
      </p:sp>
      <p:sp>
        <p:nvSpPr>
          <p:cNvPr name="TextBox 24" id="24"/>
          <p:cNvSpPr txBox="true"/>
          <p:nvPr/>
        </p:nvSpPr>
        <p:spPr>
          <a:xfrm rot="0">
            <a:off x="6209010" y="6699734"/>
            <a:ext cx="5943319" cy="1389601"/>
          </a:xfrm>
          <a:prstGeom prst="rect">
            <a:avLst/>
          </a:prstGeom>
        </p:spPr>
        <p:txBody>
          <a:bodyPr anchor="t" rtlCol="false" tIns="0" lIns="0" bIns="0" rIns="0">
            <a:spAutoFit/>
          </a:bodyPr>
          <a:lstStyle/>
          <a:p>
            <a:pPr algn="ctr">
              <a:lnSpc>
                <a:spcPts val="3741"/>
              </a:lnSpc>
            </a:pPr>
            <a:r>
              <a:rPr lang="en-US" sz="2672" b="true">
                <a:solidFill>
                  <a:srgbClr val="000000"/>
                </a:solidFill>
                <a:latin typeface="TT Phobos Bold"/>
                <a:ea typeface="TT Phobos Bold"/>
                <a:cs typeface="TT Phobos Bold"/>
                <a:sym typeface="TT Phobos Bold"/>
              </a:rPr>
              <a:t>•Indicates magma getting closer to the surface</a:t>
            </a:r>
          </a:p>
          <a:p>
            <a:pPr algn="ctr">
              <a:lnSpc>
                <a:spcPts val="3741"/>
              </a:lnSpc>
            </a:pPr>
          </a:p>
        </p:txBody>
      </p:sp>
      <p:sp>
        <p:nvSpPr>
          <p:cNvPr name="TextBox 25" id="25"/>
          <p:cNvSpPr txBox="true"/>
          <p:nvPr/>
        </p:nvSpPr>
        <p:spPr>
          <a:xfrm rot="0">
            <a:off x="6609806" y="7720539"/>
            <a:ext cx="5263313" cy="1915642"/>
          </a:xfrm>
          <a:prstGeom prst="rect">
            <a:avLst/>
          </a:prstGeom>
        </p:spPr>
        <p:txBody>
          <a:bodyPr anchor="t" rtlCol="false" tIns="0" lIns="0" bIns="0" rIns="0">
            <a:spAutoFit/>
          </a:bodyPr>
          <a:lstStyle/>
          <a:p>
            <a:pPr algn="ctr">
              <a:lnSpc>
                <a:spcPts val="3823"/>
              </a:lnSpc>
            </a:pPr>
            <a:r>
              <a:rPr lang="en-US" sz="2731">
                <a:solidFill>
                  <a:srgbClr val="000000"/>
                </a:solidFill>
                <a:latin typeface="TT Phobos"/>
                <a:ea typeface="TT Phobos"/>
                <a:cs typeface="TT Phobos"/>
                <a:sym typeface="TT Phobos"/>
              </a:rPr>
              <a:t>Higher temperatures suggest magma is moving upward and an eruption may be approaching.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4B2B9"/>
        </a:solidFill>
      </p:bgPr>
    </p:bg>
    <p:spTree>
      <p:nvGrpSpPr>
        <p:cNvPr id="1" name=""/>
        <p:cNvGrpSpPr/>
        <p:nvPr/>
      </p:nvGrpSpPr>
      <p:grpSpPr>
        <a:xfrm>
          <a:off x="0" y="0"/>
          <a:ext cx="0" cy="0"/>
          <a:chOff x="0" y="0"/>
          <a:chExt cx="0" cy="0"/>
        </a:xfrm>
      </p:grpSpPr>
      <p:grpSp>
        <p:nvGrpSpPr>
          <p:cNvPr name="Group 2" id="2"/>
          <p:cNvGrpSpPr/>
          <p:nvPr/>
        </p:nvGrpSpPr>
        <p:grpSpPr>
          <a:xfrm rot="0">
            <a:off x="104307" y="512708"/>
            <a:ext cx="17988135" cy="9774292"/>
            <a:chOff x="0" y="0"/>
            <a:chExt cx="4737616" cy="2574299"/>
          </a:xfrm>
        </p:grpSpPr>
        <p:sp>
          <p:nvSpPr>
            <p:cNvPr name="Freeform 3" id="3"/>
            <p:cNvSpPr/>
            <p:nvPr/>
          </p:nvSpPr>
          <p:spPr>
            <a:xfrm flipH="false" flipV="false" rot="0">
              <a:off x="0" y="0"/>
              <a:ext cx="4737616" cy="2574299"/>
            </a:xfrm>
            <a:custGeom>
              <a:avLst/>
              <a:gdLst/>
              <a:ahLst/>
              <a:cxnLst/>
              <a:rect r="r" b="b" t="t" l="l"/>
              <a:pathLst>
                <a:path h="2574299" w="4737616">
                  <a:moveTo>
                    <a:pt x="21950" y="0"/>
                  </a:moveTo>
                  <a:lnTo>
                    <a:pt x="4715666" y="0"/>
                  </a:lnTo>
                  <a:cubicBezTo>
                    <a:pt x="4727789" y="0"/>
                    <a:pt x="4737616" y="9827"/>
                    <a:pt x="4737616" y="21950"/>
                  </a:cubicBezTo>
                  <a:lnTo>
                    <a:pt x="4737616" y="2552349"/>
                  </a:lnTo>
                  <a:cubicBezTo>
                    <a:pt x="4737616" y="2564472"/>
                    <a:pt x="4727789" y="2574299"/>
                    <a:pt x="4715666" y="2574299"/>
                  </a:cubicBezTo>
                  <a:lnTo>
                    <a:pt x="21950" y="2574299"/>
                  </a:lnTo>
                  <a:cubicBezTo>
                    <a:pt x="9827" y="2574299"/>
                    <a:pt x="0" y="2564472"/>
                    <a:pt x="0" y="2552349"/>
                  </a:cubicBezTo>
                  <a:lnTo>
                    <a:pt x="0" y="21950"/>
                  </a:lnTo>
                  <a:cubicBezTo>
                    <a:pt x="0" y="9827"/>
                    <a:pt x="9827" y="0"/>
                    <a:pt x="21950" y="0"/>
                  </a:cubicBezTo>
                  <a:close/>
                </a:path>
              </a:pathLst>
            </a:custGeom>
            <a:solidFill>
              <a:srgbClr val="BCDDD4"/>
            </a:solidFill>
            <a:ln w="28575" cap="rnd">
              <a:solidFill>
                <a:srgbClr val="000000"/>
              </a:solidFill>
              <a:prstDash val="solid"/>
              <a:round/>
            </a:ln>
          </p:spPr>
        </p:sp>
        <p:sp>
          <p:nvSpPr>
            <p:cNvPr name="TextBox 4" id="4"/>
            <p:cNvSpPr txBox="true"/>
            <p:nvPr/>
          </p:nvSpPr>
          <p:spPr>
            <a:xfrm>
              <a:off x="0" y="-38100"/>
              <a:ext cx="4737616" cy="261239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3102375" y="768682"/>
            <a:ext cx="11655667" cy="2240704"/>
            <a:chOff x="0" y="0"/>
            <a:chExt cx="3069805" cy="590144"/>
          </a:xfrm>
        </p:grpSpPr>
        <p:sp>
          <p:nvSpPr>
            <p:cNvPr name="Freeform 6" id="6"/>
            <p:cNvSpPr/>
            <p:nvPr/>
          </p:nvSpPr>
          <p:spPr>
            <a:xfrm flipH="false" flipV="false" rot="0">
              <a:off x="0" y="0"/>
              <a:ext cx="3069805" cy="590144"/>
            </a:xfrm>
            <a:custGeom>
              <a:avLst/>
              <a:gdLst/>
              <a:ahLst/>
              <a:cxnLst/>
              <a:rect r="r" b="b" t="t" l="l"/>
              <a:pathLst>
                <a:path h="590144" w="3069805">
                  <a:moveTo>
                    <a:pt x="0" y="0"/>
                  </a:moveTo>
                  <a:lnTo>
                    <a:pt x="3069805" y="0"/>
                  </a:lnTo>
                  <a:lnTo>
                    <a:pt x="3069805" y="590144"/>
                  </a:lnTo>
                  <a:lnTo>
                    <a:pt x="0" y="590144"/>
                  </a:lnTo>
                  <a:close/>
                </a:path>
              </a:pathLst>
            </a:custGeom>
            <a:solidFill>
              <a:srgbClr val="E4B2B9"/>
            </a:solidFill>
            <a:ln w="28575" cap="sq">
              <a:solidFill>
                <a:srgbClr val="231F20"/>
              </a:solidFill>
              <a:prstDash val="solid"/>
              <a:miter/>
            </a:ln>
          </p:spPr>
        </p:sp>
        <p:sp>
          <p:nvSpPr>
            <p:cNvPr name="TextBox 7" id="7"/>
            <p:cNvSpPr txBox="true"/>
            <p:nvPr/>
          </p:nvSpPr>
          <p:spPr>
            <a:xfrm>
              <a:off x="0" y="-38100"/>
              <a:ext cx="3069805" cy="62824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2543360" y="3190178"/>
            <a:ext cx="6154919" cy="3183659"/>
            <a:chOff x="0" y="0"/>
            <a:chExt cx="1621049" cy="838494"/>
          </a:xfrm>
        </p:grpSpPr>
        <p:sp>
          <p:nvSpPr>
            <p:cNvPr name="Freeform 9" id="9"/>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0" id="10"/>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3581794" y="1034353"/>
            <a:ext cx="11319336" cy="936626"/>
          </a:xfrm>
          <a:prstGeom prst="rect">
            <a:avLst/>
          </a:prstGeom>
        </p:spPr>
        <p:txBody>
          <a:bodyPr anchor="t" rtlCol="false" tIns="0" lIns="0" bIns="0" rIns="0">
            <a:spAutoFit/>
          </a:bodyPr>
          <a:lstStyle/>
          <a:p>
            <a:pPr algn="ctr">
              <a:lnSpc>
                <a:spcPts val="5750"/>
              </a:lnSpc>
            </a:pPr>
            <a:r>
              <a:rPr lang="en-US" sz="5750">
                <a:solidFill>
                  <a:srgbClr val="000000"/>
                </a:solidFill>
                <a:latin typeface="Hertical Rough"/>
                <a:ea typeface="Hertical Rough"/>
                <a:cs typeface="Hertical Rough"/>
                <a:sym typeface="Hertical Rough"/>
              </a:rPr>
              <a:t>Sign 5: Visible Changes</a:t>
            </a:r>
          </a:p>
        </p:txBody>
      </p:sp>
      <p:grpSp>
        <p:nvGrpSpPr>
          <p:cNvPr name="Group 12" id="12"/>
          <p:cNvGrpSpPr/>
          <p:nvPr/>
        </p:nvGrpSpPr>
        <p:grpSpPr>
          <a:xfrm rot="0">
            <a:off x="9821027" y="3190178"/>
            <a:ext cx="6154919" cy="3183659"/>
            <a:chOff x="0" y="0"/>
            <a:chExt cx="1621049" cy="838494"/>
          </a:xfrm>
        </p:grpSpPr>
        <p:sp>
          <p:nvSpPr>
            <p:cNvPr name="Freeform 13" id="13"/>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4" id="14"/>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6066541" y="6669112"/>
            <a:ext cx="6154919" cy="3183659"/>
            <a:chOff x="0" y="0"/>
            <a:chExt cx="1621049" cy="838494"/>
          </a:xfrm>
        </p:grpSpPr>
        <p:sp>
          <p:nvSpPr>
            <p:cNvPr name="Freeform 16" id="16"/>
            <p:cNvSpPr/>
            <p:nvPr/>
          </p:nvSpPr>
          <p:spPr>
            <a:xfrm flipH="false" flipV="false" rot="0">
              <a:off x="0" y="0"/>
              <a:ext cx="1621049" cy="838494"/>
            </a:xfrm>
            <a:custGeom>
              <a:avLst/>
              <a:gdLst/>
              <a:ahLst/>
              <a:cxnLst/>
              <a:rect r="r" b="b" t="t" l="l"/>
              <a:pathLst>
                <a:path h="838494" w="1621049">
                  <a:moveTo>
                    <a:pt x="0" y="0"/>
                  </a:moveTo>
                  <a:lnTo>
                    <a:pt x="1621049" y="0"/>
                  </a:lnTo>
                  <a:lnTo>
                    <a:pt x="1621049" y="838494"/>
                  </a:lnTo>
                  <a:lnTo>
                    <a:pt x="0" y="838494"/>
                  </a:lnTo>
                  <a:close/>
                </a:path>
              </a:pathLst>
            </a:custGeom>
            <a:solidFill>
              <a:srgbClr val="F6E2E4"/>
            </a:solidFill>
            <a:ln w="28575" cap="sq">
              <a:solidFill>
                <a:srgbClr val="231F20"/>
              </a:solidFill>
              <a:prstDash val="solid"/>
              <a:miter/>
            </a:ln>
          </p:spPr>
        </p:sp>
        <p:sp>
          <p:nvSpPr>
            <p:cNvPr name="TextBox 17" id="17"/>
            <p:cNvSpPr txBox="true"/>
            <p:nvPr/>
          </p:nvSpPr>
          <p:spPr>
            <a:xfrm>
              <a:off x="0" y="-38100"/>
              <a:ext cx="1621049" cy="876594"/>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413673" y="7672438"/>
            <a:ext cx="3651981" cy="3034465"/>
          </a:xfrm>
          <a:custGeom>
            <a:avLst/>
            <a:gdLst/>
            <a:ahLst/>
            <a:cxnLst/>
            <a:rect r="r" b="b" t="t" l="l"/>
            <a:pathLst>
              <a:path h="3034465" w="3651981">
                <a:moveTo>
                  <a:pt x="0" y="0"/>
                </a:moveTo>
                <a:lnTo>
                  <a:pt x="3651981" y="0"/>
                </a:lnTo>
                <a:lnTo>
                  <a:pt x="3651981" y="3034464"/>
                </a:lnTo>
                <a:lnTo>
                  <a:pt x="0" y="3034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5747428" y="8363453"/>
            <a:ext cx="3571193" cy="2194660"/>
          </a:xfrm>
          <a:custGeom>
            <a:avLst/>
            <a:gdLst/>
            <a:ahLst/>
            <a:cxnLst/>
            <a:rect r="r" b="b" t="t" l="l"/>
            <a:pathLst>
              <a:path h="2194660" w="3571193">
                <a:moveTo>
                  <a:pt x="0" y="0"/>
                </a:moveTo>
                <a:lnTo>
                  <a:pt x="3571193" y="0"/>
                </a:lnTo>
                <a:lnTo>
                  <a:pt x="3571193" y="2194660"/>
                </a:lnTo>
                <a:lnTo>
                  <a:pt x="0" y="21946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2612513" y="3251703"/>
            <a:ext cx="6041625" cy="1662445"/>
          </a:xfrm>
          <a:prstGeom prst="rect">
            <a:avLst/>
          </a:prstGeom>
        </p:spPr>
        <p:txBody>
          <a:bodyPr anchor="t" rtlCol="false" tIns="0" lIns="0" bIns="0" rIns="0">
            <a:spAutoFit/>
          </a:bodyPr>
          <a:lstStyle/>
          <a:p>
            <a:pPr algn="ctr">
              <a:lnSpc>
                <a:spcPts val="4444"/>
              </a:lnSpc>
            </a:pPr>
            <a:r>
              <a:rPr lang="en-US" sz="3174" b="true">
                <a:solidFill>
                  <a:srgbClr val="000000"/>
                </a:solidFill>
                <a:latin typeface="TT Phobos Bold"/>
                <a:ea typeface="TT Phobos Bold"/>
                <a:cs typeface="TT Phobos Bold"/>
                <a:sym typeface="TT Phobos Bold"/>
              </a:rPr>
              <a:t>•Ash emissions from the crater</a:t>
            </a:r>
          </a:p>
          <a:p>
            <a:pPr algn="ctr">
              <a:lnSpc>
                <a:spcPts val="4444"/>
              </a:lnSpc>
            </a:pPr>
          </a:p>
        </p:txBody>
      </p:sp>
      <p:sp>
        <p:nvSpPr>
          <p:cNvPr name="TextBox 21" id="21"/>
          <p:cNvSpPr txBox="true"/>
          <p:nvPr/>
        </p:nvSpPr>
        <p:spPr>
          <a:xfrm rot="0">
            <a:off x="2771878" y="4675427"/>
            <a:ext cx="5697883" cy="1569836"/>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Small releases of ash show that material is being pushed out by rising magma.</a:t>
            </a:r>
          </a:p>
        </p:txBody>
      </p:sp>
      <p:sp>
        <p:nvSpPr>
          <p:cNvPr name="TextBox 22" id="22"/>
          <p:cNvSpPr txBox="true"/>
          <p:nvPr/>
        </p:nvSpPr>
        <p:spPr>
          <a:xfrm rot="0">
            <a:off x="10134271" y="3199828"/>
            <a:ext cx="5752610" cy="1100470"/>
          </a:xfrm>
          <a:prstGeom prst="rect">
            <a:avLst/>
          </a:prstGeom>
        </p:spPr>
        <p:txBody>
          <a:bodyPr anchor="t" rtlCol="false" tIns="0" lIns="0" bIns="0" rIns="0">
            <a:spAutoFit/>
          </a:bodyPr>
          <a:lstStyle/>
          <a:p>
            <a:pPr algn="ctr">
              <a:lnSpc>
                <a:spcPts val="4444"/>
              </a:lnSpc>
            </a:pPr>
            <a:r>
              <a:rPr lang="en-US" sz="3174" b="true">
                <a:solidFill>
                  <a:srgbClr val="000000"/>
                </a:solidFill>
                <a:latin typeface="TT Phobos Bold"/>
                <a:ea typeface="TT Phobos Bold"/>
                <a:cs typeface="TT Phobos Bold"/>
                <a:sym typeface="TT Phobos Bold"/>
              </a:rPr>
              <a:t>•Glowing crater at night</a:t>
            </a:r>
          </a:p>
          <a:p>
            <a:pPr algn="ctr">
              <a:lnSpc>
                <a:spcPts val="4444"/>
              </a:lnSpc>
            </a:pPr>
          </a:p>
        </p:txBody>
      </p:sp>
      <p:sp>
        <p:nvSpPr>
          <p:cNvPr name="TextBox 23" id="23"/>
          <p:cNvSpPr txBox="true"/>
          <p:nvPr/>
        </p:nvSpPr>
        <p:spPr>
          <a:xfrm rot="0">
            <a:off x="10005012" y="4479836"/>
            <a:ext cx="5697883" cy="1581120"/>
          </a:xfrm>
          <a:prstGeom prst="rect">
            <a:avLst/>
          </a:prstGeom>
        </p:spPr>
        <p:txBody>
          <a:bodyPr anchor="t" rtlCol="false" tIns="0" lIns="0" bIns="0" rIns="0">
            <a:spAutoFit/>
          </a:bodyPr>
          <a:lstStyle/>
          <a:p>
            <a:pPr algn="ctr">
              <a:lnSpc>
                <a:spcPts val="4201"/>
              </a:lnSpc>
            </a:pPr>
            <a:r>
              <a:rPr lang="en-US" sz="3001">
                <a:solidFill>
                  <a:srgbClr val="000000"/>
                </a:solidFill>
                <a:latin typeface="TT Phobos"/>
                <a:ea typeface="TT Phobos"/>
                <a:cs typeface="TT Phobos"/>
                <a:sym typeface="TT Phobos"/>
              </a:rPr>
              <a:t>The glow comes from hot magma or lava close to the surface.</a:t>
            </a:r>
          </a:p>
        </p:txBody>
      </p:sp>
      <p:sp>
        <p:nvSpPr>
          <p:cNvPr name="TextBox 24" id="24"/>
          <p:cNvSpPr txBox="true"/>
          <p:nvPr/>
        </p:nvSpPr>
        <p:spPr>
          <a:xfrm rot="0">
            <a:off x="6209010" y="6699734"/>
            <a:ext cx="5943319" cy="919646"/>
          </a:xfrm>
          <a:prstGeom prst="rect">
            <a:avLst/>
          </a:prstGeom>
        </p:spPr>
        <p:txBody>
          <a:bodyPr anchor="t" rtlCol="false" tIns="0" lIns="0" bIns="0" rIns="0">
            <a:spAutoFit/>
          </a:bodyPr>
          <a:lstStyle/>
          <a:p>
            <a:pPr algn="ctr">
              <a:lnSpc>
                <a:spcPts val="3741"/>
              </a:lnSpc>
            </a:pPr>
            <a:r>
              <a:rPr lang="en-US" sz="2672" b="true">
                <a:solidFill>
                  <a:srgbClr val="000000"/>
                </a:solidFill>
                <a:latin typeface="TT Phobos Bold"/>
                <a:ea typeface="TT Phobos Bold"/>
                <a:cs typeface="TT Phobos Bold"/>
                <a:sym typeface="TT Phobos Bold"/>
              </a:rPr>
              <a:t>•Rockfalls or small explosions</a:t>
            </a:r>
          </a:p>
          <a:p>
            <a:pPr algn="ctr">
              <a:lnSpc>
                <a:spcPts val="3741"/>
              </a:lnSpc>
            </a:pPr>
          </a:p>
        </p:txBody>
      </p:sp>
      <p:sp>
        <p:nvSpPr>
          <p:cNvPr name="TextBox 25" id="25"/>
          <p:cNvSpPr txBox="true"/>
          <p:nvPr/>
        </p:nvSpPr>
        <p:spPr>
          <a:xfrm rot="0">
            <a:off x="6609806" y="7720539"/>
            <a:ext cx="5263313" cy="1433677"/>
          </a:xfrm>
          <a:prstGeom prst="rect">
            <a:avLst/>
          </a:prstGeom>
        </p:spPr>
        <p:txBody>
          <a:bodyPr anchor="t" rtlCol="false" tIns="0" lIns="0" bIns="0" rIns="0">
            <a:spAutoFit/>
          </a:bodyPr>
          <a:lstStyle/>
          <a:p>
            <a:pPr algn="ctr">
              <a:lnSpc>
                <a:spcPts val="3823"/>
              </a:lnSpc>
            </a:pPr>
            <a:r>
              <a:rPr lang="en-US" sz="2731">
                <a:solidFill>
                  <a:srgbClr val="000000"/>
                </a:solidFill>
                <a:latin typeface="TT Phobos"/>
                <a:ea typeface="TT Phobos"/>
                <a:cs typeface="TT Phobos"/>
                <a:sym typeface="TT Phobos"/>
              </a:rPr>
              <a:t>These happen as pressure increases and the volcano becomes more unstable.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AE88"/>
        </a:solidFill>
      </p:bgPr>
    </p:bg>
    <p:spTree>
      <p:nvGrpSpPr>
        <p:cNvPr id="1" name=""/>
        <p:cNvGrpSpPr/>
        <p:nvPr/>
      </p:nvGrpSpPr>
      <p:grpSpPr>
        <a:xfrm>
          <a:off x="0" y="0"/>
          <a:ext cx="0" cy="0"/>
          <a:chOff x="0" y="0"/>
          <a:chExt cx="0" cy="0"/>
        </a:xfrm>
      </p:grpSpPr>
      <p:grpSp>
        <p:nvGrpSpPr>
          <p:cNvPr name="Group 2" id="2"/>
          <p:cNvGrpSpPr/>
          <p:nvPr/>
        </p:nvGrpSpPr>
        <p:grpSpPr>
          <a:xfrm rot="0">
            <a:off x="506196" y="673547"/>
            <a:ext cx="17275609" cy="8883633"/>
            <a:chOff x="0" y="0"/>
            <a:chExt cx="4549955" cy="2339722"/>
          </a:xfrm>
        </p:grpSpPr>
        <p:sp>
          <p:nvSpPr>
            <p:cNvPr name="Freeform 3" id="3"/>
            <p:cNvSpPr/>
            <p:nvPr/>
          </p:nvSpPr>
          <p:spPr>
            <a:xfrm flipH="false" flipV="false" rot="0">
              <a:off x="0" y="0"/>
              <a:ext cx="4549954" cy="2339722"/>
            </a:xfrm>
            <a:custGeom>
              <a:avLst/>
              <a:gdLst/>
              <a:ahLst/>
              <a:cxnLst/>
              <a:rect r="r" b="b" t="t" l="l"/>
              <a:pathLst>
                <a:path h="2339722" w="4549954">
                  <a:moveTo>
                    <a:pt x="22855" y="0"/>
                  </a:moveTo>
                  <a:lnTo>
                    <a:pt x="4527099" y="0"/>
                  </a:lnTo>
                  <a:cubicBezTo>
                    <a:pt x="4539722" y="0"/>
                    <a:pt x="4549954" y="10233"/>
                    <a:pt x="4549954" y="22855"/>
                  </a:cubicBezTo>
                  <a:lnTo>
                    <a:pt x="4549954" y="2316867"/>
                  </a:lnTo>
                  <a:cubicBezTo>
                    <a:pt x="4549954" y="2329490"/>
                    <a:pt x="4539722" y="2339722"/>
                    <a:pt x="4527099" y="2339722"/>
                  </a:cubicBezTo>
                  <a:lnTo>
                    <a:pt x="22855" y="2339722"/>
                  </a:lnTo>
                  <a:cubicBezTo>
                    <a:pt x="10233" y="2339722"/>
                    <a:pt x="0" y="2329490"/>
                    <a:pt x="0" y="2316867"/>
                  </a:cubicBezTo>
                  <a:lnTo>
                    <a:pt x="0" y="22855"/>
                  </a:lnTo>
                  <a:cubicBezTo>
                    <a:pt x="0" y="10233"/>
                    <a:pt x="10233" y="0"/>
                    <a:pt x="22855" y="0"/>
                  </a:cubicBezTo>
                  <a:close/>
                </a:path>
              </a:pathLst>
            </a:custGeom>
            <a:solidFill>
              <a:srgbClr val="EDF0F4"/>
            </a:solidFill>
            <a:ln w="28575" cap="rnd">
              <a:solidFill>
                <a:srgbClr val="000000"/>
              </a:solidFill>
              <a:prstDash val="solid"/>
              <a:round/>
            </a:ln>
          </p:spPr>
        </p:sp>
        <p:sp>
          <p:nvSpPr>
            <p:cNvPr name="TextBox 4" id="4"/>
            <p:cNvSpPr txBox="true"/>
            <p:nvPr/>
          </p:nvSpPr>
          <p:spPr>
            <a:xfrm>
              <a:off x="0" y="-38100"/>
              <a:ext cx="4549955" cy="237782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1214011"/>
            <a:ext cx="12170782" cy="3777089"/>
            <a:chOff x="0" y="0"/>
            <a:chExt cx="3205473" cy="994789"/>
          </a:xfrm>
        </p:grpSpPr>
        <p:sp>
          <p:nvSpPr>
            <p:cNvPr name="Freeform 6" id="6"/>
            <p:cNvSpPr/>
            <p:nvPr/>
          </p:nvSpPr>
          <p:spPr>
            <a:xfrm flipH="false" flipV="false" rot="0">
              <a:off x="0" y="0"/>
              <a:ext cx="3205474" cy="994789"/>
            </a:xfrm>
            <a:custGeom>
              <a:avLst/>
              <a:gdLst/>
              <a:ahLst/>
              <a:cxnLst/>
              <a:rect r="r" b="b" t="t" l="l"/>
              <a:pathLst>
                <a:path h="994789" w="3205474">
                  <a:moveTo>
                    <a:pt x="0" y="0"/>
                  </a:moveTo>
                  <a:lnTo>
                    <a:pt x="3205474" y="0"/>
                  </a:lnTo>
                  <a:lnTo>
                    <a:pt x="3205474" y="994789"/>
                  </a:lnTo>
                  <a:lnTo>
                    <a:pt x="0" y="994789"/>
                  </a:lnTo>
                  <a:close/>
                </a:path>
              </a:pathLst>
            </a:custGeom>
            <a:solidFill>
              <a:srgbClr val="F3AE88"/>
            </a:solidFill>
            <a:ln w="28575" cap="sq">
              <a:solidFill>
                <a:srgbClr val="231F20"/>
              </a:solidFill>
              <a:prstDash val="solid"/>
              <a:miter/>
            </a:ln>
          </p:spPr>
        </p:sp>
        <p:sp>
          <p:nvSpPr>
            <p:cNvPr name="TextBox 7" id="7"/>
            <p:cNvSpPr txBox="true"/>
            <p:nvPr/>
          </p:nvSpPr>
          <p:spPr>
            <a:xfrm>
              <a:off x="0" y="-38100"/>
              <a:ext cx="3205473" cy="103288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029633" y="5295900"/>
            <a:ext cx="12169849" cy="3777089"/>
            <a:chOff x="0" y="0"/>
            <a:chExt cx="3205228" cy="994789"/>
          </a:xfrm>
        </p:grpSpPr>
        <p:sp>
          <p:nvSpPr>
            <p:cNvPr name="Freeform 9" id="9"/>
            <p:cNvSpPr/>
            <p:nvPr/>
          </p:nvSpPr>
          <p:spPr>
            <a:xfrm flipH="false" flipV="false" rot="0">
              <a:off x="0" y="0"/>
              <a:ext cx="3205228" cy="994789"/>
            </a:xfrm>
            <a:custGeom>
              <a:avLst/>
              <a:gdLst/>
              <a:ahLst/>
              <a:cxnLst/>
              <a:rect r="r" b="b" t="t" l="l"/>
              <a:pathLst>
                <a:path h="994789" w="3205228">
                  <a:moveTo>
                    <a:pt x="0" y="0"/>
                  </a:moveTo>
                  <a:lnTo>
                    <a:pt x="3205228" y="0"/>
                  </a:lnTo>
                  <a:lnTo>
                    <a:pt x="3205228" y="994789"/>
                  </a:lnTo>
                  <a:lnTo>
                    <a:pt x="0" y="994789"/>
                  </a:lnTo>
                  <a:close/>
                </a:path>
              </a:pathLst>
            </a:custGeom>
            <a:solidFill>
              <a:srgbClr val="FDE7DB"/>
            </a:solidFill>
            <a:ln w="28575" cap="sq">
              <a:solidFill>
                <a:srgbClr val="231F20"/>
              </a:solidFill>
              <a:prstDash val="solid"/>
              <a:miter/>
            </a:ln>
          </p:spPr>
        </p:sp>
        <p:sp>
          <p:nvSpPr>
            <p:cNvPr name="TextBox 10" id="10"/>
            <p:cNvSpPr txBox="true"/>
            <p:nvPr/>
          </p:nvSpPr>
          <p:spPr>
            <a:xfrm>
              <a:off x="0" y="-38100"/>
              <a:ext cx="3205228" cy="1032889"/>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3477875" y="5295900"/>
            <a:ext cx="3777089" cy="3777089"/>
            <a:chOff x="0" y="0"/>
            <a:chExt cx="994789" cy="994789"/>
          </a:xfrm>
        </p:grpSpPr>
        <p:sp>
          <p:nvSpPr>
            <p:cNvPr name="Freeform 12" id="12"/>
            <p:cNvSpPr/>
            <p:nvPr/>
          </p:nvSpPr>
          <p:spPr>
            <a:xfrm flipH="false" flipV="false" rot="0">
              <a:off x="0" y="0"/>
              <a:ext cx="994789" cy="994789"/>
            </a:xfrm>
            <a:custGeom>
              <a:avLst/>
              <a:gdLst/>
              <a:ahLst/>
              <a:cxnLst/>
              <a:rect r="r" b="b" t="t" l="l"/>
              <a:pathLst>
                <a:path h="994789" w="994789">
                  <a:moveTo>
                    <a:pt x="0" y="0"/>
                  </a:moveTo>
                  <a:lnTo>
                    <a:pt x="994789" y="0"/>
                  </a:lnTo>
                  <a:lnTo>
                    <a:pt x="994789" y="994789"/>
                  </a:lnTo>
                  <a:lnTo>
                    <a:pt x="0" y="994789"/>
                  </a:lnTo>
                  <a:close/>
                </a:path>
              </a:pathLst>
            </a:custGeom>
            <a:solidFill>
              <a:srgbClr val="FFFFFF"/>
            </a:solidFill>
            <a:ln w="19050" cap="sq">
              <a:solidFill>
                <a:srgbClr val="000000"/>
              </a:solidFill>
              <a:prstDash val="solid"/>
              <a:miter/>
            </a:ln>
          </p:spPr>
        </p:sp>
        <p:sp>
          <p:nvSpPr>
            <p:cNvPr name="TextBox 13" id="13"/>
            <p:cNvSpPr txBox="true"/>
            <p:nvPr/>
          </p:nvSpPr>
          <p:spPr>
            <a:xfrm>
              <a:off x="0" y="-38100"/>
              <a:ext cx="994789" cy="1032889"/>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3580823" y="5668936"/>
            <a:ext cx="3674141" cy="2865830"/>
          </a:xfrm>
          <a:custGeom>
            <a:avLst/>
            <a:gdLst/>
            <a:ahLst/>
            <a:cxnLst/>
            <a:rect r="r" b="b" t="t" l="l"/>
            <a:pathLst>
              <a:path h="2865830" w="3674141">
                <a:moveTo>
                  <a:pt x="0" y="0"/>
                </a:moveTo>
                <a:lnTo>
                  <a:pt x="3674141" y="0"/>
                </a:lnTo>
                <a:lnTo>
                  <a:pt x="3674141" y="2865830"/>
                </a:lnTo>
                <a:lnTo>
                  <a:pt x="0" y="28658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3580823" y="2005225"/>
            <a:ext cx="3571193" cy="2194660"/>
          </a:xfrm>
          <a:custGeom>
            <a:avLst/>
            <a:gdLst/>
            <a:ahLst/>
            <a:cxnLst/>
            <a:rect r="r" b="b" t="t" l="l"/>
            <a:pathLst>
              <a:path h="2194660" w="3571193">
                <a:moveTo>
                  <a:pt x="0" y="0"/>
                </a:moveTo>
                <a:lnTo>
                  <a:pt x="3571193" y="0"/>
                </a:lnTo>
                <a:lnTo>
                  <a:pt x="3571193" y="2194661"/>
                </a:lnTo>
                <a:lnTo>
                  <a:pt x="0" y="21946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1196866" y="1382316"/>
            <a:ext cx="12002616" cy="3354754"/>
          </a:xfrm>
          <a:prstGeom prst="rect">
            <a:avLst/>
          </a:prstGeom>
        </p:spPr>
        <p:txBody>
          <a:bodyPr anchor="t" rtlCol="false" tIns="0" lIns="0" bIns="0" rIns="0">
            <a:spAutoFit/>
          </a:bodyPr>
          <a:lstStyle/>
          <a:p>
            <a:pPr algn="l">
              <a:lnSpc>
                <a:spcPts val="8072"/>
              </a:lnSpc>
            </a:pPr>
            <a:r>
              <a:rPr lang="en-US" sz="8072">
                <a:solidFill>
                  <a:srgbClr val="000000"/>
                </a:solidFill>
                <a:latin typeface="Hertical Rough"/>
                <a:ea typeface="Hertical Rough"/>
                <a:cs typeface="Hertical Rough"/>
                <a:sym typeface="Hertical Rough"/>
              </a:rPr>
              <a:t>What To Do When Warning Signs Appear?</a:t>
            </a:r>
          </a:p>
        </p:txBody>
      </p:sp>
      <p:sp>
        <p:nvSpPr>
          <p:cNvPr name="TextBox 17" id="17"/>
          <p:cNvSpPr txBox="true"/>
          <p:nvPr/>
        </p:nvSpPr>
        <p:spPr>
          <a:xfrm rot="0">
            <a:off x="1397424" y="5940450"/>
            <a:ext cx="10845617" cy="2411790"/>
          </a:xfrm>
          <a:prstGeom prst="rect">
            <a:avLst/>
          </a:prstGeom>
        </p:spPr>
        <p:txBody>
          <a:bodyPr anchor="t" rtlCol="false" tIns="0" lIns="0" bIns="0" rIns="0">
            <a:spAutoFit/>
          </a:bodyPr>
          <a:lstStyle/>
          <a:p>
            <a:pPr algn="l">
              <a:lnSpc>
                <a:spcPts val="4805"/>
              </a:lnSpc>
              <a:spcBef>
                <a:spcPct val="0"/>
              </a:spcBef>
            </a:pPr>
            <a:r>
              <a:rPr lang="en-US" sz="3432">
                <a:solidFill>
                  <a:srgbClr val="000000"/>
                </a:solidFill>
                <a:latin typeface="TT Phobos"/>
                <a:ea typeface="TT Phobos"/>
                <a:cs typeface="TT Phobos"/>
                <a:sym typeface="TT Phobos"/>
              </a:rPr>
              <a:t>Stay updated with official announcements, prepare an emergency kit, follow evacuation orders immediately, and avoid restricted danger zones to stay safe during a volcanic event.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8B5CD"/>
        </a:solidFill>
      </p:bgPr>
    </p:bg>
    <p:spTree>
      <p:nvGrpSpPr>
        <p:cNvPr id="1" name=""/>
        <p:cNvGrpSpPr/>
        <p:nvPr/>
      </p:nvGrpSpPr>
      <p:grpSpPr>
        <a:xfrm>
          <a:off x="0" y="0"/>
          <a:ext cx="0" cy="0"/>
          <a:chOff x="0" y="0"/>
          <a:chExt cx="0" cy="0"/>
        </a:xfrm>
      </p:grpSpPr>
      <p:grpSp>
        <p:nvGrpSpPr>
          <p:cNvPr name="Group 2" id="2"/>
          <p:cNvGrpSpPr/>
          <p:nvPr/>
        </p:nvGrpSpPr>
        <p:grpSpPr>
          <a:xfrm rot="0">
            <a:off x="506196" y="701683"/>
            <a:ext cx="17275609" cy="8883633"/>
            <a:chOff x="0" y="0"/>
            <a:chExt cx="4549955" cy="2339722"/>
          </a:xfrm>
        </p:grpSpPr>
        <p:sp>
          <p:nvSpPr>
            <p:cNvPr name="Freeform 3" id="3"/>
            <p:cNvSpPr/>
            <p:nvPr/>
          </p:nvSpPr>
          <p:spPr>
            <a:xfrm flipH="false" flipV="false" rot="0">
              <a:off x="0" y="0"/>
              <a:ext cx="4549954" cy="2339722"/>
            </a:xfrm>
            <a:custGeom>
              <a:avLst/>
              <a:gdLst/>
              <a:ahLst/>
              <a:cxnLst/>
              <a:rect r="r" b="b" t="t" l="l"/>
              <a:pathLst>
                <a:path h="2339722" w="4549954">
                  <a:moveTo>
                    <a:pt x="22855" y="0"/>
                  </a:moveTo>
                  <a:lnTo>
                    <a:pt x="4527099" y="0"/>
                  </a:lnTo>
                  <a:cubicBezTo>
                    <a:pt x="4539722" y="0"/>
                    <a:pt x="4549954" y="10233"/>
                    <a:pt x="4549954" y="22855"/>
                  </a:cubicBezTo>
                  <a:lnTo>
                    <a:pt x="4549954" y="2316867"/>
                  </a:lnTo>
                  <a:cubicBezTo>
                    <a:pt x="4549954" y="2329490"/>
                    <a:pt x="4539722" y="2339722"/>
                    <a:pt x="4527099" y="2339722"/>
                  </a:cubicBezTo>
                  <a:lnTo>
                    <a:pt x="22855" y="2339722"/>
                  </a:lnTo>
                  <a:cubicBezTo>
                    <a:pt x="10233" y="2339722"/>
                    <a:pt x="0" y="2329490"/>
                    <a:pt x="0" y="2316867"/>
                  </a:cubicBezTo>
                  <a:lnTo>
                    <a:pt x="0" y="22855"/>
                  </a:lnTo>
                  <a:cubicBezTo>
                    <a:pt x="0" y="10233"/>
                    <a:pt x="10233" y="0"/>
                    <a:pt x="22855" y="0"/>
                  </a:cubicBezTo>
                  <a:close/>
                </a:path>
              </a:pathLst>
            </a:custGeom>
            <a:solidFill>
              <a:srgbClr val="EDF0F4"/>
            </a:solidFill>
            <a:ln w="28575" cap="rnd">
              <a:solidFill>
                <a:srgbClr val="000000"/>
              </a:solidFill>
              <a:prstDash val="solid"/>
              <a:round/>
            </a:ln>
          </p:spPr>
        </p:sp>
        <p:sp>
          <p:nvSpPr>
            <p:cNvPr name="TextBox 4" id="4"/>
            <p:cNvSpPr txBox="true"/>
            <p:nvPr/>
          </p:nvSpPr>
          <p:spPr>
            <a:xfrm>
              <a:off x="0" y="-38100"/>
              <a:ext cx="4549955" cy="2377822"/>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1436032"/>
            <a:ext cx="16643154" cy="902991"/>
          </a:xfrm>
          <a:prstGeom prst="rect">
            <a:avLst/>
          </a:prstGeom>
        </p:spPr>
        <p:txBody>
          <a:bodyPr anchor="t" rtlCol="false" tIns="0" lIns="0" bIns="0" rIns="0">
            <a:spAutoFit/>
          </a:bodyPr>
          <a:lstStyle/>
          <a:p>
            <a:pPr algn="ctr">
              <a:lnSpc>
                <a:spcPts val="5714"/>
              </a:lnSpc>
            </a:pPr>
            <a:r>
              <a:rPr lang="en-US" sz="5242">
                <a:solidFill>
                  <a:srgbClr val="000000"/>
                </a:solidFill>
                <a:latin typeface="Hertical Rough"/>
                <a:ea typeface="Hertical Rough"/>
                <a:cs typeface="Hertical Rough"/>
                <a:sym typeface="Hertical Rough"/>
              </a:rPr>
              <a:t>Conclusion</a:t>
            </a:r>
          </a:p>
        </p:txBody>
      </p:sp>
      <p:sp>
        <p:nvSpPr>
          <p:cNvPr name="Freeform 6" id="6"/>
          <p:cNvSpPr/>
          <p:nvPr/>
        </p:nvSpPr>
        <p:spPr>
          <a:xfrm flipH="false" flipV="false" rot="638683">
            <a:off x="-775169" y="7162904"/>
            <a:ext cx="6675923" cy="4527490"/>
          </a:xfrm>
          <a:custGeom>
            <a:avLst/>
            <a:gdLst/>
            <a:ahLst/>
            <a:cxnLst/>
            <a:rect r="r" b="b" t="t" l="l"/>
            <a:pathLst>
              <a:path h="4527490" w="6675923">
                <a:moveTo>
                  <a:pt x="0" y="0"/>
                </a:moveTo>
                <a:lnTo>
                  <a:pt x="6675923" y="0"/>
                </a:lnTo>
                <a:lnTo>
                  <a:pt x="6675923" y="4527490"/>
                </a:lnTo>
                <a:lnTo>
                  <a:pt x="0" y="45274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726001">
            <a:off x="12603906" y="6939409"/>
            <a:ext cx="6377536" cy="4974478"/>
          </a:xfrm>
          <a:custGeom>
            <a:avLst/>
            <a:gdLst/>
            <a:ahLst/>
            <a:cxnLst/>
            <a:rect r="r" b="b" t="t" l="l"/>
            <a:pathLst>
              <a:path h="4974478" w="6377536">
                <a:moveTo>
                  <a:pt x="0" y="0"/>
                </a:moveTo>
                <a:lnTo>
                  <a:pt x="6377537" y="0"/>
                </a:lnTo>
                <a:lnTo>
                  <a:pt x="6377537" y="4974479"/>
                </a:lnTo>
                <a:lnTo>
                  <a:pt x="0" y="49744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73930">
            <a:off x="9215145" y="7334024"/>
            <a:ext cx="5150129" cy="3848551"/>
          </a:xfrm>
          <a:custGeom>
            <a:avLst/>
            <a:gdLst/>
            <a:ahLst/>
            <a:cxnLst/>
            <a:rect r="r" b="b" t="t" l="l"/>
            <a:pathLst>
              <a:path h="3848551" w="5150129">
                <a:moveTo>
                  <a:pt x="0" y="0"/>
                </a:moveTo>
                <a:lnTo>
                  <a:pt x="5150130" y="0"/>
                </a:lnTo>
                <a:lnTo>
                  <a:pt x="5150130" y="3848552"/>
                </a:lnTo>
                <a:lnTo>
                  <a:pt x="0" y="3848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52864">
            <a:off x="4375140" y="7769384"/>
            <a:ext cx="6199583" cy="4373524"/>
          </a:xfrm>
          <a:custGeom>
            <a:avLst/>
            <a:gdLst/>
            <a:ahLst/>
            <a:cxnLst/>
            <a:rect r="r" b="b" t="t" l="l"/>
            <a:pathLst>
              <a:path h="4373524" w="6199583">
                <a:moveTo>
                  <a:pt x="0" y="0"/>
                </a:moveTo>
                <a:lnTo>
                  <a:pt x="6199583" y="0"/>
                </a:lnTo>
                <a:lnTo>
                  <a:pt x="6199583" y="4373524"/>
                </a:lnTo>
                <a:lnTo>
                  <a:pt x="0" y="43735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2120097" y="2777602"/>
            <a:ext cx="14047805" cy="2785715"/>
          </a:xfrm>
          <a:prstGeom prst="rect">
            <a:avLst/>
          </a:prstGeom>
        </p:spPr>
        <p:txBody>
          <a:bodyPr anchor="t" rtlCol="false" tIns="0" lIns="0" bIns="0" rIns="0">
            <a:spAutoFit/>
          </a:bodyPr>
          <a:lstStyle/>
          <a:p>
            <a:pPr algn="ctr">
              <a:lnSpc>
                <a:spcPts val="4481"/>
              </a:lnSpc>
            </a:pPr>
            <a:r>
              <a:rPr lang="en-US" sz="3201">
                <a:solidFill>
                  <a:srgbClr val="000000"/>
                </a:solidFill>
                <a:latin typeface="TT Phobos"/>
                <a:ea typeface="TT Phobos"/>
                <a:cs typeface="TT Phobos"/>
                <a:sym typeface="TT Phobos"/>
              </a:rPr>
              <a:t>Volcanoes often show warning signs before erupting, including frequent earthquakes, changes in gas emissions, rising heat, and swelling or cracking of the ground, and being aware of these signs early, while following guidance from authorities, can help save lives and allow for timely evacuation and preparation.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DAG-NjqLlc0</dc:identifier>
  <dcterms:modified xsi:type="dcterms:W3CDTF">2011-08-01T06:04:30Z</dcterms:modified>
  <cp:revision>1</cp:revision>
  <dc:title>Integrating Information from Two Texts Presentation in Pastel Hand Drawn Style</dc:title>
</cp:coreProperties>
</file>