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ublic Sans Bold" charset="1" panose="00000000000000000000"/>
      <p:regular r:id="rId23"/>
    </p:embeddedFont>
    <p:embeddedFont>
      <p:font typeface="Open Sans" charset="1" panose="020B0606030504020204"/>
      <p:regular r:id="rId24"/>
    </p:embeddedFont>
    <p:embeddedFont>
      <p:font typeface="Tagamo3" charset="1" panose="020B0704020202020204"/>
      <p:regular r:id="rId25"/>
    </p:embeddedFont>
    <p:embeddedFont>
      <p:font typeface="Tahoma" charset="1" panose="020B0604030504040204"/>
      <p:regular r:id="rId26"/>
    </p:embeddedFont>
    <p:embeddedFont>
      <p:font typeface="Public Sans" charset="1" panose="00000000000000000000"/>
      <p:regular r:id="rId27"/>
    </p:embeddedFont>
    <p:embeddedFont>
      <p:font typeface="Questrial" charset="1" panose="02000000000000000000"/>
      <p:regular r:id="rId28"/>
    </p:embeddedFont>
    <p:embeddedFont>
      <p:font typeface="Tahoma Bold" charset="1" panose="020B080403050404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 Id="rId4" Target="../media/image1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23.jpeg" Type="http://schemas.openxmlformats.org/officeDocument/2006/relationships/image"/><Relationship Id="rId4" Target="../media/image24.jpeg" Type="http://schemas.openxmlformats.org/officeDocument/2006/relationships/image"/><Relationship Id="rId5"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 Id="rId3" Target="../media/image2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F1EF"/>
        </a:solidFill>
      </p:bgPr>
    </p:bg>
    <p:spTree>
      <p:nvGrpSpPr>
        <p:cNvPr id="1" name=""/>
        <p:cNvGrpSpPr/>
        <p:nvPr/>
      </p:nvGrpSpPr>
      <p:grpSpPr>
        <a:xfrm>
          <a:off x="0" y="0"/>
          <a:ext cx="0" cy="0"/>
          <a:chOff x="0" y="0"/>
          <a:chExt cx="0" cy="0"/>
        </a:xfrm>
      </p:grpSpPr>
      <p:grpSp>
        <p:nvGrpSpPr>
          <p:cNvPr name="Group 2" id="2"/>
          <p:cNvGrpSpPr/>
          <p:nvPr/>
        </p:nvGrpSpPr>
        <p:grpSpPr>
          <a:xfrm rot="0">
            <a:off x="2576346" y="6983719"/>
            <a:ext cx="13135307" cy="1313530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DBD"/>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972800" y="7618691"/>
            <a:ext cx="7315200" cy="2726575"/>
          </a:xfrm>
          <a:custGeom>
            <a:avLst/>
            <a:gdLst/>
            <a:ahLst/>
            <a:cxnLst/>
            <a:rect r="r" b="b" t="t" l="l"/>
            <a:pathLst>
              <a:path h="2726575" w="7315200">
                <a:moveTo>
                  <a:pt x="0" y="0"/>
                </a:moveTo>
                <a:lnTo>
                  <a:pt x="7315200" y="0"/>
                </a:lnTo>
                <a:lnTo>
                  <a:pt x="7315200" y="2726575"/>
                </a:lnTo>
                <a:lnTo>
                  <a:pt x="0" y="272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00054" y="6230466"/>
            <a:ext cx="6559826" cy="4114800"/>
          </a:xfrm>
          <a:custGeom>
            <a:avLst/>
            <a:gdLst/>
            <a:ahLst/>
            <a:cxnLst/>
            <a:rect r="r" b="b" t="t" l="l"/>
            <a:pathLst>
              <a:path h="4114800" w="6559826">
                <a:moveTo>
                  <a:pt x="0" y="0"/>
                </a:moveTo>
                <a:lnTo>
                  <a:pt x="6559826" y="0"/>
                </a:lnTo>
                <a:lnTo>
                  <a:pt x="655982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259772" y="8094941"/>
            <a:ext cx="4788354" cy="3404084"/>
          </a:xfrm>
          <a:custGeom>
            <a:avLst/>
            <a:gdLst/>
            <a:ahLst/>
            <a:cxnLst/>
            <a:rect r="r" b="b" t="t" l="l"/>
            <a:pathLst>
              <a:path h="3404084" w="4788354">
                <a:moveTo>
                  <a:pt x="0" y="0"/>
                </a:moveTo>
                <a:lnTo>
                  <a:pt x="4788354" y="0"/>
                </a:lnTo>
                <a:lnTo>
                  <a:pt x="4788354" y="3404085"/>
                </a:lnTo>
                <a:lnTo>
                  <a:pt x="0" y="3404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908884" y="2669591"/>
            <a:ext cx="7315200" cy="2487168"/>
          </a:xfrm>
          <a:custGeom>
            <a:avLst/>
            <a:gdLst/>
            <a:ahLst/>
            <a:cxnLst/>
            <a:rect r="r" b="b" t="t" l="l"/>
            <a:pathLst>
              <a:path h="2487168" w="7315200">
                <a:moveTo>
                  <a:pt x="0" y="0"/>
                </a:moveTo>
                <a:lnTo>
                  <a:pt x="7315200" y="0"/>
                </a:lnTo>
                <a:lnTo>
                  <a:pt x="7315200" y="2487168"/>
                </a:lnTo>
                <a:lnTo>
                  <a:pt x="0" y="24871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658048" y="2939361"/>
            <a:ext cx="10972352" cy="4044358"/>
          </a:xfrm>
          <a:prstGeom prst="rect">
            <a:avLst/>
          </a:prstGeom>
        </p:spPr>
        <p:txBody>
          <a:bodyPr anchor="t" rtlCol="false" tIns="0" lIns="0" bIns="0" rIns="0">
            <a:spAutoFit/>
          </a:bodyPr>
          <a:lstStyle/>
          <a:p>
            <a:pPr algn="ctr">
              <a:lnSpc>
                <a:spcPts val="7056"/>
              </a:lnSpc>
            </a:pPr>
            <a:r>
              <a:rPr lang="en-US" b="true" sz="6918" spc="-567">
                <a:solidFill>
                  <a:srgbClr val="2B6599"/>
                </a:solidFill>
                <a:latin typeface="Public Sans Bold"/>
                <a:ea typeface="Public Sans Bold"/>
                <a:cs typeface="Public Sans Bold"/>
                <a:sym typeface="Public Sans Bold"/>
              </a:rPr>
              <a:t>How Solar Energies Produce Power</a:t>
            </a:r>
          </a:p>
          <a:p>
            <a:pPr algn="ctr">
              <a:lnSpc>
                <a:spcPts val="7056"/>
              </a:lnSpc>
            </a:pPr>
          </a:p>
          <a:p>
            <a:pPr algn="ctr">
              <a:lnSpc>
                <a:spcPts val="3282"/>
              </a:lnSpc>
            </a:pPr>
            <a:r>
              <a:rPr lang="en-US" sz="3218" spc="-263">
                <a:solidFill>
                  <a:srgbClr val="000000"/>
                </a:solidFill>
                <a:latin typeface="Open Sans"/>
                <a:ea typeface="Open Sans"/>
                <a:cs typeface="Open Sans"/>
                <a:sym typeface="Open Sans"/>
              </a:rPr>
              <a:t>Batteries , Solar Cells , Biomass</a:t>
            </a:r>
          </a:p>
          <a:p>
            <a:pPr algn="ctr">
              <a:lnSpc>
                <a:spcPts val="7056"/>
              </a:lnSpc>
            </a:pPr>
          </a:p>
        </p:txBody>
      </p:sp>
      <p:sp>
        <p:nvSpPr>
          <p:cNvPr name="Freeform 10" id="10"/>
          <p:cNvSpPr/>
          <p:nvPr/>
        </p:nvSpPr>
        <p:spPr>
          <a:xfrm flipH="false" flipV="false" rot="0">
            <a:off x="14097207" y="1426007"/>
            <a:ext cx="7315200" cy="2487168"/>
          </a:xfrm>
          <a:custGeom>
            <a:avLst/>
            <a:gdLst/>
            <a:ahLst/>
            <a:cxnLst/>
            <a:rect r="r" b="b" t="t" l="l"/>
            <a:pathLst>
              <a:path h="2487168" w="7315200">
                <a:moveTo>
                  <a:pt x="0" y="0"/>
                </a:moveTo>
                <a:lnTo>
                  <a:pt x="7315200" y="0"/>
                </a:lnTo>
                <a:lnTo>
                  <a:pt x="7315200" y="2487168"/>
                </a:lnTo>
                <a:lnTo>
                  <a:pt x="0" y="24871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14357562" y="0"/>
            <a:ext cx="3930438" cy="10287000"/>
            <a:chOff x="0" y="0"/>
            <a:chExt cx="1035177" cy="2709333"/>
          </a:xfrm>
        </p:grpSpPr>
        <p:sp>
          <p:nvSpPr>
            <p:cNvPr name="Freeform 3" id="3"/>
            <p:cNvSpPr/>
            <p:nvPr/>
          </p:nvSpPr>
          <p:spPr>
            <a:xfrm flipH="false" flipV="false" rot="0">
              <a:off x="0" y="0"/>
              <a:ext cx="1035177" cy="2709333"/>
            </a:xfrm>
            <a:custGeom>
              <a:avLst/>
              <a:gdLst/>
              <a:ahLst/>
              <a:cxnLst/>
              <a:rect r="r" b="b" t="t" l="l"/>
              <a:pathLst>
                <a:path h="2709333" w="1035177">
                  <a:moveTo>
                    <a:pt x="0" y="0"/>
                  </a:moveTo>
                  <a:lnTo>
                    <a:pt x="1035177" y="0"/>
                  </a:lnTo>
                  <a:lnTo>
                    <a:pt x="1035177" y="2709333"/>
                  </a:lnTo>
                  <a:lnTo>
                    <a:pt x="0" y="2709333"/>
                  </a:lnTo>
                  <a:close/>
                </a:path>
              </a:pathLst>
            </a:custGeom>
            <a:solidFill>
              <a:srgbClr val="EDF1EF"/>
            </a:solidFill>
          </p:spPr>
        </p:sp>
        <p:sp>
          <p:nvSpPr>
            <p:cNvPr name="TextBox 4" id="4"/>
            <p:cNvSpPr txBox="true"/>
            <p:nvPr/>
          </p:nvSpPr>
          <p:spPr>
            <a:xfrm>
              <a:off x="0" y="-38100"/>
              <a:ext cx="1035177"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484368" y="1788798"/>
            <a:ext cx="5657501" cy="5972410"/>
          </a:xfrm>
          <a:custGeom>
            <a:avLst/>
            <a:gdLst/>
            <a:ahLst/>
            <a:cxnLst/>
            <a:rect r="r" b="b" t="t" l="l"/>
            <a:pathLst>
              <a:path h="5972410" w="5657501">
                <a:moveTo>
                  <a:pt x="0" y="0"/>
                </a:moveTo>
                <a:lnTo>
                  <a:pt x="5657502" y="0"/>
                </a:lnTo>
                <a:lnTo>
                  <a:pt x="5657502" y="5972411"/>
                </a:lnTo>
                <a:lnTo>
                  <a:pt x="0" y="59724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344560" y="408239"/>
            <a:ext cx="13598880" cy="799969"/>
          </a:xfrm>
          <a:prstGeom prst="rect">
            <a:avLst/>
          </a:prstGeom>
        </p:spPr>
        <p:txBody>
          <a:bodyPr anchor="t" rtlCol="false" tIns="0" lIns="0" bIns="0" rIns="0">
            <a:spAutoFit/>
          </a:bodyPr>
          <a:lstStyle/>
          <a:p>
            <a:pPr algn="l">
              <a:lnSpc>
                <a:spcPts val="5935"/>
              </a:lnSpc>
            </a:pPr>
            <a:r>
              <a:rPr lang="en-US" sz="5445" spc="-446">
                <a:solidFill>
                  <a:srgbClr val="1E1E1E"/>
                </a:solidFill>
                <a:latin typeface="Tagamo3"/>
                <a:ea typeface="Tagamo3"/>
                <a:cs typeface="Tagamo3"/>
                <a:sym typeface="Tagamo3"/>
              </a:rPr>
              <a:t> Overview of Energy Sources from the Sun</a:t>
            </a:r>
          </a:p>
        </p:txBody>
      </p:sp>
      <p:sp>
        <p:nvSpPr>
          <p:cNvPr name="TextBox 7" id="7"/>
          <p:cNvSpPr txBox="true"/>
          <p:nvPr/>
        </p:nvSpPr>
        <p:spPr>
          <a:xfrm rot="0">
            <a:off x="747049" y="2837886"/>
            <a:ext cx="3356418" cy="5701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2. Wind Energy</a:t>
            </a:r>
          </a:p>
        </p:txBody>
      </p:sp>
      <p:sp>
        <p:nvSpPr>
          <p:cNvPr name="Freeform 8" id="8"/>
          <p:cNvSpPr/>
          <p:nvPr/>
        </p:nvSpPr>
        <p:spPr>
          <a:xfrm flipH="false" flipV="false" rot="0">
            <a:off x="16687833" y="8686833"/>
            <a:ext cx="571467" cy="571467"/>
          </a:xfrm>
          <a:custGeom>
            <a:avLst/>
            <a:gdLst/>
            <a:ahLst/>
            <a:cxnLst/>
            <a:rect r="r" b="b" t="t" l="l"/>
            <a:pathLst>
              <a:path h="571467" w="571467">
                <a:moveTo>
                  <a:pt x="0" y="0"/>
                </a:moveTo>
                <a:lnTo>
                  <a:pt x="571467" y="0"/>
                </a:lnTo>
                <a:lnTo>
                  <a:pt x="571467" y="571467"/>
                </a:lnTo>
                <a:lnTo>
                  <a:pt x="0" y="5714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47049" y="2147916"/>
            <a:ext cx="3356418" cy="5701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1. Solar Energy</a:t>
            </a:r>
          </a:p>
        </p:txBody>
      </p:sp>
      <p:sp>
        <p:nvSpPr>
          <p:cNvPr name="TextBox 10" id="10"/>
          <p:cNvSpPr txBox="true"/>
          <p:nvPr/>
        </p:nvSpPr>
        <p:spPr>
          <a:xfrm rot="0">
            <a:off x="747049" y="3463256"/>
            <a:ext cx="4759849" cy="5701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3. Hydroelectric Energy</a:t>
            </a:r>
          </a:p>
        </p:txBody>
      </p:sp>
      <p:sp>
        <p:nvSpPr>
          <p:cNvPr name="TextBox 11" id="11"/>
          <p:cNvSpPr txBox="true"/>
          <p:nvPr/>
        </p:nvSpPr>
        <p:spPr>
          <a:xfrm rot="0">
            <a:off x="747049" y="4090555"/>
            <a:ext cx="4759849" cy="5701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4. Biomass Energy</a:t>
            </a:r>
          </a:p>
        </p:txBody>
      </p:sp>
      <p:sp>
        <p:nvSpPr>
          <p:cNvPr name="TextBox 12" id="12"/>
          <p:cNvSpPr txBox="true"/>
          <p:nvPr/>
        </p:nvSpPr>
        <p:spPr>
          <a:xfrm rot="0">
            <a:off x="747049" y="4717854"/>
            <a:ext cx="5483266" cy="5701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5. Wave and Ocean Energy</a:t>
            </a:r>
          </a:p>
        </p:txBody>
      </p:sp>
      <p:sp>
        <p:nvSpPr>
          <p:cNvPr name="TextBox 13" id="13"/>
          <p:cNvSpPr txBox="true"/>
          <p:nvPr/>
        </p:nvSpPr>
        <p:spPr>
          <a:xfrm rot="0">
            <a:off x="747049" y="5345153"/>
            <a:ext cx="5483266" cy="1170224"/>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6. Fossil Fuels (Indirectly from the Sun)</a:t>
            </a:r>
          </a:p>
        </p:txBody>
      </p:sp>
      <p:sp>
        <p:nvSpPr>
          <p:cNvPr name="TextBox 14" id="14"/>
          <p:cNvSpPr txBox="true"/>
          <p:nvPr/>
        </p:nvSpPr>
        <p:spPr>
          <a:xfrm rot="0">
            <a:off x="2012548" y="6754948"/>
            <a:ext cx="11675721" cy="2970449"/>
          </a:xfrm>
          <a:prstGeom prst="rect">
            <a:avLst/>
          </a:prstGeom>
        </p:spPr>
        <p:txBody>
          <a:bodyPr anchor="t" rtlCol="false" tIns="0" lIns="0" bIns="0" rIns="0">
            <a:spAutoFit/>
          </a:bodyPr>
          <a:lstStyle/>
          <a:p>
            <a:pPr algn="l">
              <a:lnSpc>
                <a:spcPts val="4799"/>
              </a:lnSpc>
            </a:pPr>
            <a:r>
              <a:rPr lang="en-US" sz="3428">
                <a:solidFill>
                  <a:srgbClr val="000000"/>
                </a:solidFill>
                <a:latin typeface="Tahoma"/>
                <a:ea typeface="Tahoma"/>
                <a:cs typeface="Tahoma"/>
                <a:sym typeface="Tahoma"/>
              </a:rPr>
              <a:t>Almost all major energy sources on Earth can be traced back to the Sun, either directly (like solar power) or indirectly (like wind, water, and biomass). The Sun drives Earth’s climate, weather patterns, and life processes, making it the ultimate source of most of our energy.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0"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9465599" y="1987591"/>
            <a:ext cx="7362530" cy="22548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Solar Energy Basics</a:t>
            </a:r>
          </a:p>
        </p:txBody>
      </p:sp>
      <p:sp>
        <p:nvSpPr>
          <p:cNvPr name="TextBox 6" id="6"/>
          <p:cNvSpPr txBox="true"/>
          <p:nvPr/>
        </p:nvSpPr>
        <p:spPr>
          <a:xfrm rot="0">
            <a:off x="8546598" y="4166277"/>
            <a:ext cx="9379693" cy="4566217"/>
          </a:xfrm>
          <a:prstGeom prst="rect">
            <a:avLst/>
          </a:prstGeom>
        </p:spPr>
        <p:txBody>
          <a:bodyPr anchor="t" rtlCol="false" tIns="0" lIns="0" bIns="0" rIns="0">
            <a:spAutoFit/>
          </a:bodyPr>
          <a:lstStyle/>
          <a:p>
            <a:pPr algn="l">
              <a:lnSpc>
                <a:spcPts val="4518"/>
              </a:lnSpc>
            </a:pPr>
          </a:p>
          <a:p>
            <a:pPr algn="l">
              <a:lnSpc>
                <a:spcPts val="4518"/>
              </a:lnSpc>
            </a:pPr>
            <a:r>
              <a:rPr lang="en-US" sz="3227">
                <a:solidFill>
                  <a:srgbClr val="000000"/>
                </a:solidFill>
                <a:latin typeface="Questrial"/>
                <a:ea typeface="Questrial"/>
                <a:cs typeface="Questrial"/>
                <a:sym typeface="Questrial"/>
              </a:rPr>
              <a:t>Solar energy is the light and heat from the Sun that can be used to produce electricity or heat. It is clean, renewable, and does not run out. Solar panels and solar heaters use this energy to power homes, devices, and other everyday needs without causing pollution.</a:t>
            </a:r>
          </a:p>
          <a:p>
            <a:pPr algn="l">
              <a:lnSpc>
                <a:spcPts val="4518"/>
              </a:lnSpc>
            </a:pPr>
          </a:p>
        </p:txBody>
      </p:sp>
      <p:sp>
        <p:nvSpPr>
          <p:cNvPr name="Freeform 7" id="7"/>
          <p:cNvSpPr/>
          <p:nvPr/>
        </p:nvSpPr>
        <p:spPr>
          <a:xfrm flipH="false" flipV="false" rot="0">
            <a:off x="1028700" y="2157295"/>
            <a:ext cx="6137055" cy="5590299"/>
          </a:xfrm>
          <a:custGeom>
            <a:avLst/>
            <a:gdLst/>
            <a:ahLst/>
            <a:cxnLst/>
            <a:rect r="r" b="b" t="t" l="l"/>
            <a:pathLst>
              <a:path h="5590299" w="6137055">
                <a:moveTo>
                  <a:pt x="0" y="0"/>
                </a:moveTo>
                <a:lnTo>
                  <a:pt x="6137055" y="0"/>
                </a:lnTo>
                <a:lnTo>
                  <a:pt x="6137055" y="5590299"/>
                </a:lnTo>
                <a:lnTo>
                  <a:pt x="0" y="55902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10427124"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687833" y="8686833"/>
            <a:ext cx="571467" cy="571467"/>
          </a:xfrm>
          <a:custGeom>
            <a:avLst/>
            <a:gdLst/>
            <a:ahLst/>
            <a:cxnLst/>
            <a:rect r="r" b="b" t="t" l="l"/>
            <a:pathLst>
              <a:path h="571467" w="571467">
                <a:moveTo>
                  <a:pt x="0" y="0"/>
                </a:moveTo>
                <a:lnTo>
                  <a:pt x="571467" y="0"/>
                </a:lnTo>
                <a:lnTo>
                  <a:pt x="571467" y="571467"/>
                </a:lnTo>
                <a:lnTo>
                  <a:pt x="0" y="571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507843" y="2358116"/>
            <a:ext cx="5699437" cy="5906689"/>
          </a:xfrm>
          <a:custGeom>
            <a:avLst/>
            <a:gdLst/>
            <a:ahLst/>
            <a:cxnLst/>
            <a:rect r="r" b="b" t="t" l="l"/>
            <a:pathLst>
              <a:path h="5906689" w="5699437">
                <a:moveTo>
                  <a:pt x="0" y="0"/>
                </a:moveTo>
                <a:lnTo>
                  <a:pt x="5699437" y="0"/>
                </a:lnTo>
                <a:lnTo>
                  <a:pt x="5699437" y="5906689"/>
                </a:lnTo>
                <a:lnTo>
                  <a:pt x="0" y="5906689"/>
                </a:lnTo>
                <a:lnTo>
                  <a:pt x="0" y="0"/>
                </a:lnTo>
                <a:close/>
              </a:path>
            </a:pathLst>
          </a:custGeom>
          <a:blipFill>
            <a:blip r:embed="rId4"/>
            <a:stretch>
              <a:fillRect l="0" t="0" r="0" b="0"/>
            </a:stretch>
          </a:blipFill>
        </p:spPr>
      </p:sp>
      <p:sp>
        <p:nvSpPr>
          <p:cNvPr name="TextBox 7" id="7"/>
          <p:cNvSpPr txBox="true"/>
          <p:nvPr/>
        </p:nvSpPr>
        <p:spPr>
          <a:xfrm rot="0">
            <a:off x="1028700" y="940927"/>
            <a:ext cx="5436507" cy="1183883"/>
          </a:xfrm>
          <a:prstGeom prst="rect">
            <a:avLst/>
          </a:prstGeom>
        </p:spPr>
        <p:txBody>
          <a:bodyPr anchor="t" rtlCol="false" tIns="0" lIns="0" bIns="0" rIns="0">
            <a:spAutoFit/>
          </a:bodyPr>
          <a:lstStyle/>
          <a:p>
            <a:pPr algn="l">
              <a:lnSpc>
                <a:spcPts val="9031"/>
              </a:lnSpc>
            </a:pPr>
            <a:r>
              <a:rPr lang="en-US" sz="8285" spc="-679">
                <a:solidFill>
                  <a:srgbClr val="000000"/>
                </a:solidFill>
                <a:latin typeface="Public Sans"/>
                <a:ea typeface="Public Sans"/>
                <a:cs typeface="Public Sans"/>
                <a:sym typeface="Public Sans"/>
              </a:rPr>
              <a:t>Solar Cells</a:t>
            </a:r>
          </a:p>
        </p:txBody>
      </p:sp>
      <p:sp>
        <p:nvSpPr>
          <p:cNvPr name="TextBox 8" id="8"/>
          <p:cNvSpPr txBox="true"/>
          <p:nvPr/>
        </p:nvSpPr>
        <p:spPr>
          <a:xfrm rot="0">
            <a:off x="723418" y="2509369"/>
            <a:ext cx="9092317" cy="5211112"/>
          </a:xfrm>
          <a:prstGeom prst="rect">
            <a:avLst/>
          </a:prstGeom>
        </p:spPr>
        <p:txBody>
          <a:bodyPr anchor="t" rtlCol="false" tIns="0" lIns="0" bIns="0" rIns="0">
            <a:spAutoFit/>
          </a:bodyPr>
          <a:lstStyle/>
          <a:p>
            <a:pPr algn="l">
              <a:lnSpc>
                <a:spcPts val="4168"/>
              </a:lnSpc>
            </a:pPr>
          </a:p>
          <a:p>
            <a:pPr algn="l">
              <a:lnSpc>
                <a:spcPts val="4168"/>
              </a:lnSpc>
            </a:pPr>
            <a:r>
              <a:rPr lang="en-US" sz="2977">
                <a:solidFill>
                  <a:srgbClr val="000000"/>
                </a:solidFill>
                <a:latin typeface="Questrial"/>
                <a:ea typeface="Questrial"/>
                <a:cs typeface="Questrial"/>
                <a:sym typeface="Questrial"/>
              </a:rPr>
              <a:t>Solar cells are devices that convert sunlight directly into electricity. They are made of semiconductor materials, usually silicon, that release electrons when exposed to light. When many solar cells are connected together, they form a solar panel that can power homes, gadgets, and other equipment. Solar cells are important because they produce clean, renewable energy without pollution.</a:t>
            </a:r>
          </a:p>
          <a:p>
            <a:pPr algn="l">
              <a:lnSpc>
                <a:spcPts val="416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10427124"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687833" y="8686833"/>
            <a:ext cx="571467" cy="571467"/>
          </a:xfrm>
          <a:custGeom>
            <a:avLst/>
            <a:gdLst/>
            <a:ahLst/>
            <a:cxnLst/>
            <a:rect r="r" b="b" t="t" l="l"/>
            <a:pathLst>
              <a:path h="571467" w="571467">
                <a:moveTo>
                  <a:pt x="0" y="0"/>
                </a:moveTo>
                <a:lnTo>
                  <a:pt x="571467" y="0"/>
                </a:lnTo>
                <a:lnTo>
                  <a:pt x="571467" y="571467"/>
                </a:lnTo>
                <a:lnTo>
                  <a:pt x="0" y="571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625962" y="3425567"/>
            <a:ext cx="6998875" cy="4469433"/>
          </a:xfrm>
          <a:custGeom>
            <a:avLst/>
            <a:gdLst/>
            <a:ahLst/>
            <a:cxnLst/>
            <a:rect r="r" b="b" t="t" l="l"/>
            <a:pathLst>
              <a:path h="4469433" w="6998875">
                <a:moveTo>
                  <a:pt x="0" y="0"/>
                </a:moveTo>
                <a:lnTo>
                  <a:pt x="6998875" y="0"/>
                </a:lnTo>
                <a:lnTo>
                  <a:pt x="6998875" y="4469433"/>
                </a:lnTo>
                <a:lnTo>
                  <a:pt x="0" y="4469433"/>
                </a:lnTo>
                <a:lnTo>
                  <a:pt x="0" y="0"/>
                </a:lnTo>
                <a:close/>
              </a:path>
            </a:pathLst>
          </a:custGeom>
          <a:blipFill>
            <a:blip r:embed="rId4"/>
            <a:stretch>
              <a:fillRect l="0" t="-19360" r="0" b="0"/>
            </a:stretch>
          </a:blipFill>
        </p:spPr>
      </p:sp>
      <p:sp>
        <p:nvSpPr>
          <p:cNvPr name="TextBox 7" id="7"/>
          <p:cNvSpPr txBox="true"/>
          <p:nvPr/>
        </p:nvSpPr>
        <p:spPr>
          <a:xfrm rot="0">
            <a:off x="1028700" y="868585"/>
            <a:ext cx="5436507" cy="2328218"/>
          </a:xfrm>
          <a:prstGeom prst="rect">
            <a:avLst/>
          </a:prstGeom>
        </p:spPr>
        <p:txBody>
          <a:bodyPr anchor="t" rtlCol="false" tIns="0" lIns="0" bIns="0" rIns="0">
            <a:spAutoFit/>
          </a:bodyPr>
          <a:lstStyle/>
          <a:p>
            <a:pPr algn="l">
              <a:lnSpc>
                <a:spcPts val="9031"/>
              </a:lnSpc>
            </a:pPr>
            <a:r>
              <a:rPr lang="en-US" sz="8285" spc="-679">
                <a:solidFill>
                  <a:srgbClr val="000000"/>
                </a:solidFill>
                <a:latin typeface="Public Sans"/>
                <a:ea typeface="Public Sans"/>
                <a:cs typeface="Public Sans"/>
                <a:sym typeface="Public Sans"/>
              </a:rPr>
              <a:t>How Solar Cells Work</a:t>
            </a:r>
          </a:p>
        </p:txBody>
      </p:sp>
      <p:sp>
        <p:nvSpPr>
          <p:cNvPr name="TextBox 8" id="8"/>
          <p:cNvSpPr txBox="true"/>
          <p:nvPr/>
        </p:nvSpPr>
        <p:spPr>
          <a:xfrm rot="0">
            <a:off x="622139" y="3475721"/>
            <a:ext cx="9092317" cy="4688151"/>
          </a:xfrm>
          <a:prstGeom prst="rect">
            <a:avLst/>
          </a:prstGeom>
        </p:spPr>
        <p:txBody>
          <a:bodyPr anchor="t" rtlCol="false" tIns="0" lIns="0" bIns="0" rIns="0">
            <a:spAutoFit/>
          </a:bodyPr>
          <a:lstStyle/>
          <a:p>
            <a:pPr algn="l">
              <a:lnSpc>
                <a:spcPts val="4168"/>
              </a:lnSpc>
            </a:pPr>
            <a:r>
              <a:rPr lang="en-US" sz="2977">
                <a:solidFill>
                  <a:srgbClr val="000000"/>
                </a:solidFill>
                <a:latin typeface="Questrial"/>
                <a:ea typeface="Questrial"/>
                <a:cs typeface="Questrial"/>
                <a:sym typeface="Questrial"/>
              </a:rPr>
              <a:t>Solar cells work by converting sunlight directly into electricity. When light hits the semiconductor material inside the cell usually silicon it knocks electrons loose. These moving electrons create an electric current. Metal contacts on the top and bottom of the cell collect this current, which can then be used to power devices or stored in batteries. When many solar cells are joined together, they form a solar panel that produces more electricity.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sp>
        <p:nvSpPr>
          <p:cNvPr name="Freeform 2" id="2"/>
          <p:cNvSpPr/>
          <p:nvPr/>
        </p:nvSpPr>
        <p:spPr>
          <a:xfrm flipH="false" flipV="false" rot="0">
            <a:off x="687308" y="5843956"/>
            <a:ext cx="3986902" cy="3986902"/>
          </a:xfrm>
          <a:custGeom>
            <a:avLst/>
            <a:gdLst/>
            <a:ahLst/>
            <a:cxnLst/>
            <a:rect r="r" b="b" t="t" l="l"/>
            <a:pathLst>
              <a:path h="3986902" w="3986902">
                <a:moveTo>
                  <a:pt x="0" y="0"/>
                </a:moveTo>
                <a:lnTo>
                  <a:pt x="3986902" y="0"/>
                </a:lnTo>
                <a:lnTo>
                  <a:pt x="3986902" y="3986902"/>
                </a:lnTo>
                <a:lnTo>
                  <a:pt x="0" y="3986902"/>
                </a:lnTo>
                <a:lnTo>
                  <a:pt x="0" y="0"/>
                </a:lnTo>
                <a:close/>
              </a:path>
            </a:pathLst>
          </a:custGeom>
          <a:blipFill>
            <a:blip r:embed="rId2"/>
            <a:stretch>
              <a:fillRect l="0" t="0" r="0" b="0"/>
            </a:stretch>
          </a:blipFill>
        </p:spPr>
      </p:sp>
      <p:sp>
        <p:nvSpPr>
          <p:cNvPr name="Freeform 3" id="3"/>
          <p:cNvSpPr/>
          <p:nvPr/>
        </p:nvSpPr>
        <p:spPr>
          <a:xfrm flipH="false" flipV="false" rot="0">
            <a:off x="6867653" y="5843956"/>
            <a:ext cx="4552695" cy="3986902"/>
          </a:xfrm>
          <a:custGeom>
            <a:avLst/>
            <a:gdLst/>
            <a:ahLst/>
            <a:cxnLst/>
            <a:rect r="r" b="b" t="t" l="l"/>
            <a:pathLst>
              <a:path h="3986902" w="4552695">
                <a:moveTo>
                  <a:pt x="0" y="0"/>
                </a:moveTo>
                <a:lnTo>
                  <a:pt x="4552694" y="0"/>
                </a:lnTo>
                <a:lnTo>
                  <a:pt x="4552694" y="3986902"/>
                </a:lnTo>
                <a:lnTo>
                  <a:pt x="0" y="3986902"/>
                </a:lnTo>
                <a:lnTo>
                  <a:pt x="0" y="0"/>
                </a:lnTo>
                <a:close/>
              </a:path>
            </a:pathLst>
          </a:custGeom>
          <a:blipFill>
            <a:blip r:embed="rId3"/>
            <a:stretch>
              <a:fillRect l="0" t="-41733" r="0" b="-29553"/>
            </a:stretch>
          </a:blipFill>
        </p:spPr>
      </p:sp>
      <p:sp>
        <p:nvSpPr>
          <p:cNvPr name="Freeform 4" id="4"/>
          <p:cNvSpPr/>
          <p:nvPr/>
        </p:nvSpPr>
        <p:spPr>
          <a:xfrm flipH="false" flipV="false" rot="0">
            <a:off x="13006351" y="5843956"/>
            <a:ext cx="4382671" cy="3986902"/>
          </a:xfrm>
          <a:custGeom>
            <a:avLst/>
            <a:gdLst/>
            <a:ahLst/>
            <a:cxnLst/>
            <a:rect r="r" b="b" t="t" l="l"/>
            <a:pathLst>
              <a:path h="3986902" w="4382671">
                <a:moveTo>
                  <a:pt x="0" y="0"/>
                </a:moveTo>
                <a:lnTo>
                  <a:pt x="4382671" y="0"/>
                </a:lnTo>
                <a:lnTo>
                  <a:pt x="4382671" y="3986902"/>
                </a:lnTo>
                <a:lnTo>
                  <a:pt x="0" y="3986902"/>
                </a:lnTo>
                <a:lnTo>
                  <a:pt x="0" y="0"/>
                </a:lnTo>
                <a:close/>
              </a:path>
            </a:pathLst>
          </a:custGeom>
          <a:blipFill>
            <a:blip r:embed="rId4"/>
            <a:stretch>
              <a:fillRect l="0" t="-32598" r="0" b="-40442"/>
            </a:stretch>
          </a:blipFill>
        </p:spPr>
      </p:sp>
      <p:sp>
        <p:nvSpPr>
          <p:cNvPr name="TextBox 5" id="5"/>
          <p:cNvSpPr txBox="true"/>
          <p:nvPr/>
        </p:nvSpPr>
        <p:spPr>
          <a:xfrm rot="0">
            <a:off x="4674210" y="487045"/>
            <a:ext cx="8939581" cy="11499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Types of Solar Panels</a:t>
            </a:r>
          </a:p>
        </p:txBody>
      </p:sp>
      <p:sp>
        <p:nvSpPr>
          <p:cNvPr name="TextBox 6" id="6"/>
          <p:cNvSpPr txBox="true"/>
          <p:nvPr/>
        </p:nvSpPr>
        <p:spPr>
          <a:xfrm rot="0">
            <a:off x="253062" y="1902989"/>
            <a:ext cx="5894811" cy="3124764"/>
          </a:xfrm>
          <a:prstGeom prst="rect">
            <a:avLst/>
          </a:prstGeom>
        </p:spPr>
        <p:txBody>
          <a:bodyPr anchor="t" rtlCol="false" tIns="0" lIns="0" bIns="0" rIns="0">
            <a:spAutoFit/>
          </a:bodyPr>
          <a:lstStyle/>
          <a:p>
            <a:pPr algn="just">
              <a:lnSpc>
                <a:spcPts val="4168"/>
              </a:lnSpc>
            </a:pPr>
            <a:r>
              <a:rPr lang="en-US" sz="2977">
                <a:solidFill>
                  <a:srgbClr val="000000"/>
                </a:solidFill>
                <a:latin typeface="Questrial"/>
                <a:ea typeface="Questrial"/>
                <a:cs typeface="Questrial"/>
                <a:sym typeface="Questrial"/>
              </a:rPr>
              <a:t>1. Monocrystalline Solar Panels</a:t>
            </a:r>
          </a:p>
          <a:p>
            <a:pPr algn="just" marL="642910" indent="-321455" lvl="1">
              <a:lnSpc>
                <a:spcPts val="4168"/>
              </a:lnSpc>
              <a:buFont typeface="Arial"/>
              <a:buChar char="•"/>
            </a:pPr>
            <a:r>
              <a:rPr lang="en-US" sz="2977">
                <a:solidFill>
                  <a:srgbClr val="000000"/>
                </a:solidFill>
                <a:latin typeface="Questrial"/>
                <a:ea typeface="Questrial"/>
                <a:cs typeface="Questrial"/>
                <a:sym typeface="Questrial"/>
              </a:rPr>
              <a:t>Made from a single, pure piece of silicon.</a:t>
            </a:r>
          </a:p>
          <a:p>
            <a:pPr algn="just" marL="642910" indent="-321455" lvl="1">
              <a:lnSpc>
                <a:spcPts val="4168"/>
              </a:lnSpc>
              <a:buFont typeface="Arial"/>
              <a:buChar char="•"/>
            </a:pPr>
            <a:r>
              <a:rPr lang="en-US" sz="2977">
                <a:solidFill>
                  <a:srgbClr val="000000"/>
                </a:solidFill>
                <a:latin typeface="Questrial"/>
                <a:ea typeface="Questrial"/>
                <a:cs typeface="Questrial"/>
                <a:sym typeface="Questrial"/>
              </a:rPr>
              <a:t>Most efficient and long-lasting.</a:t>
            </a:r>
          </a:p>
          <a:p>
            <a:pPr algn="just" marL="642910" indent="-321455" lvl="1">
              <a:lnSpc>
                <a:spcPts val="4168"/>
              </a:lnSpc>
              <a:buFont typeface="Arial"/>
              <a:buChar char="•"/>
            </a:pPr>
            <a:r>
              <a:rPr lang="en-US" sz="2977">
                <a:solidFill>
                  <a:srgbClr val="000000"/>
                </a:solidFill>
                <a:latin typeface="Questrial"/>
                <a:ea typeface="Questrial"/>
                <a:cs typeface="Questrial"/>
                <a:sym typeface="Questrial"/>
              </a:rPr>
              <a:t>Usually black in color.</a:t>
            </a:r>
          </a:p>
          <a:p>
            <a:pPr algn="just">
              <a:lnSpc>
                <a:spcPts val="4168"/>
              </a:lnSpc>
            </a:pPr>
          </a:p>
        </p:txBody>
      </p:sp>
      <p:sp>
        <p:nvSpPr>
          <p:cNvPr name="TextBox 7" id="7"/>
          <p:cNvSpPr txBox="true"/>
          <p:nvPr/>
        </p:nvSpPr>
        <p:spPr>
          <a:xfrm rot="0">
            <a:off x="6576498" y="1893464"/>
            <a:ext cx="5139741" cy="3950492"/>
          </a:xfrm>
          <a:prstGeom prst="rect">
            <a:avLst/>
          </a:prstGeom>
        </p:spPr>
        <p:txBody>
          <a:bodyPr anchor="t" rtlCol="false" tIns="0" lIns="0" bIns="0" rIns="0">
            <a:spAutoFit/>
          </a:bodyPr>
          <a:lstStyle/>
          <a:p>
            <a:pPr algn="l">
              <a:lnSpc>
                <a:spcPts val="3941"/>
              </a:lnSpc>
            </a:pPr>
            <a:r>
              <a:rPr lang="en-US" sz="2815">
                <a:solidFill>
                  <a:srgbClr val="000000"/>
                </a:solidFill>
                <a:latin typeface="Questrial"/>
                <a:ea typeface="Questrial"/>
                <a:cs typeface="Questrial"/>
                <a:sym typeface="Questrial"/>
              </a:rPr>
              <a:t>2. Polycrystalline Solar Panels</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Made from many silicon fragments melted together.</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Less efficient than monocrystalline but more affordable.</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Usually blue in color.</a:t>
            </a:r>
          </a:p>
          <a:p>
            <a:pPr algn="l">
              <a:lnSpc>
                <a:spcPts val="3941"/>
              </a:lnSpc>
            </a:pPr>
          </a:p>
        </p:txBody>
      </p:sp>
      <p:sp>
        <p:nvSpPr>
          <p:cNvPr name="TextBox 8" id="8"/>
          <p:cNvSpPr txBox="true"/>
          <p:nvPr/>
        </p:nvSpPr>
        <p:spPr>
          <a:xfrm rot="0">
            <a:off x="12144864" y="1893464"/>
            <a:ext cx="5877627" cy="4444907"/>
          </a:xfrm>
          <a:prstGeom prst="rect">
            <a:avLst/>
          </a:prstGeom>
        </p:spPr>
        <p:txBody>
          <a:bodyPr anchor="t" rtlCol="false" tIns="0" lIns="0" bIns="0" rIns="0">
            <a:spAutoFit/>
          </a:bodyPr>
          <a:lstStyle/>
          <a:p>
            <a:pPr algn="l">
              <a:lnSpc>
                <a:spcPts val="3941"/>
              </a:lnSpc>
            </a:pPr>
            <a:r>
              <a:rPr lang="en-US" sz="2815">
                <a:solidFill>
                  <a:srgbClr val="000000"/>
                </a:solidFill>
                <a:latin typeface="Questrial"/>
                <a:ea typeface="Questrial"/>
                <a:cs typeface="Questrial"/>
                <a:sym typeface="Questrial"/>
              </a:rPr>
              <a:t>3. Thin-Film Solar Panels</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Made by layering thin materials like amorphous silicon or other compounds.</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Lightweight, flexible, and easy to install.</a:t>
            </a:r>
          </a:p>
          <a:p>
            <a:pPr algn="l" marL="607819" indent="-303909" lvl="1">
              <a:lnSpc>
                <a:spcPts val="3941"/>
              </a:lnSpc>
              <a:buFont typeface="Arial"/>
              <a:buChar char="•"/>
            </a:pPr>
            <a:r>
              <a:rPr lang="en-US" sz="2815">
                <a:solidFill>
                  <a:srgbClr val="000000"/>
                </a:solidFill>
                <a:latin typeface="Questrial"/>
                <a:ea typeface="Questrial"/>
                <a:cs typeface="Questrial"/>
                <a:sym typeface="Questrial"/>
              </a:rPr>
              <a:t>Lower efficiency but good for large areas or portable use.</a:t>
            </a:r>
          </a:p>
          <a:p>
            <a:pPr algn="l">
              <a:lnSpc>
                <a:spcPts val="394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10239035"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6687833" y="8686833"/>
            <a:ext cx="571467" cy="571467"/>
          </a:xfrm>
          <a:custGeom>
            <a:avLst/>
            <a:gdLst/>
            <a:ahLst/>
            <a:cxnLst/>
            <a:rect r="r" b="b" t="t" l="l"/>
            <a:pathLst>
              <a:path h="571467" w="571467">
                <a:moveTo>
                  <a:pt x="0" y="0"/>
                </a:moveTo>
                <a:lnTo>
                  <a:pt x="571467" y="0"/>
                </a:lnTo>
                <a:lnTo>
                  <a:pt x="571467" y="571467"/>
                </a:lnTo>
                <a:lnTo>
                  <a:pt x="0" y="571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166434" y="2891220"/>
            <a:ext cx="6006079" cy="4504559"/>
          </a:xfrm>
          <a:custGeom>
            <a:avLst/>
            <a:gdLst/>
            <a:ahLst/>
            <a:cxnLst/>
            <a:rect r="r" b="b" t="t" l="l"/>
            <a:pathLst>
              <a:path h="4504559" w="6006079">
                <a:moveTo>
                  <a:pt x="0" y="0"/>
                </a:moveTo>
                <a:lnTo>
                  <a:pt x="6006079" y="0"/>
                </a:lnTo>
                <a:lnTo>
                  <a:pt x="6006079" y="4504560"/>
                </a:lnTo>
                <a:lnTo>
                  <a:pt x="0" y="4504560"/>
                </a:lnTo>
                <a:lnTo>
                  <a:pt x="0" y="0"/>
                </a:lnTo>
                <a:close/>
              </a:path>
            </a:pathLst>
          </a:custGeom>
          <a:blipFill>
            <a:blip r:embed="rId4"/>
            <a:stretch>
              <a:fillRect l="0" t="0" r="0" b="0"/>
            </a:stretch>
          </a:blipFill>
        </p:spPr>
      </p:sp>
      <p:sp>
        <p:nvSpPr>
          <p:cNvPr name="TextBox 7" id="7"/>
          <p:cNvSpPr txBox="true"/>
          <p:nvPr/>
        </p:nvSpPr>
        <p:spPr>
          <a:xfrm rot="0">
            <a:off x="1528142" y="1365452"/>
            <a:ext cx="6440006" cy="22548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Batteries in Solar Systems</a:t>
            </a:r>
          </a:p>
        </p:txBody>
      </p:sp>
      <p:sp>
        <p:nvSpPr>
          <p:cNvPr name="TextBox 8" id="8"/>
          <p:cNvSpPr txBox="true"/>
          <p:nvPr/>
        </p:nvSpPr>
        <p:spPr>
          <a:xfrm rot="0">
            <a:off x="535414" y="3869542"/>
            <a:ext cx="9516197" cy="4817291"/>
          </a:xfrm>
          <a:prstGeom prst="rect">
            <a:avLst/>
          </a:prstGeom>
        </p:spPr>
        <p:txBody>
          <a:bodyPr anchor="t" rtlCol="false" tIns="0" lIns="0" bIns="0" rIns="0">
            <a:spAutoFit/>
          </a:bodyPr>
          <a:lstStyle/>
          <a:p>
            <a:pPr algn="l">
              <a:lnSpc>
                <a:spcPts val="3846"/>
              </a:lnSpc>
            </a:pPr>
          </a:p>
          <a:p>
            <a:pPr algn="l">
              <a:lnSpc>
                <a:spcPts val="3846"/>
              </a:lnSpc>
            </a:pPr>
            <a:r>
              <a:rPr lang="en-US" sz="2747">
                <a:solidFill>
                  <a:srgbClr val="000000"/>
                </a:solidFill>
                <a:latin typeface="Questrial"/>
                <a:ea typeface="Questrial"/>
                <a:cs typeface="Questrial"/>
                <a:sym typeface="Questrial"/>
              </a:rPr>
              <a:t>Batteries in solar systems store the extra electricity produced by solar panels so it can be used later, especially at night or during cloudy weather. They help keep a steady power supply even when the Sun isn’t shining. Common types include lead-acid and lithium-ion batteries, with lithium-ion being more efficient and longer lasting. These batteries make solar systems more reliable by ensuring that the energy collected during the day is available whenever it’s needed.</a:t>
            </a:r>
          </a:p>
          <a:p>
            <a:pPr algn="l">
              <a:lnSpc>
                <a:spcPts val="384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0"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777861"/>
            <a:ext cx="5702099" cy="6043392"/>
          </a:xfrm>
          <a:custGeom>
            <a:avLst/>
            <a:gdLst/>
            <a:ahLst/>
            <a:cxnLst/>
            <a:rect r="r" b="b" t="t" l="l"/>
            <a:pathLst>
              <a:path h="6043392" w="5702099">
                <a:moveTo>
                  <a:pt x="0" y="0"/>
                </a:moveTo>
                <a:lnTo>
                  <a:pt x="5702099" y="0"/>
                </a:lnTo>
                <a:lnTo>
                  <a:pt x="5702099" y="6043393"/>
                </a:lnTo>
                <a:lnTo>
                  <a:pt x="0" y="6043393"/>
                </a:lnTo>
                <a:lnTo>
                  <a:pt x="0" y="0"/>
                </a:lnTo>
                <a:close/>
              </a:path>
            </a:pathLst>
          </a:custGeom>
          <a:blipFill>
            <a:blip r:embed="rId2"/>
            <a:stretch>
              <a:fillRect l="0" t="0" r="0" b="0"/>
            </a:stretch>
          </a:blipFill>
        </p:spPr>
      </p:sp>
      <p:sp>
        <p:nvSpPr>
          <p:cNvPr name="TextBox 6" id="6"/>
          <p:cNvSpPr txBox="true"/>
          <p:nvPr/>
        </p:nvSpPr>
        <p:spPr>
          <a:xfrm rot="0">
            <a:off x="9465599" y="1466731"/>
            <a:ext cx="8033457" cy="22548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How Batteries Store Power</a:t>
            </a:r>
          </a:p>
        </p:txBody>
      </p:sp>
      <p:sp>
        <p:nvSpPr>
          <p:cNvPr name="TextBox 7" id="7"/>
          <p:cNvSpPr txBox="true"/>
          <p:nvPr/>
        </p:nvSpPr>
        <p:spPr>
          <a:xfrm rot="0">
            <a:off x="8278432" y="4294068"/>
            <a:ext cx="9516197" cy="4968309"/>
          </a:xfrm>
          <a:prstGeom prst="rect">
            <a:avLst/>
          </a:prstGeom>
        </p:spPr>
        <p:txBody>
          <a:bodyPr anchor="t" rtlCol="false" tIns="0" lIns="0" bIns="0" rIns="0">
            <a:spAutoFit/>
          </a:bodyPr>
          <a:lstStyle/>
          <a:p>
            <a:pPr algn="l">
              <a:lnSpc>
                <a:spcPts val="4406"/>
              </a:lnSpc>
            </a:pPr>
            <a:r>
              <a:rPr lang="en-US" sz="3147">
                <a:solidFill>
                  <a:srgbClr val="000000"/>
                </a:solidFill>
                <a:latin typeface="Questrial"/>
                <a:ea typeface="Questrial"/>
                <a:cs typeface="Questrial"/>
                <a:sym typeface="Questrial"/>
              </a:rPr>
              <a:t>Batteries store power by keeping energy in the form of chemical reactions. When a battery charges, electricity from the solar panels changes the chemicals inside the battery into a “charged” state. When power is needed, the battery releases this stored energy by reversing the chemical reaction, which produces an electric current. This flow of electricity can then be used to run lights, appliances, or other devices.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9413371" y="-332772"/>
            <a:ext cx="8874629" cy="10287000"/>
            <a:chOff x="0" y="0"/>
            <a:chExt cx="2337351" cy="2709333"/>
          </a:xfrm>
        </p:grpSpPr>
        <p:sp>
          <p:nvSpPr>
            <p:cNvPr name="Freeform 3" id="3"/>
            <p:cNvSpPr/>
            <p:nvPr/>
          </p:nvSpPr>
          <p:spPr>
            <a:xfrm flipH="false" flipV="false" rot="0">
              <a:off x="0" y="0"/>
              <a:ext cx="2337351" cy="2709333"/>
            </a:xfrm>
            <a:custGeom>
              <a:avLst/>
              <a:gdLst/>
              <a:ahLst/>
              <a:cxnLst/>
              <a:rect r="r" b="b" t="t" l="l"/>
              <a:pathLst>
                <a:path h="2709333" w="2337351">
                  <a:moveTo>
                    <a:pt x="0" y="0"/>
                  </a:moveTo>
                  <a:lnTo>
                    <a:pt x="2337351" y="0"/>
                  </a:lnTo>
                  <a:lnTo>
                    <a:pt x="2337351" y="2709333"/>
                  </a:lnTo>
                  <a:lnTo>
                    <a:pt x="0" y="2709333"/>
                  </a:lnTo>
                  <a:close/>
                </a:path>
              </a:pathLst>
            </a:custGeom>
            <a:solidFill>
              <a:srgbClr val="EDF1EF"/>
            </a:solidFill>
          </p:spPr>
        </p:sp>
        <p:sp>
          <p:nvSpPr>
            <p:cNvPr name="TextBox 4" id="4"/>
            <p:cNvSpPr txBox="true"/>
            <p:nvPr/>
          </p:nvSpPr>
          <p:spPr>
            <a:xfrm>
              <a:off x="0" y="-38100"/>
              <a:ext cx="2337351"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584413" y="2988306"/>
            <a:ext cx="2698743" cy="2508447"/>
          </a:xfrm>
          <a:custGeom>
            <a:avLst/>
            <a:gdLst/>
            <a:ahLst/>
            <a:cxnLst/>
            <a:rect r="r" b="b" t="t" l="l"/>
            <a:pathLst>
              <a:path h="2508447" w="2698743">
                <a:moveTo>
                  <a:pt x="0" y="0"/>
                </a:moveTo>
                <a:lnTo>
                  <a:pt x="2698743" y="0"/>
                </a:lnTo>
                <a:lnTo>
                  <a:pt x="2698743" y="2508447"/>
                </a:lnTo>
                <a:lnTo>
                  <a:pt x="0" y="2508447"/>
                </a:lnTo>
                <a:lnTo>
                  <a:pt x="0" y="0"/>
                </a:lnTo>
                <a:close/>
              </a:path>
            </a:pathLst>
          </a:custGeom>
          <a:blipFill>
            <a:blip r:embed="rId2"/>
            <a:stretch>
              <a:fillRect l="0" t="0" r="0" b="0"/>
            </a:stretch>
          </a:blipFill>
        </p:spPr>
      </p:sp>
      <p:sp>
        <p:nvSpPr>
          <p:cNvPr name="Freeform 6" id="6"/>
          <p:cNvSpPr/>
          <p:nvPr/>
        </p:nvSpPr>
        <p:spPr>
          <a:xfrm flipH="false" flipV="false" rot="0">
            <a:off x="6584413" y="6170753"/>
            <a:ext cx="2698743" cy="2779746"/>
          </a:xfrm>
          <a:custGeom>
            <a:avLst/>
            <a:gdLst/>
            <a:ahLst/>
            <a:cxnLst/>
            <a:rect r="r" b="b" t="t" l="l"/>
            <a:pathLst>
              <a:path h="2779746" w="2698743">
                <a:moveTo>
                  <a:pt x="0" y="0"/>
                </a:moveTo>
                <a:lnTo>
                  <a:pt x="2698743" y="0"/>
                </a:lnTo>
                <a:lnTo>
                  <a:pt x="2698743" y="2779746"/>
                </a:lnTo>
                <a:lnTo>
                  <a:pt x="0" y="2779746"/>
                </a:lnTo>
                <a:lnTo>
                  <a:pt x="0" y="0"/>
                </a:lnTo>
                <a:close/>
              </a:path>
            </a:pathLst>
          </a:custGeom>
          <a:blipFill>
            <a:blip r:embed="rId3"/>
            <a:stretch>
              <a:fillRect l="0" t="0" r="-12569" b="-9289"/>
            </a:stretch>
          </a:blipFill>
        </p:spPr>
      </p:sp>
      <p:sp>
        <p:nvSpPr>
          <p:cNvPr name="Freeform 7" id="7"/>
          <p:cNvSpPr/>
          <p:nvPr/>
        </p:nvSpPr>
        <p:spPr>
          <a:xfrm flipH="false" flipV="false" rot="0">
            <a:off x="14332715" y="1548517"/>
            <a:ext cx="2926585" cy="2671244"/>
          </a:xfrm>
          <a:custGeom>
            <a:avLst/>
            <a:gdLst/>
            <a:ahLst/>
            <a:cxnLst/>
            <a:rect r="r" b="b" t="t" l="l"/>
            <a:pathLst>
              <a:path h="2671244" w="2926585">
                <a:moveTo>
                  <a:pt x="0" y="0"/>
                </a:moveTo>
                <a:lnTo>
                  <a:pt x="2926585" y="0"/>
                </a:lnTo>
                <a:lnTo>
                  <a:pt x="2926585" y="2671243"/>
                </a:lnTo>
                <a:lnTo>
                  <a:pt x="0" y="2671243"/>
                </a:lnTo>
                <a:lnTo>
                  <a:pt x="0" y="0"/>
                </a:lnTo>
                <a:close/>
              </a:path>
            </a:pathLst>
          </a:custGeom>
          <a:blipFill>
            <a:blip r:embed="rId4"/>
            <a:stretch>
              <a:fillRect l="-34493" t="0" r="-27773" b="0"/>
            </a:stretch>
          </a:blipFill>
        </p:spPr>
      </p:sp>
      <p:sp>
        <p:nvSpPr>
          <p:cNvPr name="Freeform 8" id="8"/>
          <p:cNvSpPr/>
          <p:nvPr/>
        </p:nvSpPr>
        <p:spPr>
          <a:xfrm flipH="false" flipV="false" rot="0">
            <a:off x="14081016" y="6546930"/>
            <a:ext cx="4067367" cy="3089990"/>
          </a:xfrm>
          <a:custGeom>
            <a:avLst/>
            <a:gdLst/>
            <a:ahLst/>
            <a:cxnLst/>
            <a:rect r="r" b="b" t="t" l="l"/>
            <a:pathLst>
              <a:path h="3089990" w="4067367">
                <a:moveTo>
                  <a:pt x="0" y="0"/>
                </a:moveTo>
                <a:lnTo>
                  <a:pt x="4067367" y="0"/>
                </a:lnTo>
                <a:lnTo>
                  <a:pt x="4067367" y="3089990"/>
                </a:lnTo>
                <a:lnTo>
                  <a:pt x="0" y="3089990"/>
                </a:lnTo>
                <a:lnTo>
                  <a:pt x="0" y="0"/>
                </a:lnTo>
                <a:close/>
              </a:path>
            </a:pathLst>
          </a:custGeom>
          <a:blipFill>
            <a:blip r:embed="rId5"/>
            <a:stretch>
              <a:fillRect l="0" t="0" r="0" b="0"/>
            </a:stretch>
          </a:blipFill>
        </p:spPr>
      </p:sp>
      <p:sp>
        <p:nvSpPr>
          <p:cNvPr name="TextBox 9" id="9"/>
          <p:cNvSpPr txBox="true"/>
          <p:nvPr/>
        </p:nvSpPr>
        <p:spPr>
          <a:xfrm rot="0">
            <a:off x="761319" y="338199"/>
            <a:ext cx="6440006" cy="22548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Types of Solar Batteries</a:t>
            </a:r>
          </a:p>
        </p:txBody>
      </p:sp>
      <p:sp>
        <p:nvSpPr>
          <p:cNvPr name="TextBox 10" id="10"/>
          <p:cNvSpPr txBox="true"/>
          <p:nvPr/>
        </p:nvSpPr>
        <p:spPr>
          <a:xfrm rot="0">
            <a:off x="161362" y="2895143"/>
            <a:ext cx="6292836" cy="2601610"/>
          </a:xfrm>
          <a:prstGeom prst="rect">
            <a:avLst/>
          </a:prstGeom>
        </p:spPr>
        <p:txBody>
          <a:bodyPr anchor="t" rtlCol="false" tIns="0" lIns="0" bIns="0" rIns="0">
            <a:spAutoFit/>
          </a:bodyPr>
          <a:lstStyle/>
          <a:p>
            <a:pPr algn="l">
              <a:lnSpc>
                <a:spcPts val="3480"/>
              </a:lnSpc>
            </a:pPr>
            <a:r>
              <a:rPr lang="en-US" sz="2485">
                <a:solidFill>
                  <a:srgbClr val="000000"/>
                </a:solidFill>
                <a:latin typeface="Questrial"/>
                <a:ea typeface="Questrial"/>
                <a:cs typeface="Questrial"/>
                <a:sym typeface="Questrial"/>
              </a:rPr>
              <a:t>1. Lead-Acid Batteries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Traditional and widely used.</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Affordable but heavier and have a shorter lifespan.</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Good for small or backup solar systems.</a:t>
            </a:r>
          </a:p>
          <a:p>
            <a:pPr algn="l">
              <a:lnSpc>
                <a:spcPts val="3480"/>
              </a:lnSpc>
            </a:pPr>
          </a:p>
        </p:txBody>
      </p:sp>
      <p:sp>
        <p:nvSpPr>
          <p:cNvPr name="TextBox 11" id="11"/>
          <p:cNvSpPr txBox="true"/>
          <p:nvPr/>
        </p:nvSpPr>
        <p:spPr>
          <a:xfrm rot="0">
            <a:off x="161362" y="6123128"/>
            <a:ext cx="6292836" cy="3037798"/>
          </a:xfrm>
          <a:prstGeom prst="rect">
            <a:avLst/>
          </a:prstGeom>
        </p:spPr>
        <p:txBody>
          <a:bodyPr anchor="t" rtlCol="false" tIns="0" lIns="0" bIns="0" rIns="0">
            <a:spAutoFit/>
          </a:bodyPr>
          <a:lstStyle/>
          <a:p>
            <a:pPr algn="l">
              <a:lnSpc>
                <a:spcPts val="3480"/>
              </a:lnSpc>
            </a:pPr>
            <a:r>
              <a:rPr lang="en-US" sz="2485">
                <a:solidFill>
                  <a:srgbClr val="000000"/>
                </a:solidFill>
                <a:latin typeface="Questrial"/>
                <a:ea typeface="Questrial"/>
                <a:cs typeface="Questrial"/>
                <a:sym typeface="Questrial"/>
              </a:rPr>
              <a:t>2. Lithium-Ion Batteries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Lightweight, efficient, and long-lasting.</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Can store more energy in a smaller space.</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Ideal for modern solar homes and off-grid systems.</a:t>
            </a:r>
          </a:p>
          <a:p>
            <a:pPr algn="l">
              <a:lnSpc>
                <a:spcPts val="3480"/>
              </a:lnSpc>
            </a:pPr>
          </a:p>
        </p:txBody>
      </p:sp>
      <p:sp>
        <p:nvSpPr>
          <p:cNvPr name="TextBox 12" id="12"/>
          <p:cNvSpPr txBox="true"/>
          <p:nvPr/>
        </p:nvSpPr>
        <p:spPr>
          <a:xfrm rot="0">
            <a:off x="9631382" y="107687"/>
            <a:ext cx="5583886" cy="2601610"/>
          </a:xfrm>
          <a:prstGeom prst="rect">
            <a:avLst/>
          </a:prstGeom>
        </p:spPr>
        <p:txBody>
          <a:bodyPr anchor="t" rtlCol="false" tIns="0" lIns="0" bIns="0" rIns="0">
            <a:spAutoFit/>
          </a:bodyPr>
          <a:lstStyle/>
          <a:p>
            <a:pPr algn="l">
              <a:lnSpc>
                <a:spcPts val="3480"/>
              </a:lnSpc>
            </a:pPr>
            <a:r>
              <a:rPr lang="en-US" sz="2485">
                <a:solidFill>
                  <a:srgbClr val="000000"/>
                </a:solidFill>
                <a:latin typeface="Questrial"/>
                <a:ea typeface="Questrial"/>
                <a:cs typeface="Questrial"/>
                <a:sym typeface="Questrial"/>
              </a:rPr>
              <a:t>3. Saltwater Batteries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Use saltwater as the electrolyte.</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Environmentally friendly and safe.</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Lower energy density, so larger size is needed for the same power.</a:t>
            </a:r>
          </a:p>
          <a:p>
            <a:pPr algn="l">
              <a:lnSpc>
                <a:spcPts val="3480"/>
              </a:lnSpc>
            </a:pPr>
          </a:p>
        </p:txBody>
      </p:sp>
      <p:sp>
        <p:nvSpPr>
          <p:cNvPr name="TextBox 13" id="13"/>
          <p:cNvSpPr txBox="true"/>
          <p:nvPr/>
        </p:nvSpPr>
        <p:spPr>
          <a:xfrm rot="0">
            <a:off x="9670546" y="3837226"/>
            <a:ext cx="5690868" cy="3473986"/>
          </a:xfrm>
          <a:prstGeom prst="rect">
            <a:avLst/>
          </a:prstGeom>
        </p:spPr>
        <p:txBody>
          <a:bodyPr anchor="t" rtlCol="false" tIns="0" lIns="0" bIns="0" rIns="0">
            <a:spAutoFit/>
          </a:bodyPr>
          <a:lstStyle/>
          <a:p>
            <a:pPr algn="l">
              <a:lnSpc>
                <a:spcPts val="3480"/>
              </a:lnSpc>
            </a:pPr>
            <a:r>
              <a:rPr lang="en-US" sz="2485">
                <a:solidFill>
                  <a:srgbClr val="000000"/>
                </a:solidFill>
                <a:latin typeface="Questrial"/>
                <a:ea typeface="Questrial"/>
                <a:cs typeface="Questrial"/>
                <a:sym typeface="Questrial"/>
              </a:rPr>
              <a:t>4. Flow Batteries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Store energy in liquid electrolytes in tanks.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Can be scaled up for large solar installations.</a:t>
            </a:r>
          </a:p>
          <a:p>
            <a:pPr algn="l" marL="536720" indent="-268360" lvl="1">
              <a:lnSpc>
                <a:spcPts val="3480"/>
              </a:lnSpc>
              <a:buFont typeface="Arial"/>
              <a:buChar char="•"/>
            </a:pPr>
            <a:r>
              <a:rPr lang="en-US" sz="2485">
                <a:solidFill>
                  <a:srgbClr val="000000"/>
                </a:solidFill>
                <a:latin typeface="Questrial"/>
                <a:ea typeface="Questrial"/>
                <a:cs typeface="Questrial"/>
                <a:sym typeface="Questrial"/>
              </a:rPr>
              <a:t>Long lifespan but more expensive and complex.</a:t>
            </a:r>
          </a:p>
          <a:p>
            <a:pPr algn="l">
              <a:lnSpc>
                <a:spcPts val="348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0"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529247"/>
            <a:ext cx="6008906" cy="6008906"/>
          </a:xfrm>
          <a:custGeom>
            <a:avLst/>
            <a:gdLst/>
            <a:ahLst/>
            <a:cxnLst/>
            <a:rect r="r" b="b" t="t" l="l"/>
            <a:pathLst>
              <a:path h="6008906" w="6008906">
                <a:moveTo>
                  <a:pt x="0" y="0"/>
                </a:moveTo>
                <a:lnTo>
                  <a:pt x="6008906" y="0"/>
                </a:lnTo>
                <a:lnTo>
                  <a:pt x="6008906" y="6008905"/>
                </a:lnTo>
                <a:lnTo>
                  <a:pt x="0" y="6008905"/>
                </a:lnTo>
                <a:lnTo>
                  <a:pt x="0" y="0"/>
                </a:lnTo>
                <a:close/>
              </a:path>
            </a:pathLst>
          </a:custGeom>
          <a:blipFill>
            <a:blip r:embed="rId2"/>
            <a:stretch>
              <a:fillRect l="0" t="0" r="0" b="0"/>
            </a:stretch>
          </a:blipFill>
        </p:spPr>
      </p:sp>
      <p:sp>
        <p:nvSpPr>
          <p:cNvPr name="TextBox 6" id="6"/>
          <p:cNvSpPr txBox="true"/>
          <p:nvPr/>
        </p:nvSpPr>
        <p:spPr>
          <a:xfrm rot="0">
            <a:off x="9465599" y="1987591"/>
            <a:ext cx="8033457" cy="11499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Biomass Energy</a:t>
            </a:r>
          </a:p>
        </p:txBody>
      </p:sp>
      <p:sp>
        <p:nvSpPr>
          <p:cNvPr name="TextBox 7" id="7"/>
          <p:cNvSpPr txBox="true"/>
          <p:nvPr/>
        </p:nvSpPr>
        <p:spPr>
          <a:xfrm rot="0">
            <a:off x="8695481" y="3715296"/>
            <a:ext cx="9185187" cy="4765346"/>
          </a:xfrm>
          <a:prstGeom prst="rect">
            <a:avLst/>
          </a:prstGeom>
        </p:spPr>
        <p:txBody>
          <a:bodyPr anchor="t" rtlCol="false" tIns="0" lIns="0" bIns="0" rIns="0">
            <a:spAutoFit/>
          </a:bodyPr>
          <a:lstStyle/>
          <a:p>
            <a:pPr algn="l">
              <a:lnSpc>
                <a:spcPts val="4233"/>
              </a:lnSpc>
            </a:pPr>
            <a:r>
              <a:rPr lang="en-US" sz="3024">
                <a:solidFill>
                  <a:srgbClr val="000000"/>
                </a:solidFill>
                <a:latin typeface="Questrial"/>
                <a:ea typeface="Questrial"/>
                <a:cs typeface="Questrial"/>
                <a:sym typeface="Questrial"/>
              </a:rPr>
              <a:t>Biomass energy is energy produced from organic materials like plants, wood, crop waste, and animal dung. These materials store energy from the Sun through photosynthesis. When burned or converted into biofuels, this stored energy is released as heat or electricity. Biomass is a renewable energy source because plants and organic waste can be regrown or replenished, and it can help reduce waste while providing a sustainable source of power.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10644149" y="0"/>
            <a:ext cx="7860876" cy="10287000"/>
            <a:chOff x="0" y="0"/>
            <a:chExt cx="2070354" cy="2709333"/>
          </a:xfrm>
        </p:grpSpPr>
        <p:sp>
          <p:nvSpPr>
            <p:cNvPr name="Freeform 3" id="3"/>
            <p:cNvSpPr/>
            <p:nvPr/>
          </p:nvSpPr>
          <p:spPr>
            <a:xfrm flipH="false" flipV="false" rot="0">
              <a:off x="0" y="0"/>
              <a:ext cx="2070354" cy="2709333"/>
            </a:xfrm>
            <a:custGeom>
              <a:avLst/>
              <a:gdLst/>
              <a:ahLst/>
              <a:cxnLst/>
              <a:rect r="r" b="b" t="t" l="l"/>
              <a:pathLst>
                <a:path h="2709333" w="2070354">
                  <a:moveTo>
                    <a:pt x="0" y="0"/>
                  </a:moveTo>
                  <a:lnTo>
                    <a:pt x="2070354" y="0"/>
                  </a:lnTo>
                  <a:lnTo>
                    <a:pt x="2070354" y="2709333"/>
                  </a:lnTo>
                  <a:lnTo>
                    <a:pt x="0" y="2709333"/>
                  </a:lnTo>
                  <a:close/>
                </a:path>
              </a:pathLst>
            </a:custGeom>
            <a:solidFill>
              <a:srgbClr val="EDF1EF"/>
            </a:solidFill>
          </p:spPr>
        </p:sp>
        <p:sp>
          <p:nvSpPr>
            <p:cNvPr name="TextBox 4" id="4"/>
            <p:cNvSpPr txBox="true"/>
            <p:nvPr/>
          </p:nvSpPr>
          <p:spPr>
            <a:xfrm>
              <a:off x="0" y="-38100"/>
              <a:ext cx="2070354"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54522" y="251389"/>
            <a:ext cx="6440006" cy="3359786"/>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How Biomass Produces Energy</a:t>
            </a:r>
          </a:p>
        </p:txBody>
      </p:sp>
      <p:sp>
        <p:nvSpPr>
          <p:cNvPr name="TextBox 6" id="6"/>
          <p:cNvSpPr txBox="true"/>
          <p:nvPr/>
        </p:nvSpPr>
        <p:spPr>
          <a:xfrm rot="0">
            <a:off x="1028700" y="3743718"/>
            <a:ext cx="8846821" cy="5645967"/>
          </a:xfrm>
          <a:prstGeom prst="rect">
            <a:avLst/>
          </a:prstGeom>
        </p:spPr>
        <p:txBody>
          <a:bodyPr anchor="t" rtlCol="false" tIns="0" lIns="0" bIns="0" rIns="0">
            <a:spAutoFit/>
          </a:bodyPr>
          <a:lstStyle/>
          <a:p>
            <a:pPr algn="l">
              <a:lnSpc>
                <a:spcPts val="4107"/>
              </a:lnSpc>
            </a:pPr>
          </a:p>
          <a:p>
            <a:pPr algn="l">
              <a:lnSpc>
                <a:spcPts val="4107"/>
              </a:lnSpc>
            </a:pPr>
            <a:r>
              <a:rPr lang="en-US" sz="2934">
                <a:solidFill>
                  <a:srgbClr val="000000"/>
                </a:solidFill>
                <a:latin typeface="Questrial"/>
                <a:ea typeface="Questrial"/>
                <a:cs typeface="Questrial"/>
                <a:sym typeface="Questrial"/>
              </a:rPr>
              <a:t>Biomass produces energy by releasing the chemical energy stored in organic materials. When plants, wood, or waste are burned, they release heat that can be used for cooking, heating, or generating electricity. Biomass can also be converted into biofuels like biogas or biodiesel, which can power engines or turbines. In all cases, the energy originally came from the Sun, stored in the plant’s growth through photosynthesis.</a:t>
            </a:r>
          </a:p>
          <a:p>
            <a:pPr algn="l">
              <a:lnSpc>
                <a:spcPts val="4107"/>
              </a:lnSpc>
            </a:pPr>
          </a:p>
        </p:txBody>
      </p:sp>
      <p:sp>
        <p:nvSpPr>
          <p:cNvPr name="Freeform 7" id="7"/>
          <p:cNvSpPr/>
          <p:nvPr/>
        </p:nvSpPr>
        <p:spPr>
          <a:xfrm flipH="false" flipV="false" rot="0">
            <a:off x="11250394" y="2677927"/>
            <a:ext cx="6008906" cy="6008906"/>
          </a:xfrm>
          <a:custGeom>
            <a:avLst/>
            <a:gdLst/>
            <a:ahLst/>
            <a:cxnLst/>
            <a:rect r="r" b="b" t="t" l="l"/>
            <a:pathLst>
              <a:path h="6008906" w="6008906">
                <a:moveTo>
                  <a:pt x="0" y="0"/>
                </a:moveTo>
                <a:lnTo>
                  <a:pt x="6008906" y="0"/>
                </a:lnTo>
                <a:lnTo>
                  <a:pt x="6008906" y="6008906"/>
                </a:lnTo>
                <a:lnTo>
                  <a:pt x="0" y="6008906"/>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EDF1E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44684" y="95250"/>
            <a:ext cx="6793770" cy="1516606"/>
          </a:xfrm>
          <a:prstGeom prst="rect">
            <a:avLst/>
          </a:prstGeom>
        </p:spPr>
        <p:txBody>
          <a:bodyPr anchor="t" rtlCol="false" tIns="0" lIns="0" bIns="0" rIns="0">
            <a:spAutoFit/>
          </a:bodyPr>
          <a:lstStyle/>
          <a:p>
            <a:pPr algn="l">
              <a:lnSpc>
                <a:spcPts val="11552"/>
              </a:lnSpc>
            </a:pPr>
            <a:r>
              <a:rPr lang="en-US" sz="10598" spc="-869">
                <a:solidFill>
                  <a:srgbClr val="000000"/>
                </a:solidFill>
                <a:latin typeface="Public Sans"/>
                <a:ea typeface="Public Sans"/>
                <a:cs typeface="Public Sans"/>
                <a:sym typeface="Public Sans"/>
              </a:rPr>
              <a:t>Advantages</a:t>
            </a:r>
          </a:p>
        </p:txBody>
      </p:sp>
      <p:sp>
        <p:nvSpPr>
          <p:cNvPr name="TextBox 6" id="6"/>
          <p:cNvSpPr txBox="true"/>
          <p:nvPr/>
        </p:nvSpPr>
        <p:spPr>
          <a:xfrm rot="0">
            <a:off x="144684" y="1620119"/>
            <a:ext cx="6292836" cy="5743932"/>
          </a:xfrm>
          <a:prstGeom prst="rect">
            <a:avLst/>
          </a:prstGeom>
        </p:spPr>
        <p:txBody>
          <a:bodyPr anchor="t" rtlCol="false" tIns="0" lIns="0" bIns="0" rIns="0">
            <a:spAutoFit/>
          </a:bodyPr>
          <a:lstStyle/>
          <a:p>
            <a:pPr algn="l">
              <a:lnSpc>
                <a:spcPts val="4180"/>
              </a:lnSpc>
            </a:pPr>
          </a:p>
          <a:p>
            <a:pPr algn="l">
              <a:lnSpc>
                <a:spcPts val="4180"/>
              </a:lnSpc>
            </a:pPr>
            <a:r>
              <a:rPr lang="en-US" sz="2985">
                <a:solidFill>
                  <a:srgbClr val="000000"/>
                </a:solidFill>
                <a:latin typeface="Tahoma"/>
                <a:ea typeface="Tahoma"/>
                <a:cs typeface="Tahoma"/>
                <a:sym typeface="Tahoma"/>
              </a:rPr>
              <a:t>🌞 </a:t>
            </a:r>
            <a:r>
              <a:rPr lang="en-US" sz="2985" b="true">
                <a:solidFill>
                  <a:srgbClr val="000000"/>
                </a:solidFill>
                <a:latin typeface="Tahoma Bold"/>
                <a:ea typeface="Tahoma Bold"/>
                <a:cs typeface="Tahoma Bold"/>
                <a:sym typeface="Tahoma Bold"/>
              </a:rPr>
              <a:t>Solar Cells</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Renewable and abundant source of energy.</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Produces clean energy with no pollution.</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Low operating costs after installation.</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Can power homes, devices, and remote areas.</a:t>
            </a:r>
          </a:p>
          <a:p>
            <a:pPr algn="l">
              <a:lnSpc>
                <a:spcPts val="4180"/>
              </a:lnSpc>
            </a:pPr>
          </a:p>
        </p:txBody>
      </p:sp>
      <p:sp>
        <p:nvSpPr>
          <p:cNvPr name="TextBox 7" id="7"/>
          <p:cNvSpPr txBox="true"/>
          <p:nvPr/>
        </p:nvSpPr>
        <p:spPr>
          <a:xfrm rot="0">
            <a:off x="12505162" y="2134470"/>
            <a:ext cx="5612823" cy="4948912"/>
          </a:xfrm>
          <a:prstGeom prst="rect">
            <a:avLst/>
          </a:prstGeom>
        </p:spPr>
        <p:txBody>
          <a:bodyPr anchor="t" rtlCol="false" tIns="0" lIns="0" bIns="0" rIns="0">
            <a:spAutoFit/>
          </a:bodyPr>
          <a:lstStyle/>
          <a:p>
            <a:pPr algn="l">
              <a:lnSpc>
                <a:spcPts val="3900"/>
              </a:lnSpc>
            </a:pPr>
            <a:r>
              <a:rPr lang="en-US" sz="2785" b="true">
                <a:solidFill>
                  <a:srgbClr val="000000"/>
                </a:solidFill>
                <a:latin typeface="Tahoma Bold"/>
                <a:ea typeface="Tahoma Bold"/>
                <a:cs typeface="Tahoma Bold"/>
                <a:sym typeface="Tahoma Bold"/>
              </a:rPr>
              <a:t>🔋 Batteries (in Solar Systems)</a:t>
            </a:r>
          </a:p>
          <a:p>
            <a:pPr algn="l" marL="601488" indent="-300744" lvl="1">
              <a:lnSpc>
                <a:spcPts val="3900"/>
              </a:lnSpc>
              <a:buFont typeface="Arial"/>
              <a:buChar char="•"/>
            </a:pPr>
            <a:r>
              <a:rPr lang="en-US" sz="2785">
                <a:solidFill>
                  <a:srgbClr val="000000"/>
                </a:solidFill>
                <a:latin typeface="Questrial"/>
                <a:ea typeface="Questrial"/>
                <a:cs typeface="Questrial"/>
                <a:sym typeface="Questrial"/>
              </a:rPr>
              <a:t>Store energy for use at night or cloudy days.</a:t>
            </a:r>
          </a:p>
          <a:p>
            <a:pPr algn="l" marL="601488" indent="-300744" lvl="1">
              <a:lnSpc>
                <a:spcPts val="3900"/>
              </a:lnSpc>
              <a:buFont typeface="Arial"/>
              <a:buChar char="•"/>
            </a:pPr>
            <a:r>
              <a:rPr lang="en-US" sz="2785">
                <a:solidFill>
                  <a:srgbClr val="000000"/>
                </a:solidFill>
                <a:latin typeface="Questrial"/>
                <a:ea typeface="Questrial"/>
                <a:cs typeface="Questrial"/>
                <a:sym typeface="Questrial"/>
              </a:rPr>
              <a:t>Ensure a steady and reliable power supply.</a:t>
            </a:r>
          </a:p>
          <a:p>
            <a:pPr algn="l" marL="601488" indent="-300744" lvl="1">
              <a:lnSpc>
                <a:spcPts val="3900"/>
              </a:lnSpc>
              <a:buFont typeface="Arial"/>
              <a:buChar char="•"/>
            </a:pPr>
            <a:r>
              <a:rPr lang="en-US" sz="2785">
                <a:solidFill>
                  <a:srgbClr val="000000"/>
                </a:solidFill>
                <a:latin typeface="Questrial"/>
                <a:ea typeface="Questrial"/>
                <a:cs typeface="Questrial"/>
                <a:sym typeface="Questrial"/>
              </a:rPr>
              <a:t>Can reduce dependence on the grid.</a:t>
            </a:r>
          </a:p>
          <a:p>
            <a:pPr algn="l" marL="601488" indent="-300744" lvl="1">
              <a:lnSpc>
                <a:spcPts val="3900"/>
              </a:lnSpc>
              <a:buFont typeface="Arial"/>
              <a:buChar char="•"/>
            </a:pPr>
            <a:r>
              <a:rPr lang="en-US" sz="2785">
                <a:solidFill>
                  <a:srgbClr val="000000"/>
                </a:solidFill>
                <a:latin typeface="Questrial"/>
                <a:ea typeface="Questrial"/>
                <a:cs typeface="Questrial"/>
                <a:sym typeface="Questrial"/>
              </a:rPr>
              <a:t>Some types (like lithium-ion) are long-lasting and efficient.</a:t>
            </a:r>
          </a:p>
          <a:p>
            <a:pPr algn="l">
              <a:lnSpc>
                <a:spcPts val="3900"/>
              </a:lnSpc>
            </a:pPr>
          </a:p>
        </p:txBody>
      </p:sp>
      <p:sp>
        <p:nvSpPr>
          <p:cNvPr name="TextBox 8" id="8"/>
          <p:cNvSpPr txBox="true"/>
          <p:nvPr/>
        </p:nvSpPr>
        <p:spPr>
          <a:xfrm rot="0">
            <a:off x="6212327" y="2143995"/>
            <a:ext cx="6292836" cy="5220057"/>
          </a:xfrm>
          <a:prstGeom prst="rect">
            <a:avLst/>
          </a:prstGeom>
        </p:spPr>
        <p:txBody>
          <a:bodyPr anchor="t" rtlCol="false" tIns="0" lIns="0" bIns="0" rIns="0">
            <a:spAutoFit/>
          </a:bodyPr>
          <a:lstStyle/>
          <a:p>
            <a:pPr algn="l">
              <a:lnSpc>
                <a:spcPts val="4180"/>
              </a:lnSpc>
            </a:pPr>
            <a:r>
              <a:rPr lang="en-US" sz="2985" b="true">
                <a:solidFill>
                  <a:srgbClr val="000000"/>
                </a:solidFill>
                <a:latin typeface="Tahoma Bold"/>
                <a:ea typeface="Tahoma Bold"/>
                <a:cs typeface="Tahoma Bold"/>
                <a:sym typeface="Tahoma Bold"/>
              </a:rPr>
              <a:t>🌱 Biomass</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Renewable energy source from plants and waste.</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Helps reduce waste by using organic materials.</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Can produce heat, electricity, or biofuels.</a:t>
            </a:r>
          </a:p>
          <a:p>
            <a:pPr algn="l" marL="644667" indent="-322334" lvl="1">
              <a:lnSpc>
                <a:spcPts val="4180"/>
              </a:lnSpc>
              <a:buFont typeface="Arial"/>
              <a:buChar char="•"/>
            </a:pPr>
            <a:r>
              <a:rPr lang="en-US" sz="2985">
                <a:solidFill>
                  <a:srgbClr val="000000"/>
                </a:solidFill>
                <a:latin typeface="Questrial"/>
                <a:ea typeface="Questrial"/>
                <a:cs typeface="Questrial"/>
                <a:sym typeface="Questrial"/>
              </a:rPr>
              <a:t>Supports rural and agricultural energy needs.</a:t>
            </a:r>
          </a:p>
          <a:p>
            <a:pPr algn="l">
              <a:lnSpc>
                <a:spcPts val="4180"/>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EDF1EF"/>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419893" y="649266"/>
            <a:ext cx="5448213" cy="1519663"/>
          </a:xfrm>
          <a:prstGeom prst="rect">
            <a:avLst/>
          </a:prstGeom>
        </p:spPr>
        <p:txBody>
          <a:bodyPr anchor="t" rtlCol="false" tIns="0" lIns="0" bIns="0" rIns="0">
            <a:spAutoFit/>
          </a:bodyPr>
          <a:lstStyle/>
          <a:p>
            <a:pPr algn="r">
              <a:lnSpc>
                <a:spcPts val="11552"/>
              </a:lnSpc>
            </a:pPr>
            <a:r>
              <a:rPr lang="en-US" sz="10598" spc="-869">
                <a:solidFill>
                  <a:srgbClr val="000000"/>
                </a:solidFill>
                <a:latin typeface="Public Sans"/>
                <a:ea typeface="Public Sans"/>
                <a:cs typeface="Public Sans"/>
                <a:sym typeface="Public Sans"/>
              </a:rPr>
              <a:t>Summary</a:t>
            </a:r>
          </a:p>
        </p:txBody>
      </p:sp>
      <p:sp>
        <p:nvSpPr>
          <p:cNvPr name="TextBox 6" id="6"/>
          <p:cNvSpPr txBox="true"/>
          <p:nvPr/>
        </p:nvSpPr>
        <p:spPr>
          <a:xfrm rot="0">
            <a:off x="1758637" y="2092729"/>
            <a:ext cx="15413856" cy="3781519"/>
          </a:xfrm>
          <a:prstGeom prst="rect">
            <a:avLst/>
          </a:prstGeom>
        </p:spPr>
        <p:txBody>
          <a:bodyPr anchor="t" rtlCol="false" tIns="0" lIns="0" bIns="0" rIns="0">
            <a:spAutoFit/>
          </a:bodyPr>
          <a:lstStyle/>
          <a:p>
            <a:pPr algn="ctr">
              <a:lnSpc>
                <a:spcPts val="5049"/>
              </a:lnSpc>
            </a:pPr>
          </a:p>
          <a:p>
            <a:pPr algn="ctr">
              <a:lnSpc>
                <a:spcPts val="5049"/>
              </a:lnSpc>
            </a:pPr>
            <a:r>
              <a:rPr lang="en-US" sz="3606">
                <a:solidFill>
                  <a:srgbClr val="000000"/>
                </a:solidFill>
                <a:latin typeface="Questrial"/>
                <a:ea typeface="Questrial"/>
                <a:cs typeface="Questrial"/>
                <a:sym typeface="Questrial"/>
              </a:rPr>
              <a:t> Solar cells, batteries, and biomass are all renewable energy sources. Solar cells provide clean, abundant energy from sunlight. Batteries store energy for use when sunlight isn’t available, ensuring a reliable power supply. Biomass uses organic materials to produce heat, electricity, or biofuels while reducing waste and supporting sustainable energy.</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462304" cy="10287000"/>
            <a:chOff x="0" y="0"/>
            <a:chExt cx="2492129" cy="2709333"/>
          </a:xfrm>
        </p:grpSpPr>
        <p:sp>
          <p:nvSpPr>
            <p:cNvPr name="Freeform 3" id="3"/>
            <p:cNvSpPr/>
            <p:nvPr/>
          </p:nvSpPr>
          <p:spPr>
            <a:xfrm flipH="false" flipV="false" rot="0">
              <a:off x="0" y="0"/>
              <a:ext cx="2492129" cy="2709333"/>
            </a:xfrm>
            <a:custGeom>
              <a:avLst/>
              <a:gdLst/>
              <a:ahLst/>
              <a:cxnLst/>
              <a:rect r="r" b="b" t="t" l="l"/>
              <a:pathLst>
                <a:path h="2709333" w="2492129">
                  <a:moveTo>
                    <a:pt x="0" y="0"/>
                  </a:moveTo>
                  <a:lnTo>
                    <a:pt x="2492129" y="0"/>
                  </a:lnTo>
                  <a:lnTo>
                    <a:pt x="2492129" y="2709333"/>
                  </a:lnTo>
                  <a:lnTo>
                    <a:pt x="0" y="2709333"/>
                  </a:lnTo>
                  <a:close/>
                </a:path>
              </a:pathLst>
            </a:custGeom>
            <a:solidFill>
              <a:srgbClr val="EDF1EF"/>
            </a:solidFill>
          </p:spPr>
        </p:sp>
        <p:sp>
          <p:nvSpPr>
            <p:cNvPr name="TextBox 4" id="4"/>
            <p:cNvSpPr txBox="true"/>
            <p:nvPr/>
          </p:nvSpPr>
          <p:spPr>
            <a:xfrm>
              <a:off x="0" y="-38100"/>
              <a:ext cx="2492129"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11117" y="193516"/>
            <a:ext cx="6440006" cy="11499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QUIZ TIME</a:t>
            </a:r>
          </a:p>
        </p:txBody>
      </p:sp>
      <p:sp>
        <p:nvSpPr>
          <p:cNvPr name="TextBox 6" id="6"/>
          <p:cNvSpPr txBox="true"/>
          <p:nvPr/>
        </p:nvSpPr>
        <p:spPr>
          <a:xfrm rot="0">
            <a:off x="526300" y="1286351"/>
            <a:ext cx="8617700" cy="9362485"/>
          </a:xfrm>
          <a:prstGeom prst="rect">
            <a:avLst/>
          </a:prstGeom>
        </p:spPr>
        <p:txBody>
          <a:bodyPr anchor="t" rtlCol="false" tIns="0" lIns="0" bIns="0" rIns="0">
            <a:spAutoFit/>
          </a:bodyPr>
          <a:lstStyle/>
          <a:p>
            <a:pPr algn="l">
              <a:lnSpc>
                <a:spcPts val="3953"/>
              </a:lnSpc>
            </a:pPr>
            <a:r>
              <a:rPr lang="en-US" sz="2824" b="true">
                <a:solidFill>
                  <a:srgbClr val="000000"/>
                </a:solidFill>
                <a:latin typeface="Tahoma Bold"/>
                <a:ea typeface="Tahoma Bold"/>
                <a:cs typeface="Tahoma Bold"/>
                <a:sym typeface="Tahoma Bold"/>
              </a:rPr>
              <a:t>Renewable Energy Quiz</a:t>
            </a:r>
          </a:p>
          <a:p>
            <a:pPr algn="l">
              <a:lnSpc>
                <a:spcPts val="3953"/>
              </a:lnSpc>
            </a:pPr>
            <a:r>
              <a:rPr lang="en-US" sz="2824">
                <a:solidFill>
                  <a:srgbClr val="000000"/>
                </a:solidFill>
                <a:latin typeface="Questrial"/>
                <a:ea typeface="Questrial"/>
                <a:cs typeface="Questrial"/>
                <a:sym typeface="Questrial"/>
              </a:rPr>
              <a:t>1. What is solar energy?</a:t>
            </a:r>
          </a:p>
          <a:p>
            <a:pPr algn="l">
              <a:lnSpc>
                <a:spcPts val="3953"/>
              </a:lnSpc>
            </a:pPr>
            <a:r>
              <a:rPr lang="en-US" sz="2824">
                <a:solidFill>
                  <a:srgbClr val="000000"/>
                </a:solidFill>
                <a:latin typeface="Questrial"/>
                <a:ea typeface="Questrial"/>
                <a:cs typeface="Questrial"/>
                <a:sym typeface="Questrial"/>
              </a:rPr>
              <a:t> a) Energy from water</a:t>
            </a:r>
          </a:p>
          <a:p>
            <a:pPr algn="l">
              <a:lnSpc>
                <a:spcPts val="3953"/>
              </a:lnSpc>
            </a:pPr>
            <a:r>
              <a:rPr lang="en-US" sz="2824">
                <a:solidFill>
                  <a:srgbClr val="000000"/>
                </a:solidFill>
                <a:latin typeface="Questrial"/>
                <a:ea typeface="Questrial"/>
                <a:cs typeface="Questrial"/>
                <a:sym typeface="Questrial"/>
              </a:rPr>
              <a:t> b) Energy from the Sun</a:t>
            </a:r>
          </a:p>
          <a:p>
            <a:pPr algn="l">
              <a:lnSpc>
                <a:spcPts val="3953"/>
              </a:lnSpc>
            </a:pPr>
            <a:r>
              <a:rPr lang="en-US" sz="2824">
                <a:solidFill>
                  <a:srgbClr val="000000"/>
                </a:solidFill>
                <a:latin typeface="Questrial"/>
                <a:ea typeface="Questrial"/>
                <a:cs typeface="Questrial"/>
                <a:sym typeface="Questrial"/>
              </a:rPr>
              <a:t> c) Energy from wind</a:t>
            </a:r>
          </a:p>
          <a:p>
            <a:pPr algn="l">
              <a:lnSpc>
                <a:spcPts val="3953"/>
              </a:lnSpc>
            </a:pPr>
            <a:r>
              <a:rPr lang="en-US" sz="2824">
                <a:solidFill>
                  <a:srgbClr val="000000"/>
                </a:solidFill>
                <a:latin typeface="Questrial"/>
                <a:ea typeface="Questrial"/>
                <a:cs typeface="Questrial"/>
                <a:sym typeface="Questrial"/>
              </a:rPr>
              <a:t> d) Energy from coal</a:t>
            </a:r>
          </a:p>
          <a:p>
            <a:pPr algn="l">
              <a:lnSpc>
                <a:spcPts val="3953"/>
              </a:lnSpc>
            </a:pPr>
            <a:r>
              <a:rPr lang="en-US" sz="2824">
                <a:solidFill>
                  <a:srgbClr val="000000"/>
                </a:solidFill>
                <a:latin typeface="Questrial"/>
                <a:ea typeface="Questrial"/>
                <a:cs typeface="Questrial"/>
                <a:sym typeface="Questrial"/>
              </a:rPr>
              <a:t>2. What device converts sunlight directly into electricity?</a:t>
            </a:r>
          </a:p>
          <a:p>
            <a:pPr algn="l">
              <a:lnSpc>
                <a:spcPts val="3953"/>
              </a:lnSpc>
            </a:pPr>
            <a:r>
              <a:rPr lang="en-US" sz="2824">
                <a:solidFill>
                  <a:srgbClr val="000000"/>
                </a:solidFill>
                <a:latin typeface="Questrial"/>
                <a:ea typeface="Questrial"/>
                <a:cs typeface="Questrial"/>
                <a:sym typeface="Questrial"/>
              </a:rPr>
              <a:t> a) Battery</a:t>
            </a:r>
          </a:p>
          <a:p>
            <a:pPr algn="l">
              <a:lnSpc>
                <a:spcPts val="3953"/>
              </a:lnSpc>
            </a:pPr>
            <a:r>
              <a:rPr lang="en-US" sz="2824">
                <a:solidFill>
                  <a:srgbClr val="000000"/>
                </a:solidFill>
                <a:latin typeface="Questrial"/>
                <a:ea typeface="Questrial"/>
                <a:cs typeface="Questrial"/>
                <a:sym typeface="Questrial"/>
              </a:rPr>
              <a:t> b) Solar cell</a:t>
            </a:r>
          </a:p>
          <a:p>
            <a:pPr algn="l">
              <a:lnSpc>
                <a:spcPts val="3953"/>
              </a:lnSpc>
            </a:pPr>
            <a:r>
              <a:rPr lang="en-US" sz="2824">
                <a:solidFill>
                  <a:srgbClr val="000000"/>
                </a:solidFill>
                <a:latin typeface="Questrial"/>
                <a:ea typeface="Questrial"/>
                <a:cs typeface="Questrial"/>
                <a:sym typeface="Questrial"/>
              </a:rPr>
              <a:t> c) Turbine</a:t>
            </a:r>
          </a:p>
          <a:p>
            <a:pPr algn="l">
              <a:lnSpc>
                <a:spcPts val="3953"/>
              </a:lnSpc>
            </a:pPr>
            <a:r>
              <a:rPr lang="en-US" sz="2824">
                <a:solidFill>
                  <a:srgbClr val="000000"/>
                </a:solidFill>
                <a:latin typeface="Questrial"/>
                <a:ea typeface="Questrial"/>
                <a:cs typeface="Questrial"/>
                <a:sym typeface="Questrial"/>
              </a:rPr>
              <a:t> d) Generator</a:t>
            </a:r>
          </a:p>
          <a:p>
            <a:pPr algn="l">
              <a:lnSpc>
                <a:spcPts val="3953"/>
              </a:lnSpc>
            </a:pPr>
            <a:r>
              <a:rPr lang="en-US" sz="2824">
                <a:solidFill>
                  <a:srgbClr val="000000"/>
                </a:solidFill>
                <a:latin typeface="Questrial"/>
                <a:ea typeface="Questrial"/>
                <a:cs typeface="Questrial"/>
                <a:sym typeface="Questrial"/>
              </a:rPr>
              <a:t>3. Which type of solar panel is made from a single piece of silicon and is very efficient?</a:t>
            </a:r>
          </a:p>
          <a:p>
            <a:pPr algn="l">
              <a:lnSpc>
                <a:spcPts val="3953"/>
              </a:lnSpc>
            </a:pPr>
            <a:r>
              <a:rPr lang="en-US" sz="2824">
                <a:solidFill>
                  <a:srgbClr val="000000"/>
                </a:solidFill>
                <a:latin typeface="Questrial"/>
                <a:ea typeface="Questrial"/>
                <a:cs typeface="Questrial"/>
                <a:sym typeface="Questrial"/>
              </a:rPr>
              <a:t> a) Polycrystalline</a:t>
            </a:r>
          </a:p>
          <a:p>
            <a:pPr algn="l">
              <a:lnSpc>
                <a:spcPts val="3953"/>
              </a:lnSpc>
            </a:pPr>
            <a:r>
              <a:rPr lang="en-US" sz="2824">
                <a:solidFill>
                  <a:srgbClr val="000000"/>
                </a:solidFill>
                <a:latin typeface="Questrial"/>
                <a:ea typeface="Questrial"/>
                <a:cs typeface="Questrial"/>
                <a:sym typeface="Questrial"/>
              </a:rPr>
              <a:t> b) Monocrystalline</a:t>
            </a:r>
          </a:p>
          <a:p>
            <a:pPr algn="l">
              <a:lnSpc>
                <a:spcPts val="3953"/>
              </a:lnSpc>
            </a:pPr>
            <a:r>
              <a:rPr lang="en-US" sz="2824">
                <a:solidFill>
                  <a:srgbClr val="000000"/>
                </a:solidFill>
                <a:latin typeface="Questrial"/>
                <a:ea typeface="Questrial"/>
                <a:cs typeface="Questrial"/>
                <a:sym typeface="Questrial"/>
              </a:rPr>
              <a:t> c) Thin-film</a:t>
            </a:r>
          </a:p>
          <a:p>
            <a:pPr algn="l">
              <a:lnSpc>
                <a:spcPts val="3953"/>
              </a:lnSpc>
            </a:pPr>
            <a:r>
              <a:rPr lang="en-US" sz="2824">
                <a:solidFill>
                  <a:srgbClr val="000000"/>
                </a:solidFill>
                <a:latin typeface="Questrial"/>
                <a:ea typeface="Questrial"/>
                <a:cs typeface="Questrial"/>
                <a:sym typeface="Questrial"/>
              </a:rPr>
              <a:t> d) Flow</a:t>
            </a:r>
          </a:p>
          <a:p>
            <a:pPr algn="l">
              <a:lnSpc>
                <a:spcPts val="3953"/>
              </a:lnSpc>
            </a:pPr>
          </a:p>
        </p:txBody>
      </p:sp>
      <p:sp>
        <p:nvSpPr>
          <p:cNvPr name="TextBox 7" id="7"/>
          <p:cNvSpPr txBox="true"/>
          <p:nvPr/>
        </p:nvSpPr>
        <p:spPr>
          <a:xfrm rot="0">
            <a:off x="10232731" y="1276826"/>
            <a:ext cx="7548267" cy="6928909"/>
          </a:xfrm>
          <a:prstGeom prst="rect">
            <a:avLst/>
          </a:prstGeom>
        </p:spPr>
        <p:txBody>
          <a:bodyPr anchor="t" rtlCol="false" tIns="0" lIns="0" bIns="0" rIns="0">
            <a:spAutoFit/>
          </a:bodyPr>
          <a:lstStyle/>
          <a:p>
            <a:pPr algn="l">
              <a:lnSpc>
                <a:spcPts val="3966"/>
              </a:lnSpc>
            </a:pPr>
          </a:p>
          <a:p>
            <a:pPr algn="l">
              <a:lnSpc>
                <a:spcPts val="3966"/>
              </a:lnSpc>
            </a:pPr>
            <a:r>
              <a:rPr lang="en-US" sz="2833">
                <a:solidFill>
                  <a:srgbClr val="000000"/>
                </a:solidFill>
                <a:latin typeface="Questrial"/>
                <a:ea typeface="Questrial"/>
                <a:cs typeface="Questrial"/>
                <a:sym typeface="Questrial"/>
              </a:rPr>
              <a:t>4. Why are batteries used in solar systems?</a:t>
            </a:r>
          </a:p>
          <a:p>
            <a:pPr algn="l">
              <a:lnSpc>
                <a:spcPts val="3966"/>
              </a:lnSpc>
            </a:pPr>
            <a:r>
              <a:rPr lang="en-US" sz="2833">
                <a:solidFill>
                  <a:srgbClr val="000000"/>
                </a:solidFill>
                <a:latin typeface="Questrial"/>
                <a:ea typeface="Questrial"/>
                <a:cs typeface="Questrial"/>
                <a:sym typeface="Questrial"/>
              </a:rPr>
              <a:t> a) To make solar panels last longer</a:t>
            </a:r>
          </a:p>
          <a:p>
            <a:pPr algn="l">
              <a:lnSpc>
                <a:spcPts val="3966"/>
              </a:lnSpc>
            </a:pPr>
            <a:r>
              <a:rPr lang="en-US" sz="2833">
                <a:solidFill>
                  <a:srgbClr val="000000"/>
                </a:solidFill>
                <a:latin typeface="Questrial"/>
                <a:ea typeface="Questrial"/>
                <a:cs typeface="Questrial"/>
                <a:sym typeface="Questrial"/>
              </a:rPr>
              <a:t> b) To store energy for use when the Sun isn’t shining</a:t>
            </a:r>
          </a:p>
          <a:p>
            <a:pPr algn="l">
              <a:lnSpc>
                <a:spcPts val="3966"/>
              </a:lnSpc>
            </a:pPr>
            <a:r>
              <a:rPr lang="en-US" sz="2833">
                <a:solidFill>
                  <a:srgbClr val="000000"/>
                </a:solidFill>
                <a:latin typeface="Questrial"/>
                <a:ea typeface="Questrial"/>
                <a:cs typeface="Questrial"/>
                <a:sym typeface="Questrial"/>
              </a:rPr>
              <a:t> c) To produce sunlight</a:t>
            </a:r>
          </a:p>
          <a:p>
            <a:pPr algn="l">
              <a:lnSpc>
                <a:spcPts val="3966"/>
              </a:lnSpc>
            </a:pPr>
            <a:r>
              <a:rPr lang="en-US" sz="2833">
                <a:solidFill>
                  <a:srgbClr val="000000"/>
                </a:solidFill>
                <a:latin typeface="Questrial"/>
                <a:ea typeface="Questrial"/>
                <a:cs typeface="Questrial"/>
                <a:sym typeface="Questrial"/>
              </a:rPr>
              <a:t> d) To increase wind speed</a:t>
            </a:r>
          </a:p>
          <a:p>
            <a:pPr algn="l">
              <a:lnSpc>
                <a:spcPts val="3966"/>
              </a:lnSpc>
            </a:pPr>
            <a:r>
              <a:rPr lang="en-US" sz="2833">
                <a:solidFill>
                  <a:srgbClr val="000000"/>
                </a:solidFill>
                <a:latin typeface="Questrial"/>
                <a:ea typeface="Questrial"/>
                <a:cs typeface="Questrial"/>
                <a:sym typeface="Questrial"/>
              </a:rPr>
              <a:t>5. Which type of battery is lightweight, efficient, and long-lasting?</a:t>
            </a:r>
          </a:p>
          <a:p>
            <a:pPr algn="l">
              <a:lnSpc>
                <a:spcPts val="3966"/>
              </a:lnSpc>
            </a:pPr>
            <a:r>
              <a:rPr lang="en-US" sz="2833">
                <a:solidFill>
                  <a:srgbClr val="000000"/>
                </a:solidFill>
                <a:latin typeface="Questrial"/>
                <a:ea typeface="Questrial"/>
                <a:cs typeface="Questrial"/>
                <a:sym typeface="Questrial"/>
              </a:rPr>
              <a:t> a) Lead-acid</a:t>
            </a:r>
          </a:p>
          <a:p>
            <a:pPr algn="l">
              <a:lnSpc>
                <a:spcPts val="3966"/>
              </a:lnSpc>
            </a:pPr>
            <a:r>
              <a:rPr lang="en-US" sz="2833">
                <a:solidFill>
                  <a:srgbClr val="000000"/>
                </a:solidFill>
                <a:latin typeface="Questrial"/>
                <a:ea typeface="Questrial"/>
                <a:cs typeface="Questrial"/>
                <a:sym typeface="Questrial"/>
              </a:rPr>
              <a:t> b) Lithium-ion</a:t>
            </a:r>
          </a:p>
          <a:p>
            <a:pPr algn="l">
              <a:lnSpc>
                <a:spcPts val="3966"/>
              </a:lnSpc>
            </a:pPr>
            <a:r>
              <a:rPr lang="en-US" sz="2833">
                <a:solidFill>
                  <a:srgbClr val="000000"/>
                </a:solidFill>
                <a:latin typeface="Questrial"/>
                <a:ea typeface="Questrial"/>
                <a:cs typeface="Questrial"/>
                <a:sym typeface="Questrial"/>
              </a:rPr>
              <a:t> c) Saltwater</a:t>
            </a:r>
          </a:p>
          <a:p>
            <a:pPr algn="l">
              <a:lnSpc>
                <a:spcPts val="3966"/>
              </a:lnSpc>
            </a:pPr>
            <a:r>
              <a:rPr lang="en-US" sz="2833">
                <a:solidFill>
                  <a:srgbClr val="000000"/>
                </a:solidFill>
                <a:latin typeface="Questrial"/>
                <a:ea typeface="Questrial"/>
                <a:cs typeface="Questrial"/>
                <a:sym typeface="Questrial"/>
              </a:rPr>
              <a:t> d) Flow</a:t>
            </a:r>
          </a:p>
          <a:p>
            <a:pPr algn="l">
              <a:lnSpc>
                <a:spcPts val="3966"/>
              </a:lnSpc>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462304" cy="10287000"/>
            <a:chOff x="0" y="0"/>
            <a:chExt cx="2492129" cy="2709333"/>
          </a:xfrm>
        </p:grpSpPr>
        <p:sp>
          <p:nvSpPr>
            <p:cNvPr name="Freeform 3" id="3"/>
            <p:cNvSpPr/>
            <p:nvPr/>
          </p:nvSpPr>
          <p:spPr>
            <a:xfrm flipH="false" flipV="false" rot="0">
              <a:off x="0" y="0"/>
              <a:ext cx="2492129" cy="2709333"/>
            </a:xfrm>
            <a:custGeom>
              <a:avLst/>
              <a:gdLst/>
              <a:ahLst/>
              <a:cxnLst/>
              <a:rect r="r" b="b" t="t" l="l"/>
              <a:pathLst>
                <a:path h="2709333" w="2492129">
                  <a:moveTo>
                    <a:pt x="0" y="0"/>
                  </a:moveTo>
                  <a:lnTo>
                    <a:pt x="2492129" y="0"/>
                  </a:lnTo>
                  <a:lnTo>
                    <a:pt x="2492129" y="2709333"/>
                  </a:lnTo>
                  <a:lnTo>
                    <a:pt x="0" y="2709333"/>
                  </a:lnTo>
                  <a:close/>
                </a:path>
              </a:pathLst>
            </a:custGeom>
            <a:solidFill>
              <a:srgbClr val="EDF1EF"/>
            </a:solidFill>
          </p:spPr>
        </p:sp>
        <p:sp>
          <p:nvSpPr>
            <p:cNvPr name="TextBox 4" id="4"/>
            <p:cNvSpPr txBox="true"/>
            <p:nvPr/>
          </p:nvSpPr>
          <p:spPr>
            <a:xfrm>
              <a:off x="0" y="-38100"/>
              <a:ext cx="2492129"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11117" y="193516"/>
            <a:ext cx="6440006" cy="11499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QUIZ TIME</a:t>
            </a:r>
          </a:p>
        </p:txBody>
      </p:sp>
      <p:sp>
        <p:nvSpPr>
          <p:cNvPr name="TextBox 6" id="6"/>
          <p:cNvSpPr txBox="true"/>
          <p:nvPr/>
        </p:nvSpPr>
        <p:spPr>
          <a:xfrm rot="0">
            <a:off x="526300" y="1654662"/>
            <a:ext cx="8617700" cy="8375426"/>
          </a:xfrm>
          <a:prstGeom prst="rect">
            <a:avLst/>
          </a:prstGeom>
        </p:spPr>
        <p:txBody>
          <a:bodyPr anchor="t" rtlCol="false" tIns="0" lIns="0" bIns="0" rIns="0">
            <a:spAutoFit/>
          </a:bodyPr>
          <a:lstStyle/>
          <a:p>
            <a:pPr algn="l">
              <a:lnSpc>
                <a:spcPts val="3953"/>
              </a:lnSpc>
            </a:pPr>
            <a:r>
              <a:rPr lang="en-US" sz="2824">
                <a:solidFill>
                  <a:srgbClr val="000000"/>
                </a:solidFill>
                <a:latin typeface="Tahoma"/>
                <a:ea typeface="Tahoma"/>
                <a:cs typeface="Tahoma"/>
                <a:sym typeface="Tahoma"/>
              </a:rPr>
              <a:t>6. Biomass energy comes from:</a:t>
            </a:r>
          </a:p>
          <a:p>
            <a:pPr algn="l">
              <a:lnSpc>
                <a:spcPts val="3953"/>
              </a:lnSpc>
            </a:pPr>
            <a:r>
              <a:rPr lang="en-US" sz="2824">
                <a:solidFill>
                  <a:srgbClr val="000000"/>
                </a:solidFill>
                <a:latin typeface="Tahoma"/>
                <a:ea typeface="Tahoma"/>
                <a:cs typeface="Tahoma"/>
                <a:sym typeface="Tahoma"/>
              </a:rPr>
              <a:t> a) Fossil fuels</a:t>
            </a:r>
          </a:p>
          <a:p>
            <a:pPr algn="l">
              <a:lnSpc>
                <a:spcPts val="3953"/>
              </a:lnSpc>
            </a:pPr>
            <a:r>
              <a:rPr lang="en-US" sz="2824">
                <a:solidFill>
                  <a:srgbClr val="000000"/>
                </a:solidFill>
                <a:latin typeface="Tahoma"/>
                <a:ea typeface="Tahoma"/>
                <a:cs typeface="Tahoma"/>
                <a:sym typeface="Tahoma"/>
              </a:rPr>
              <a:t> b) Organic materials like plants and waste</a:t>
            </a:r>
          </a:p>
          <a:p>
            <a:pPr algn="l">
              <a:lnSpc>
                <a:spcPts val="3953"/>
              </a:lnSpc>
            </a:pPr>
            <a:r>
              <a:rPr lang="en-US" sz="2824">
                <a:solidFill>
                  <a:srgbClr val="000000"/>
                </a:solidFill>
                <a:latin typeface="Tahoma"/>
                <a:ea typeface="Tahoma"/>
                <a:cs typeface="Tahoma"/>
                <a:sym typeface="Tahoma"/>
              </a:rPr>
              <a:t> c) Sunlight directly</a:t>
            </a:r>
          </a:p>
          <a:p>
            <a:pPr algn="l">
              <a:lnSpc>
                <a:spcPts val="3953"/>
              </a:lnSpc>
            </a:pPr>
            <a:r>
              <a:rPr lang="en-US" sz="2824">
                <a:solidFill>
                  <a:srgbClr val="000000"/>
                </a:solidFill>
                <a:latin typeface="Tahoma"/>
                <a:ea typeface="Tahoma"/>
                <a:cs typeface="Tahoma"/>
                <a:sym typeface="Tahoma"/>
              </a:rPr>
              <a:t> d) Wind</a:t>
            </a:r>
          </a:p>
          <a:p>
            <a:pPr algn="l">
              <a:lnSpc>
                <a:spcPts val="3953"/>
              </a:lnSpc>
            </a:pPr>
            <a:r>
              <a:rPr lang="en-US" sz="2824">
                <a:solidFill>
                  <a:srgbClr val="000000"/>
                </a:solidFill>
                <a:latin typeface="Tahoma"/>
                <a:ea typeface="Tahoma"/>
                <a:cs typeface="Tahoma"/>
                <a:sym typeface="Tahoma"/>
              </a:rPr>
              <a:t>7. How does biomass release energy?</a:t>
            </a:r>
          </a:p>
          <a:p>
            <a:pPr algn="l">
              <a:lnSpc>
                <a:spcPts val="3953"/>
              </a:lnSpc>
            </a:pPr>
            <a:r>
              <a:rPr lang="en-US" sz="2824">
                <a:solidFill>
                  <a:srgbClr val="000000"/>
                </a:solidFill>
                <a:latin typeface="Tahoma"/>
                <a:ea typeface="Tahoma"/>
                <a:cs typeface="Tahoma"/>
                <a:sym typeface="Tahoma"/>
              </a:rPr>
              <a:t> a) By spinning turbines</a:t>
            </a:r>
          </a:p>
          <a:p>
            <a:pPr algn="l">
              <a:lnSpc>
                <a:spcPts val="3953"/>
              </a:lnSpc>
            </a:pPr>
            <a:r>
              <a:rPr lang="en-US" sz="2824">
                <a:solidFill>
                  <a:srgbClr val="000000"/>
                </a:solidFill>
                <a:latin typeface="Tahoma"/>
                <a:ea typeface="Tahoma"/>
                <a:cs typeface="Tahoma"/>
                <a:sym typeface="Tahoma"/>
              </a:rPr>
              <a:t> b) By chemical reactions when burned or converted to biofuel</a:t>
            </a:r>
          </a:p>
          <a:p>
            <a:pPr algn="l">
              <a:lnSpc>
                <a:spcPts val="3953"/>
              </a:lnSpc>
            </a:pPr>
            <a:r>
              <a:rPr lang="en-US" sz="2824">
                <a:solidFill>
                  <a:srgbClr val="000000"/>
                </a:solidFill>
                <a:latin typeface="Tahoma"/>
                <a:ea typeface="Tahoma"/>
                <a:cs typeface="Tahoma"/>
                <a:sym typeface="Tahoma"/>
              </a:rPr>
              <a:t> c) By reflecting sunlight</a:t>
            </a:r>
          </a:p>
          <a:p>
            <a:pPr algn="l">
              <a:lnSpc>
                <a:spcPts val="3953"/>
              </a:lnSpc>
            </a:pPr>
            <a:r>
              <a:rPr lang="en-US" sz="2824">
                <a:solidFill>
                  <a:srgbClr val="000000"/>
                </a:solidFill>
                <a:latin typeface="Tahoma"/>
                <a:ea typeface="Tahoma"/>
                <a:cs typeface="Tahoma"/>
                <a:sym typeface="Tahoma"/>
              </a:rPr>
              <a:t> d) By moving water</a:t>
            </a:r>
          </a:p>
          <a:p>
            <a:pPr algn="l">
              <a:lnSpc>
                <a:spcPts val="3953"/>
              </a:lnSpc>
            </a:pPr>
            <a:r>
              <a:rPr lang="en-US" sz="2824">
                <a:solidFill>
                  <a:srgbClr val="000000"/>
                </a:solidFill>
                <a:latin typeface="Tahoma"/>
                <a:ea typeface="Tahoma"/>
                <a:cs typeface="Tahoma"/>
                <a:sym typeface="Tahoma"/>
              </a:rPr>
              <a:t>8. One advantage of solar cells is that they:</a:t>
            </a:r>
          </a:p>
          <a:p>
            <a:pPr algn="l">
              <a:lnSpc>
                <a:spcPts val="3953"/>
              </a:lnSpc>
            </a:pPr>
            <a:r>
              <a:rPr lang="en-US" sz="2824">
                <a:solidFill>
                  <a:srgbClr val="000000"/>
                </a:solidFill>
                <a:latin typeface="Tahoma"/>
                <a:ea typeface="Tahoma"/>
                <a:cs typeface="Tahoma"/>
                <a:sym typeface="Tahoma"/>
              </a:rPr>
              <a:t> a) Produce pollution</a:t>
            </a:r>
          </a:p>
          <a:p>
            <a:pPr algn="l">
              <a:lnSpc>
                <a:spcPts val="3953"/>
              </a:lnSpc>
            </a:pPr>
            <a:r>
              <a:rPr lang="en-US" sz="2824">
                <a:solidFill>
                  <a:srgbClr val="000000"/>
                </a:solidFill>
                <a:latin typeface="Tahoma"/>
                <a:ea typeface="Tahoma"/>
                <a:cs typeface="Tahoma"/>
                <a:sym typeface="Tahoma"/>
              </a:rPr>
              <a:t> b) Are renewable and clean</a:t>
            </a:r>
          </a:p>
          <a:p>
            <a:pPr algn="l">
              <a:lnSpc>
                <a:spcPts val="3953"/>
              </a:lnSpc>
            </a:pPr>
            <a:r>
              <a:rPr lang="en-US" sz="2824">
                <a:solidFill>
                  <a:srgbClr val="000000"/>
                </a:solidFill>
                <a:latin typeface="Tahoma"/>
                <a:ea typeface="Tahoma"/>
                <a:cs typeface="Tahoma"/>
                <a:sym typeface="Tahoma"/>
              </a:rPr>
              <a:t> c) Only work at night</a:t>
            </a:r>
          </a:p>
          <a:p>
            <a:pPr algn="l">
              <a:lnSpc>
                <a:spcPts val="3953"/>
              </a:lnSpc>
            </a:pPr>
            <a:r>
              <a:rPr lang="en-US" sz="2824">
                <a:solidFill>
                  <a:srgbClr val="000000"/>
                </a:solidFill>
                <a:latin typeface="Tahoma"/>
                <a:ea typeface="Tahoma"/>
                <a:cs typeface="Tahoma"/>
                <a:sym typeface="Tahoma"/>
              </a:rPr>
              <a:t> d) Are very heavy</a:t>
            </a:r>
          </a:p>
          <a:p>
            <a:pPr algn="l">
              <a:lnSpc>
                <a:spcPts val="3953"/>
              </a:lnSpc>
            </a:pPr>
          </a:p>
        </p:txBody>
      </p:sp>
      <p:sp>
        <p:nvSpPr>
          <p:cNvPr name="TextBox 7" id="7"/>
          <p:cNvSpPr txBox="true"/>
          <p:nvPr/>
        </p:nvSpPr>
        <p:spPr>
          <a:xfrm rot="0">
            <a:off x="10232731" y="1645137"/>
            <a:ext cx="7548267" cy="5938309"/>
          </a:xfrm>
          <a:prstGeom prst="rect">
            <a:avLst/>
          </a:prstGeom>
        </p:spPr>
        <p:txBody>
          <a:bodyPr anchor="t" rtlCol="false" tIns="0" lIns="0" bIns="0" rIns="0">
            <a:spAutoFit/>
          </a:bodyPr>
          <a:lstStyle/>
          <a:p>
            <a:pPr algn="l">
              <a:lnSpc>
                <a:spcPts val="3966"/>
              </a:lnSpc>
            </a:pPr>
            <a:r>
              <a:rPr lang="en-US" sz="2833">
                <a:solidFill>
                  <a:srgbClr val="000000"/>
                </a:solidFill>
                <a:latin typeface="Questrial"/>
                <a:ea typeface="Questrial"/>
                <a:cs typeface="Questrial"/>
                <a:sym typeface="Questrial"/>
              </a:rPr>
              <a:t>9. An example of solar thermal energy is:</a:t>
            </a:r>
          </a:p>
          <a:p>
            <a:pPr algn="l">
              <a:lnSpc>
                <a:spcPts val="3966"/>
              </a:lnSpc>
            </a:pPr>
            <a:r>
              <a:rPr lang="en-US" sz="2833">
                <a:solidFill>
                  <a:srgbClr val="000000"/>
                </a:solidFill>
                <a:latin typeface="Questrial"/>
                <a:ea typeface="Questrial"/>
                <a:cs typeface="Questrial"/>
                <a:sym typeface="Questrial"/>
              </a:rPr>
              <a:t> a) Solar panels producing electricity</a:t>
            </a:r>
          </a:p>
          <a:p>
            <a:pPr algn="l">
              <a:lnSpc>
                <a:spcPts val="3966"/>
              </a:lnSpc>
            </a:pPr>
            <a:r>
              <a:rPr lang="en-US" sz="2833">
                <a:solidFill>
                  <a:srgbClr val="000000"/>
                </a:solidFill>
                <a:latin typeface="Questrial"/>
                <a:ea typeface="Questrial"/>
                <a:cs typeface="Questrial"/>
                <a:sym typeface="Questrial"/>
              </a:rPr>
              <a:t> b) Solar water heaters</a:t>
            </a:r>
          </a:p>
          <a:p>
            <a:pPr algn="l">
              <a:lnSpc>
                <a:spcPts val="3966"/>
              </a:lnSpc>
            </a:pPr>
            <a:r>
              <a:rPr lang="en-US" sz="2833">
                <a:solidFill>
                  <a:srgbClr val="000000"/>
                </a:solidFill>
                <a:latin typeface="Questrial"/>
                <a:ea typeface="Questrial"/>
                <a:cs typeface="Questrial"/>
                <a:sym typeface="Questrial"/>
              </a:rPr>
              <a:t> c) Batteries storing energy</a:t>
            </a:r>
          </a:p>
          <a:p>
            <a:pPr algn="l">
              <a:lnSpc>
                <a:spcPts val="3966"/>
              </a:lnSpc>
            </a:pPr>
            <a:r>
              <a:rPr lang="en-US" sz="2833">
                <a:solidFill>
                  <a:srgbClr val="000000"/>
                </a:solidFill>
                <a:latin typeface="Questrial"/>
                <a:ea typeface="Questrial"/>
                <a:cs typeface="Questrial"/>
                <a:sym typeface="Questrial"/>
              </a:rPr>
              <a:t> d) Wind turbines</a:t>
            </a:r>
          </a:p>
          <a:p>
            <a:pPr algn="l">
              <a:lnSpc>
                <a:spcPts val="3966"/>
              </a:lnSpc>
            </a:pPr>
            <a:r>
              <a:rPr lang="en-US" sz="2833">
                <a:solidFill>
                  <a:srgbClr val="000000"/>
                </a:solidFill>
                <a:latin typeface="Questrial"/>
                <a:ea typeface="Questrial"/>
                <a:cs typeface="Questrial"/>
                <a:sym typeface="Questrial"/>
              </a:rPr>
              <a:t>10. Why is biomass considered renewable?</a:t>
            </a:r>
          </a:p>
          <a:p>
            <a:pPr algn="l">
              <a:lnSpc>
                <a:spcPts val="3966"/>
              </a:lnSpc>
            </a:pPr>
            <a:r>
              <a:rPr lang="en-US" sz="2833">
                <a:solidFill>
                  <a:srgbClr val="000000"/>
                </a:solidFill>
                <a:latin typeface="Questrial"/>
                <a:ea typeface="Questrial"/>
                <a:cs typeface="Questrial"/>
                <a:sym typeface="Questrial"/>
              </a:rPr>
              <a:t> a) It comes from fossil fuels</a:t>
            </a:r>
          </a:p>
          <a:p>
            <a:pPr algn="l">
              <a:lnSpc>
                <a:spcPts val="3966"/>
              </a:lnSpc>
            </a:pPr>
            <a:r>
              <a:rPr lang="en-US" sz="2833">
                <a:solidFill>
                  <a:srgbClr val="000000"/>
                </a:solidFill>
                <a:latin typeface="Questrial"/>
                <a:ea typeface="Questrial"/>
                <a:cs typeface="Questrial"/>
                <a:sym typeface="Questrial"/>
              </a:rPr>
              <a:t> b) Plants and waste can be regrown or replenished</a:t>
            </a:r>
          </a:p>
          <a:p>
            <a:pPr algn="l">
              <a:lnSpc>
                <a:spcPts val="3966"/>
              </a:lnSpc>
            </a:pPr>
            <a:r>
              <a:rPr lang="en-US" sz="2833">
                <a:solidFill>
                  <a:srgbClr val="000000"/>
                </a:solidFill>
                <a:latin typeface="Questrial"/>
                <a:ea typeface="Questrial"/>
                <a:cs typeface="Questrial"/>
                <a:sym typeface="Questrial"/>
              </a:rPr>
              <a:t> c) It uses sunlight directly</a:t>
            </a:r>
          </a:p>
          <a:p>
            <a:pPr algn="l">
              <a:lnSpc>
                <a:spcPts val="3966"/>
              </a:lnSpc>
            </a:pPr>
            <a:r>
              <a:rPr lang="en-US" sz="2833">
                <a:solidFill>
                  <a:srgbClr val="000000"/>
                </a:solidFill>
                <a:latin typeface="Questrial"/>
                <a:ea typeface="Questrial"/>
                <a:cs typeface="Questrial"/>
                <a:sym typeface="Questrial"/>
              </a:rPr>
              <a:t> d) It never runs out in the Sun</a:t>
            </a:r>
          </a:p>
          <a:p>
            <a:pPr algn="l">
              <a:lnSpc>
                <a:spcPts val="3966"/>
              </a:lnSpc>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732259" y="0"/>
            <a:ext cx="19338563" cy="10287000"/>
            <a:chOff x="0" y="0"/>
            <a:chExt cx="5093284" cy="2709333"/>
          </a:xfrm>
        </p:grpSpPr>
        <p:sp>
          <p:nvSpPr>
            <p:cNvPr name="Freeform 3" id="3"/>
            <p:cNvSpPr/>
            <p:nvPr/>
          </p:nvSpPr>
          <p:spPr>
            <a:xfrm flipH="false" flipV="false" rot="0">
              <a:off x="0" y="0"/>
              <a:ext cx="5093284" cy="2709333"/>
            </a:xfrm>
            <a:custGeom>
              <a:avLst/>
              <a:gdLst/>
              <a:ahLst/>
              <a:cxnLst/>
              <a:rect r="r" b="b" t="t" l="l"/>
              <a:pathLst>
                <a:path h="2709333" w="5093284">
                  <a:moveTo>
                    <a:pt x="0" y="0"/>
                  </a:moveTo>
                  <a:lnTo>
                    <a:pt x="5093284" y="0"/>
                  </a:lnTo>
                  <a:lnTo>
                    <a:pt x="5093284" y="2709333"/>
                  </a:lnTo>
                  <a:lnTo>
                    <a:pt x="0" y="2709333"/>
                  </a:lnTo>
                  <a:close/>
                </a:path>
              </a:pathLst>
            </a:custGeom>
            <a:solidFill>
              <a:srgbClr val="EDF1EF"/>
            </a:solidFill>
          </p:spPr>
        </p:sp>
        <p:sp>
          <p:nvSpPr>
            <p:cNvPr name="TextBox 4" id="4"/>
            <p:cNvSpPr txBox="true"/>
            <p:nvPr/>
          </p:nvSpPr>
          <p:spPr>
            <a:xfrm>
              <a:off x="0" y="-38100"/>
              <a:ext cx="5093284"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11117" y="193516"/>
            <a:ext cx="6440006" cy="1149985"/>
          </a:xfrm>
          <a:prstGeom prst="rect">
            <a:avLst/>
          </a:prstGeom>
        </p:spPr>
        <p:txBody>
          <a:bodyPr anchor="t" rtlCol="false" tIns="0" lIns="0" bIns="0" rIns="0">
            <a:spAutoFit/>
          </a:bodyPr>
          <a:lstStyle/>
          <a:p>
            <a:pPr algn="l">
              <a:lnSpc>
                <a:spcPts val="8720"/>
              </a:lnSpc>
            </a:pPr>
            <a:r>
              <a:rPr lang="en-US" sz="8000" spc="-656">
                <a:solidFill>
                  <a:srgbClr val="000000"/>
                </a:solidFill>
                <a:latin typeface="Public Sans"/>
                <a:ea typeface="Public Sans"/>
                <a:cs typeface="Public Sans"/>
                <a:sym typeface="Public Sans"/>
              </a:rPr>
              <a:t>REFERENCE</a:t>
            </a:r>
          </a:p>
        </p:txBody>
      </p:sp>
      <p:sp>
        <p:nvSpPr>
          <p:cNvPr name="TextBox 6" id="6"/>
          <p:cNvSpPr txBox="true"/>
          <p:nvPr/>
        </p:nvSpPr>
        <p:spPr>
          <a:xfrm rot="0">
            <a:off x="3037120" y="1947164"/>
            <a:ext cx="12213759" cy="7414921"/>
          </a:xfrm>
          <a:prstGeom prst="rect">
            <a:avLst/>
          </a:prstGeom>
        </p:spPr>
        <p:txBody>
          <a:bodyPr anchor="t" rtlCol="false" tIns="0" lIns="0" bIns="0" rIns="0">
            <a:spAutoFit/>
          </a:bodyPr>
          <a:lstStyle/>
          <a:p>
            <a:pPr algn="l">
              <a:lnSpc>
                <a:spcPts val="3953"/>
              </a:lnSpc>
            </a:pPr>
            <a:r>
              <a:rPr lang="en-US" sz="2823" spc="237">
                <a:solidFill>
                  <a:srgbClr val="000000"/>
                </a:solidFill>
                <a:latin typeface="Tahoma"/>
                <a:ea typeface="Tahoma"/>
                <a:cs typeface="Tahoma"/>
                <a:sym typeface="Tahoma"/>
              </a:rPr>
              <a:t>Solar Energy Basics</a:t>
            </a:r>
          </a:p>
          <a:p>
            <a:pPr algn="l">
              <a:lnSpc>
                <a:spcPts val="3953"/>
              </a:lnSpc>
            </a:pPr>
            <a:r>
              <a:rPr lang="en-US" sz="2823" spc="237">
                <a:solidFill>
                  <a:srgbClr val="000000"/>
                </a:solidFill>
                <a:latin typeface="Tahoma"/>
                <a:ea typeface="Tahoma"/>
                <a:cs typeface="Tahoma"/>
                <a:sym typeface="Tahoma"/>
              </a:rPr>
              <a:t>National Renewable Energy Laboratory (NREL). Solar Energy Basics. </a:t>
            </a:r>
            <a:r>
              <a:rPr lang="en-US" sz="2823" spc="237">
                <a:solidFill>
                  <a:srgbClr val="247DD5"/>
                </a:solidFill>
                <a:latin typeface="Tahoma"/>
                <a:ea typeface="Tahoma"/>
                <a:cs typeface="Tahoma"/>
                <a:sym typeface="Tahoma"/>
              </a:rPr>
              <a:t>https://www.nrel.gov/research/re-solar.html</a:t>
            </a:r>
          </a:p>
          <a:p>
            <a:pPr algn="l">
              <a:lnSpc>
                <a:spcPts val="3953"/>
              </a:lnSpc>
            </a:pPr>
            <a:r>
              <a:rPr lang="en-US" sz="2823" spc="237">
                <a:solidFill>
                  <a:srgbClr val="000000"/>
                </a:solidFill>
                <a:latin typeface="Tahoma"/>
                <a:ea typeface="Tahoma"/>
                <a:cs typeface="Tahoma"/>
                <a:sym typeface="Tahoma"/>
              </a:rPr>
              <a:t>U.S. Department of Energy. How Solar Panels Work.</a:t>
            </a:r>
          </a:p>
          <a:p>
            <a:pPr algn="l">
              <a:lnSpc>
                <a:spcPts val="3953"/>
              </a:lnSpc>
            </a:pPr>
            <a:r>
              <a:rPr lang="en-US" sz="2823" spc="237">
                <a:solidFill>
                  <a:srgbClr val="247DD5"/>
                </a:solidFill>
                <a:latin typeface="Tahoma"/>
                <a:ea typeface="Tahoma"/>
                <a:cs typeface="Tahoma"/>
                <a:sym typeface="Tahoma"/>
              </a:rPr>
              <a:t> https://www.energy.gov/eere/solar/how-solar-panels-work</a:t>
            </a:r>
          </a:p>
          <a:p>
            <a:pPr algn="l">
              <a:lnSpc>
                <a:spcPts val="3953"/>
              </a:lnSpc>
            </a:pPr>
          </a:p>
          <a:p>
            <a:pPr algn="l">
              <a:lnSpc>
                <a:spcPts val="3953"/>
              </a:lnSpc>
            </a:pPr>
            <a:r>
              <a:rPr lang="en-US" sz="2823" spc="237">
                <a:solidFill>
                  <a:srgbClr val="000000"/>
                </a:solidFill>
                <a:latin typeface="Tahoma"/>
                <a:ea typeface="Tahoma"/>
                <a:cs typeface="Tahoma"/>
                <a:sym typeface="Tahoma"/>
              </a:rPr>
              <a:t>Types of Solar Panels</a:t>
            </a:r>
          </a:p>
          <a:p>
            <a:pPr algn="l">
              <a:lnSpc>
                <a:spcPts val="3953"/>
              </a:lnSpc>
            </a:pPr>
            <a:r>
              <a:rPr lang="en-US" sz="2823" spc="237">
                <a:solidFill>
                  <a:srgbClr val="000000"/>
                </a:solidFill>
                <a:latin typeface="Tahoma"/>
                <a:ea typeface="Tahoma"/>
                <a:cs typeface="Tahoma"/>
                <a:sym typeface="Tahoma"/>
              </a:rPr>
              <a:t>EnergySage. Monocrystalline vs Polycrystalline vs Thin-Film Solar Panels. </a:t>
            </a:r>
            <a:r>
              <a:rPr lang="en-US" sz="2823" spc="237">
                <a:solidFill>
                  <a:srgbClr val="247DD5"/>
                </a:solidFill>
                <a:latin typeface="Tahoma"/>
                <a:ea typeface="Tahoma"/>
                <a:cs typeface="Tahoma"/>
                <a:sym typeface="Tahoma"/>
              </a:rPr>
              <a:t>https://www.energysage.com/solar/101/solar-panel-types/</a:t>
            </a:r>
          </a:p>
          <a:p>
            <a:pPr algn="l">
              <a:lnSpc>
                <a:spcPts val="3953"/>
              </a:lnSpc>
            </a:pPr>
          </a:p>
          <a:p>
            <a:pPr algn="l">
              <a:lnSpc>
                <a:spcPts val="3953"/>
              </a:lnSpc>
            </a:pPr>
            <a:r>
              <a:rPr lang="en-US" sz="2823" spc="237">
                <a:solidFill>
                  <a:srgbClr val="000000"/>
                </a:solidFill>
                <a:latin typeface="Tahoma"/>
                <a:ea typeface="Tahoma"/>
                <a:cs typeface="Tahoma"/>
                <a:sym typeface="Tahoma"/>
              </a:rPr>
              <a:t>Solar Batteries</a:t>
            </a:r>
          </a:p>
          <a:p>
            <a:pPr algn="l">
              <a:lnSpc>
                <a:spcPts val="3953"/>
              </a:lnSpc>
            </a:pPr>
            <a:r>
              <a:rPr lang="en-US" sz="2823" spc="237">
                <a:solidFill>
                  <a:srgbClr val="000000"/>
                </a:solidFill>
                <a:latin typeface="Tahoma"/>
                <a:ea typeface="Tahoma"/>
                <a:cs typeface="Tahoma"/>
                <a:sym typeface="Tahoma"/>
              </a:rPr>
              <a:t>Clean Energy Reviews. Best Solar Batteries. </a:t>
            </a:r>
            <a:r>
              <a:rPr lang="en-US" sz="2823" spc="237">
                <a:solidFill>
                  <a:srgbClr val="247DD5"/>
                </a:solidFill>
                <a:latin typeface="Tahoma"/>
                <a:ea typeface="Tahoma"/>
                <a:cs typeface="Tahoma"/>
                <a:sym typeface="Tahoma"/>
              </a:rPr>
              <a:t>https://www.cleanenergyreviews.info/solar-battery-reviews</a:t>
            </a:r>
          </a:p>
          <a:p>
            <a:pPr algn="l">
              <a:lnSpc>
                <a:spcPts val="395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ADAD"/>
        </a:solidFill>
      </p:bgPr>
    </p:bg>
    <p:spTree>
      <p:nvGrpSpPr>
        <p:cNvPr id="1" name=""/>
        <p:cNvGrpSpPr/>
        <p:nvPr/>
      </p:nvGrpSpPr>
      <p:grpSpPr>
        <a:xfrm>
          <a:off x="0" y="0"/>
          <a:ext cx="0" cy="0"/>
          <a:chOff x="0" y="0"/>
          <a:chExt cx="0" cy="0"/>
        </a:xfrm>
      </p:grpSpPr>
      <p:grpSp>
        <p:nvGrpSpPr>
          <p:cNvPr name="Group 2" id="2"/>
          <p:cNvGrpSpPr/>
          <p:nvPr/>
        </p:nvGrpSpPr>
        <p:grpSpPr>
          <a:xfrm rot="0">
            <a:off x="-732259" y="0"/>
            <a:ext cx="19338563" cy="10287000"/>
            <a:chOff x="0" y="0"/>
            <a:chExt cx="5093284" cy="2709333"/>
          </a:xfrm>
        </p:grpSpPr>
        <p:sp>
          <p:nvSpPr>
            <p:cNvPr name="Freeform 3" id="3"/>
            <p:cNvSpPr/>
            <p:nvPr/>
          </p:nvSpPr>
          <p:spPr>
            <a:xfrm flipH="false" flipV="false" rot="0">
              <a:off x="0" y="0"/>
              <a:ext cx="5093284" cy="2709333"/>
            </a:xfrm>
            <a:custGeom>
              <a:avLst/>
              <a:gdLst/>
              <a:ahLst/>
              <a:cxnLst/>
              <a:rect r="r" b="b" t="t" l="l"/>
              <a:pathLst>
                <a:path h="2709333" w="5093284">
                  <a:moveTo>
                    <a:pt x="0" y="0"/>
                  </a:moveTo>
                  <a:lnTo>
                    <a:pt x="5093284" y="0"/>
                  </a:lnTo>
                  <a:lnTo>
                    <a:pt x="5093284" y="2709333"/>
                  </a:lnTo>
                  <a:lnTo>
                    <a:pt x="0" y="2709333"/>
                  </a:lnTo>
                  <a:close/>
                </a:path>
              </a:pathLst>
            </a:custGeom>
            <a:solidFill>
              <a:srgbClr val="EAC83D"/>
            </a:solidFill>
          </p:spPr>
        </p:sp>
        <p:sp>
          <p:nvSpPr>
            <p:cNvPr name="TextBox 4" id="4"/>
            <p:cNvSpPr txBox="true"/>
            <p:nvPr/>
          </p:nvSpPr>
          <p:spPr>
            <a:xfrm>
              <a:off x="0" y="-38100"/>
              <a:ext cx="5093284"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204039" y="2309089"/>
            <a:ext cx="10497819" cy="5668822"/>
          </a:xfrm>
          <a:custGeom>
            <a:avLst/>
            <a:gdLst/>
            <a:ahLst/>
            <a:cxnLst/>
            <a:rect r="r" b="b" t="t" l="l"/>
            <a:pathLst>
              <a:path h="5668822" w="10497819">
                <a:moveTo>
                  <a:pt x="0" y="0"/>
                </a:moveTo>
                <a:lnTo>
                  <a:pt x="10497819" y="0"/>
                </a:lnTo>
                <a:lnTo>
                  <a:pt x="10497819" y="5668822"/>
                </a:lnTo>
                <a:lnTo>
                  <a:pt x="0" y="5668822"/>
                </a:lnTo>
                <a:lnTo>
                  <a:pt x="0" y="0"/>
                </a:lnTo>
                <a:close/>
              </a:path>
            </a:pathLst>
          </a:custGeom>
          <a:blipFill>
            <a:blip r:embed="rId2"/>
            <a:stretch>
              <a:fillRect l="0" t="0" r="0" b="0"/>
            </a:stretch>
          </a:blipFill>
        </p:spPr>
      </p:sp>
      <p:sp>
        <p:nvSpPr>
          <p:cNvPr name="Freeform 6" id="6"/>
          <p:cNvSpPr/>
          <p:nvPr/>
        </p:nvSpPr>
        <p:spPr>
          <a:xfrm flipH="false" flipV="false" rot="0">
            <a:off x="1644974" y="1630911"/>
            <a:ext cx="2540889" cy="8229600"/>
          </a:xfrm>
          <a:custGeom>
            <a:avLst/>
            <a:gdLst/>
            <a:ahLst/>
            <a:cxnLst/>
            <a:rect r="r" b="b" t="t" l="l"/>
            <a:pathLst>
              <a:path h="8229600" w="2540889">
                <a:moveTo>
                  <a:pt x="0" y="0"/>
                </a:moveTo>
                <a:lnTo>
                  <a:pt x="2540889" y="0"/>
                </a:lnTo>
                <a:lnTo>
                  <a:pt x="2540889" y="8229600"/>
                </a:lnTo>
                <a:lnTo>
                  <a:pt x="0" y="8229600"/>
                </a:lnTo>
                <a:lnTo>
                  <a:pt x="0" y="0"/>
                </a:lnTo>
                <a:close/>
              </a:path>
            </a:pathLst>
          </a:custGeom>
          <a:blipFill>
            <a:blip r:embed="rId3"/>
            <a:stretch>
              <a:fillRect l="0" t="0" r="0" b="0"/>
            </a:stretch>
          </a:blipFill>
        </p:spPr>
      </p:sp>
      <p:sp>
        <p:nvSpPr>
          <p:cNvPr name="TextBox 7" id="7"/>
          <p:cNvSpPr txBox="true"/>
          <p:nvPr/>
        </p:nvSpPr>
        <p:spPr>
          <a:xfrm rot="0">
            <a:off x="9489723" y="4601943"/>
            <a:ext cx="3926451" cy="790451"/>
          </a:xfrm>
          <a:prstGeom prst="rect">
            <a:avLst/>
          </a:prstGeom>
        </p:spPr>
        <p:txBody>
          <a:bodyPr anchor="t" rtlCol="false" tIns="0" lIns="0" bIns="0" rIns="0">
            <a:spAutoFit/>
          </a:bodyPr>
          <a:lstStyle/>
          <a:p>
            <a:pPr algn="l">
              <a:lnSpc>
                <a:spcPts val="6006"/>
              </a:lnSpc>
            </a:pPr>
            <a:r>
              <a:rPr lang="en-US" sz="5510" spc="-451" b="true">
                <a:solidFill>
                  <a:srgbClr val="FFFFFF"/>
                </a:solidFill>
                <a:latin typeface="Public Sans Bold"/>
                <a:ea typeface="Public Sans Bold"/>
                <a:cs typeface="Public Sans Bold"/>
                <a:sym typeface="Public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DAG6LOv5kvs</dc:identifier>
  <dcterms:modified xsi:type="dcterms:W3CDTF">2011-08-01T06:04:30Z</dcterms:modified>
  <cp:revision>1</cp:revision>
  <dc:title>Pink and White Simple Illustrative Renewable Energies Presentation</dc:title>
</cp:coreProperties>
</file>